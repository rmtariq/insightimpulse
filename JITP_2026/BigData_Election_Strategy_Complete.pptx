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 snapToObjects="1">
      <p:cViewPr varScale="1">
        <p:scale>
          <a:sx n="113" d="100"/>
          <a:sy n="113" d="100"/>
        </p:scale>
        <p:origin x="1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Big Data &amp; Analytic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00000"/>
                </a:solidFill>
              </a:defRPr>
            </a:pPr>
            <a:r>
              <a:t>Strategi Pilihan Raya dan Taktikal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/>
            </a:pPr>
            <a:r>
              <a:t>InsightPulse Analytics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Pengenalan Big Data dalam Politik</a:t>
            </a:r>
          </a:p>
          <a:p>
            <a:r>
              <a:t>Kepentingan Analytics dalam Pilihan Raya</a:t>
            </a:r>
          </a:p>
          <a:p>
            <a:r>
              <a:t>Platform InsightPulse - Tools Monitoring</a:t>
            </a:r>
          </a:p>
          <a:p>
            <a:r>
              <a:t>Strategi Taktikal Menggunakan Data</a:t>
            </a:r>
          </a:p>
          <a:p>
            <a:r>
              <a:t>Case Study &amp; Contoh Aplikasi</a:t>
            </a:r>
          </a:p>
          <a:p>
            <a:r>
              <a:t>Kesimpulan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Data dalam Politik: Era Baru Kempen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4467"/>
          </a:xfrm>
        </p:spPr>
        <p:txBody>
          <a:bodyPr>
            <a:noAutofit/>
          </a:bodyPr>
          <a:lstStyle/>
          <a:p>
            <a:r>
              <a:rPr sz="2600" dirty="0"/>
              <a:t>✅ Volume Data Besar-</a:t>
            </a:r>
            <a:r>
              <a:rPr sz="2600" dirty="0" err="1"/>
              <a:t>besaran</a:t>
            </a:r>
            <a:endParaRPr sz="2600" dirty="0"/>
          </a:p>
          <a:p>
            <a:pPr lvl="1"/>
            <a:r>
              <a:rPr sz="2600" dirty="0" err="1"/>
              <a:t>Jutaan</a:t>
            </a:r>
            <a:r>
              <a:rPr sz="2600" dirty="0"/>
              <a:t> posting media </a:t>
            </a:r>
            <a:r>
              <a:rPr sz="2600" dirty="0" err="1"/>
              <a:t>sosial</a:t>
            </a:r>
            <a:r>
              <a:rPr sz="2600" dirty="0"/>
              <a:t> </a:t>
            </a:r>
            <a:r>
              <a:rPr sz="2600" dirty="0" err="1"/>
              <a:t>setiap</a:t>
            </a:r>
            <a:r>
              <a:rPr sz="2600" dirty="0"/>
              <a:t> </a:t>
            </a:r>
            <a:r>
              <a:rPr sz="2600" dirty="0" err="1"/>
              <a:t>hari</a:t>
            </a:r>
            <a:endParaRPr sz="2600" dirty="0"/>
          </a:p>
          <a:p>
            <a:pPr lvl="1"/>
            <a:r>
              <a:rPr sz="2600" dirty="0"/>
              <a:t>10 platform: Facebook, Instagram, X, TikTok, YouTube, LinkedIn, News, </a:t>
            </a:r>
            <a:r>
              <a:rPr sz="2600" dirty="0" err="1"/>
              <a:t>Lowyat</a:t>
            </a:r>
            <a:r>
              <a:rPr sz="2600" dirty="0"/>
              <a:t>, Shopee, Lazada</a:t>
            </a:r>
          </a:p>
          <a:p>
            <a:r>
              <a:rPr sz="2600" dirty="0"/>
              <a:t>✅ </a:t>
            </a:r>
            <a:r>
              <a:rPr sz="2600" dirty="0" err="1"/>
              <a:t>Kelajuan</a:t>
            </a:r>
            <a:r>
              <a:rPr sz="2600" dirty="0"/>
              <a:t> &amp; Masa </a:t>
            </a:r>
            <a:r>
              <a:rPr sz="2600" dirty="0" err="1"/>
              <a:t>Nyata</a:t>
            </a:r>
            <a:r>
              <a:rPr sz="2600" dirty="0"/>
              <a:t> (Real-time)</a:t>
            </a:r>
          </a:p>
          <a:p>
            <a:pPr lvl="1"/>
            <a:r>
              <a:rPr sz="2600" dirty="0"/>
              <a:t>Sentiment </a:t>
            </a:r>
            <a:r>
              <a:rPr sz="2600" dirty="0" err="1"/>
              <a:t>berubah</a:t>
            </a:r>
            <a:r>
              <a:rPr sz="2600" dirty="0"/>
              <a:t> </a:t>
            </a:r>
            <a:r>
              <a:rPr sz="2600" dirty="0" err="1"/>
              <a:t>dalam</a:t>
            </a:r>
            <a:r>
              <a:rPr sz="2600" dirty="0"/>
              <a:t> masa </a:t>
            </a:r>
            <a:r>
              <a:rPr sz="2600" dirty="0" err="1"/>
              <a:t>nyata</a:t>
            </a:r>
            <a:endParaRPr sz="2600" dirty="0"/>
          </a:p>
          <a:p>
            <a:pPr lvl="1"/>
            <a:r>
              <a:rPr sz="2600" dirty="0"/>
              <a:t>Crisis detection </a:t>
            </a:r>
            <a:r>
              <a:rPr sz="2600" dirty="0" err="1"/>
              <a:t>dalam</a:t>
            </a:r>
            <a:r>
              <a:rPr sz="2600" dirty="0"/>
              <a:t> </a:t>
            </a:r>
            <a:r>
              <a:rPr sz="2600" dirty="0" err="1"/>
              <a:t>minit</a:t>
            </a:r>
            <a:endParaRPr sz="2600" dirty="0"/>
          </a:p>
          <a:p>
            <a:r>
              <a:rPr sz="2600" dirty="0"/>
              <a:t>✅ </a:t>
            </a:r>
            <a:r>
              <a:rPr sz="2600" dirty="0" err="1"/>
              <a:t>Kepelbagaian</a:t>
            </a:r>
            <a:r>
              <a:rPr sz="2600" dirty="0"/>
              <a:t> Data</a:t>
            </a:r>
          </a:p>
          <a:p>
            <a:pPr lvl="1"/>
            <a:r>
              <a:rPr sz="2600" dirty="0"/>
              <a:t>Text, images, videos, engagement metrics</a:t>
            </a:r>
          </a:p>
          <a:p>
            <a:pPr lvl="1"/>
            <a:r>
              <a:rPr sz="2600" dirty="0"/>
              <a:t>Multilingual: Malay, English, Chinese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Kepentingan Analytics dalam Pilihan Raya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🎯 </a:t>
            </a:r>
            <a:r>
              <a:rPr sz="2200" dirty="0" err="1"/>
              <a:t>Fahami</a:t>
            </a:r>
            <a:r>
              <a:rPr sz="2200" dirty="0"/>
              <a:t> Sentiment </a:t>
            </a:r>
            <a:r>
              <a:rPr sz="2200" dirty="0" err="1"/>
              <a:t>Pengundi</a:t>
            </a:r>
            <a:endParaRPr sz="2200" dirty="0"/>
          </a:p>
          <a:p>
            <a:pPr lvl="1"/>
            <a:r>
              <a:rPr sz="2200" dirty="0"/>
              <a:t>Positive, Neutral, Negative - masa </a:t>
            </a:r>
            <a:r>
              <a:rPr sz="2200" dirty="0" err="1"/>
              <a:t>nyata</a:t>
            </a:r>
            <a:endParaRPr sz="2200" dirty="0"/>
          </a:p>
          <a:p>
            <a:pPr lvl="1"/>
            <a:r>
              <a:rPr sz="2200" dirty="0"/>
              <a:t>Emosi: Joy, Anger, Fear, Sadness, Love, Surprise</a:t>
            </a:r>
          </a:p>
          <a:p>
            <a:r>
              <a:rPr sz="2200" dirty="0"/>
              <a:t>📊 Monitor Isu Trending</a:t>
            </a:r>
          </a:p>
          <a:p>
            <a:pPr lvl="1"/>
            <a:r>
              <a:rPr sz="2200" dirty="0" err="1"/>
              <a:t>Topik</a:t>
            </a:r>
            <a:r>
              <a:rPr sz="2200" dirty="0"/>
              <a:t> </a:t>
            </a:r>
            <a:r>
              <a:rPr sz="2200" dirty="0" err="1"/>
              <a:t>panas</a:t>
            </a:r>
            <a:r>
              <a:rPr sz="2200" dirty="0"/>
              <a:t> </a:t>
            </a:r>
            <a:r>
              <a:rPr sz="2200" dirty="0" err="1"/>
              <a:t>dalam</a:t>
            </a:r>
            <a:r>
              <a:rPr sz="2200" dirty="0"/>
              <a:t> </a:t>
            </a:r>
            <a:r>
              <a:rPr sz="2200" dirty="0" err="1"/>
              <a:t>kalangan</a:t>
            </a:r>
            <a:r>
              <a:rPr sz="2200" dirty="0"/>
              <a:t> </a:t>
            </a:r>
            <a:r>
              <a:rPr sz="2200" dirty="0" err="1"/>
              <a:t>pengundi</a:t>
            </a:r>
            <a:endParaRPr sz="2200" dirty="0"/>
          </a:p>
          <a:p>
            <a:pPr lvl="1"/>
            <a:r>
              <a:rPr sz="2200" dirty="0"/>
              <a:t>Viral detection &amp; response strategy</a:t>
            </a:r>
          </a:p>
          <a:p>
            <a:r>
              <a:rPr sz="2200" dirty="0"/>
              <a:t>⚠️ Crisis Detection</a:t>
            </a:r>
          </a:p>
          <a:p>
            <a:pPr lvl="1"/>
            <a:r>
              <a:rPr sz="2200" dirty="0"/>
              <a:t>Detect negative sentiment spikes</a:t>
            </a:r>
          </a:p>
          <a:p>
            <a:pPr lvl="1"/>
            <a:r>
              <a:rPr sz="2200" dirty="0"/>
              <a:t>Response </a:t>
            </a:r>
            <a:r>
              <a:rPr sz="2200" dirty="0" err="1"/>
              <a:t>dalam</a:t>
            </a:r>
            <a:r>
              <a:rPr sz="2200" dirty="0"/>
              <a:t> 15-30 </a:t>
            </a:r>
            <a:r>
              <a:rPr sz="2200" dirty="0" err="1"/>
              <a:t>minit</a:t>
            </a:r>
            <a:endParaRPr sz="2200" dirty="0"/>
          </a:p>
          <a:p>
            <a:r>
              <a:rPr sz="2200" dirty="0"/>
              <a:t>📍 Geographic &amp; Demographic Insights</a:t>
            </a:r>
          </a:p>
          <a:p>
            <a:pPr lvl="1"/>
            <a:r>
              <a:rPr sz="2200" dirty="0"/>
              <a:t>Sentiment by location &amp; demographics</a:t>
            </a:r>
          </a:p>
          <a:p>
            <a:pPr lvl="1"/>
            <a:r>
              <a:rPr sz="2200" dirty="0"/>
              <a:t>Targeted campaign strategies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InsightPulse</a:t>
            </a:r>
            <a:r>
              <a:rPr dirty="0"/>
              <a:t> - Platform Analytics </a:t>
            </a:r>
            <a:r>
              <a:rPr dirty="0" err="1"/>
              <a:t>Pilihan</a:t>
            </a:r>
            <a:r>
              <a:rPr dirty="0"/>
              <a:t> Raya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🚀 Features Utama</a:t>
            </a:r>
          </a:p>
          <a:p>
            <a:pPr lvl="1"/>
            <a:r>
              <a:rPr sz="2000" dirty="0"/>
              <a:t>10 Platform Monitoring (Social Media + E-commerce)</a:t>
            </a:r>
          </a:p>
          <a:p>
            <a:pPr lvl="1"/>
            <a:r>
              <a:rPr sz="2000" dirty="0"/>
              <a:t>Multilingual AI: Malay, English, Chinese</a:t>
            </a:r>
          </a:p>
          <a:p>
            <a:pPr lvl="1"/>
            <a:r>
              <a:rPr sz="2000" dirty="0"/>
              <a:t>Real-time Sentiment &amp; Emotion Analysis</a:t>
            </a:r>
          </a:p>
          <a:p>
            <a:pPr lvl="1"/>
            <a:r>
              <a:rPr sz="2000" dirty="0"/>
              <a:t>Crisis Detection &amp; Alerts</a:t>
            </a:r>
          </a:p>
          <a:p>
            <a:pPr lvl="1"/>
            <a:r>
              <a:rPr sz="2000" dirty="0"/>
              <a:t>Trend Analysis &amp; Forecasting</a:t>
            </a:r>
          </a:p>
          <a:p>
            <a:r>
              <a:rPr sz="2000" dirty="0"/>
              <a:t>📈 Metrics </a:t>
            </a:r>
            <a:r>
              <a:rPr sz="2000" dirty="0" err="1"/>
              <a:t>Penting</a:t>
            </a:r>
            <a:endParaRPr sz="2000" dirty="0"/>
          </a:p>
          <a:p>
            <a:pPr lvl="1"/>
            <a:r>
              <a:rPr sz="2000" dirty="0"/>
              <a:t>Engagement Score (likes + shares + comments + views)</a:t>
            </a:r>
          </a:p>
          <a:p>
            <a:pPr lvl="1"/>
            <a:r>
              <a:rPr sz="2000" dirty="0"/>
              <a:t>Sentiment Score (-1 to +1)</a:t>
            </a:r>
          </a:p>
          <a:p>
            <a:pPr lvl="1"/>
            <a:r>
              <a:rPr sz="2000" dirty="0"/>
              <a:t>Viral Coefficient &amp; Reach</a:t>
            </a:r>
          </a:p>
          <a:p>
            <a:r>
              <a:rPr sz="2000" dirty="0"/>
              <a:t>💾 Data Storage</a:t>
            </a:r>
          </a:p>
          <a:p>
            <a:pPr lvl="1"/>
            <a:r>
              <a:rPr sz="2000" dirty="0"/>
              <a:t>Raw Data: 30-day retention</a:t>
            </a:r>
          </a:p>
          <a:p>
            <a:pPr lvl="1"/>
            <a:r>
              <a:rPr sz="2000" dirty="0"/>
              <a:t>Analyzed Data: 7-day retention</a:t>
            </a:r>
          </a:p>
          <a:p>
            <a:pPr lvl="1"/>
            <a:r>
              <a:rPr sz="2000" dirty="0"/>
              <a:t>Combined Cross-platform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Strategi </a:t>
            </a:r>
            <a:r>
              <a:rPr dirty="0" err="1"/>
              <a:t>Taktikal</a:t>
            </a:r>
            <a:r>
              <a:rPr dirty="0"/>
              <a:t> </a:t>
            </a:r>
            <a:r>
              <a:rPr dirty="0" err="1"/>
              <a:t>Menggunakan</a:t>
            </a:r>
            <a:r>
              <a:rPr dirty="0"/>
              <a:t>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🎯 Strategi 1: Monitoring Lawan</a:t>
            </a:r>
          </a:p>
          <a:p>
            <a:pPr lvl="1"/>
            <a:r>
              <a:rPr sz="2200" dirty="0"/>
              <a:t>Track sentiment </a:t>
            </a:r>
            <a:r>
              <a:rPr sz="2200" dirty="0" err="1"/>
              <a:t>terhadap</a:t>
            </a:r>
            <a:r>
              <a:rPr sz="2200" dirty="0"/>
              <a:t> </a:t>
            </a:r>
            <a:r>
              <a:rPr sz="2200" dirty="0" err="1"/>
              <a:t>lawan</a:t>
            </a:r>
            <a:endParaRPr sz="2200" dirty="0"/>
          </a:p>
          <a:p>
            <a:pPr lvl="1"/>
            <a:r>
              <a:rPr sz="2200" dirty="0"/>
              <a:t>Identify weaknesses &amp; attack points</a:t>
            </a:r>
          </a:p>
          <a:p>
            <a:r>
              <a:rPr sz="2200" dirty="0"/>
              <a:t>🎯 Strategi 2: Micro-targeting</a:t>
            </a:r>
          </a:p>
          <a:p>
            <a:pPr lvl="1"/>
            <a:r>
              <a:rPr sz="2200" dirty="0"/>
              <a:t>Segment </a:t>
            </a:r>
            <a:r>
              <a:rPr sz="2200" dirty="0" err="1"/>
              <a:t>pengundi</a:t>
            </a:r>
            <a:r>
              <a:rPr sz="2200" dirty="0"/>
              <a:t> by demographics</a:t>
            </a:r>
          </a:p>
          <a:p>
            <a:pPr lvl="1"/>
            <a:r>
              <a:rPr sz="2200" dirty="0"/>
              <a:t>Personalized messaging per segment</a:t>
            </a:r>
          </a:p>
          <a:p>
            <a:r>
              <a:rPr sz="2200" dirty="0"/>
              <a:t>🎯 Strategi 3: Rapid Response</a:t>
            </a:r>
          </a:p>
          <a:p>
            <a:pPr lvl="1"/>
            <a:r>
              <a:rPr sz="2200" dirty="0"/>
              <a:t>Monitor negative sentiment spikes</a:t>
            </a:r>
          </a:p>
          <a:p>
            <a:pPr lvl="1"/>
            <a:r>
              <a:rPr sz="2200" dirty="0"/>
              <a:t>Response strategy </a:t>
            </a:r>
            <a:r>
              <a:rPr sz="2200" dirty="0" err="1"/>
              <a:t>dalam</a:t>
            </a:r>
            <a:r>
              <a:rPr sz="2200" dirty="0"/>
              <a:t> 15-30 </a:t>
            </a:r>
            <a:r>
              <a:rPr sz="2200" dirty="0" err="1"/>
              <a:t>minit</a:t>
            </a:r>
            <a:endParaRPr sz="2200" dirty="0"/>
          </a:p>
          <a:p>
            <a:r>
              <a:rPr sz="2200" dirty="0"/>
              <a:t>🎯 Strategi 4: Content Optimization</a:t>
            </a:r>
          </a:p>
          <a:p>
            <a:pPr lvl="1"/>
            <a:r>
              <a:rPr sz="2200" dirty="0"/>
              <a:t>Test A/B messaging</a:t>
            </a:r>
          </a:p>
          <a:p>
            <a:pPr lvl="1"/>
            <a:r>
              <a:rPr sz="2200" dirty="0"/>
              <a:t>Optimize posting time &amp; format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Keywords - InsightPulse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🔍 Election General Keywords</a:t>
            </a:r>
          </a:p>
          <a:p>
            <a:pPr lvl="1"/>
            <a:r>
              <a:rPr sz="2000" dirty="0"/>
              <a:t>PRU16, PRN Selangor, </a:t>
            </a:r>
            <a:r>
              <a:rPr sz="2000" dirty="0" err="1"/>
              <a:t>Pilihan</a:t>
            </a:r>
            <a:r>
              <a:rPr sz="2000" dirty="0"/>
              <a:t> Raya Negeri</a:t>
            </a:r>
          </a:p>
          <a:p>
            <a:pPr lvl="1"/>
            <a:r>
              <a:rPr sz="2000" dirty="0" err="1"/>
              <a:t>Pengundi</a:t>
            </a:r>
            <a:r>
              <a:rPr sz="2000" dirty="0"/>
              <a:t>, </a:t>
            </a:r>
            <a:r>
              <a:rPr sz="2000" dirty="0" err="1"/>
              <a:t>Mengundi</a:t>
            </a:r>
            <a:r>
              <a:rPr sz="2000" dirty="0"/>
              <a:t>, Daftar Undi</a:t>
            </a:r>
          </a:p>
          <a:p>
            <a:r>
              <a:rPr sz="2000" dirty="0"/>
              <a:t>🔍 Party &amp; Candidate Keywords</a:t>
            </a:r>
          </a:p>
          <a:p>
            <a:pPr lvl="1"/>
            <a:r>
              <a:rPr sz="2000" dirty="0"/>
              <a:t>Pakatan Harapan, </a:t>
            </a:r>
            <a:r>
              <a:rPr sz="2000" dirty="0" err="1"/>
              <a:t>Perikatan</a:t>
            </a:r>
            <a:r>
              <a:rPr sz="2000" dirty="0"/>
              <a:t> Nasional, Barisan Nasional</a:t>
            </a:r>
          </a:p>
          <a:p>
            <a:pPr lvl="1"/>
            <a:r>
              <a:rPr sz="2000" dirty="0"/>
              <a:t>[Nama Calon], [Nama </a:t>
            </a:r>
            <a:r>
              <a:rPr sz="2000" dirty="0" err="1"/>
              <a:t>Ketua</a:t>
            </a:r>
            <a:r>
              <a:rPr sz="2000" dirty="0"/>
              <a:t> Parti]</a:t>
            </a:r>
          </a:p>
          <a:p>
            <a:r>
              <a:rPr sz="2000" dirty="0"/>
              <a:t>🔍 Issue-Based Keywords</a:t>
            </a:r>
          </a:p>
          <a:p>
            <a:pPr lvl="1"/>
            <a:r>
              <a:rPr sz="2000" dirty="0"/>
              <a:t>Kos Sara Hidup, </a:t>
            </a:r>
            <a:r>
              <a:rPr sz="2000" dirty="0" err="1"/>
              <a:t>Inflasi</a:t>
            </a:r>
            <a:r>
              <a:rPr sz="2000" dirty="0"/>
              <a:t>, </a:t>
            </a:r>
            <a:r>
              <a:rPr sz="2000" dirty="0" err="1"/>
              <a:t>Gaji</a:t>
            </a:r>
            <a:r>
              <a:rPr sz="2000" dirty="0"/>
              <a:t> Minimum</a:t>
            </a:r>
          </a:p>
          <a:p>
            <a:pPr lvl="1"/>
            <a:r>
              <a:rPr sz="2000" dirty="0"/>
              <a:t>Corruption, </a:t>
            </a:r>
            <a:r>
              <a:rPr sz="2000" dirty="0" err="1"/>
              <a:t>Rasuah</a:t>
            </a:r>
            <a:r>
              <a:rPr sz="2000" dirty="0"/>
              <a:t>, </a:t>
            </a:r>
            <a:r>
              <a:rPr sz="2000" dirty="0" err="1"/>
              <a:t>Integriti</a:t>
            </a:r>
            <a:endParaRPr sz="2000" dirty="0"/>
          </a:p>
          <a:p>
            <a:pPr lvl="1"/>
            <a:r>
              <a:rPr sz="2000" dirty="0"/>
              <a:t>Pendidikan, Kesihatan, </a:t>
            </a:r>
            <a:r>
              <a:rPr sz="2000" dirty="0" err="1"/>
              <a:t>Perumahan</a:t>
            </a:r>
            <a:endParaRPr sz="2000" dirty="0"/>
          </a:p>
          <a:p>
            <a:r>
              <a:rPr sz="2000" dirty="0"/>
              <a:t>🔍 Sentiment Keywords</a:t>
            </a:r>
          </a:p>
          <a:p>
            <a:pPr lvl="1"/>
            <a:r>
              <a:rPr sz="2000" dirty="0" err="1"/>
              <a:t>Kecewa</a:t>
            </a:r>
            <a:r>
              <a:rPr sz="2000" dirty="0"/>
              <a:t>, Harapan, Marah, Gembira</a:t>
            </a:r>
          </a:p>
          <a:p>
            <a:pPr lvl="1"/>
            <a:r>
              <a:rPr sz="2000" dirty="0" err="1"/>
              <a:t>Sokong</a:t>
            </a:r>
            <a:r>
              <a:rPr sz="2000" dirty="0"/>
              <a:t>, Tolak, </a:t>
            </a:r>
            <a:r>
              <a:rPr sz="2000" dirty="0" err="1"/>
              <a:t>Tukar</a:t>
            </a:r>
            <a:r>
              <a:rPr sz="2000" dirty="0"/>
              <a:t>, Ubah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Monitoring Pilihan Raya PBT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📊 Data Collection</a:t>
            </a:r>
          </a:p>
          <a:p>
            <a:pPr lvl="1"/>
            <a:r>
              <a:rPr sz="2200" dirty="0"/>
              <a:t>Keywords: '</a:t>
            </a:r>
            <a:r>
              <a:rPr sz="2200" dirty="0" err="1"/>
              <a:t>Pilihan</a:t>
            </a:r>
            <a:r>
              <a:rPr sz="2200" dirty="0"/>
              <a:t> Raya PBT', 'PKS', 'Election'</a:t>
            </a:r>
          </a:p>
          <a:p>
            <a:pPr lvl="1"/>
            <a:r>
              <a:rPr sz="2200" dirty="0"/>
              <a:t>Platforms: Facebook, X, Instagram, News</a:t>
            </a:r>
          </a:p>
          <a:p>
            <a:pPr lvl="1"/>
            <a:r>
              <a:rPr sz="2200" dirty="0"/>
              <a:t>Dataset: 500+ posts &amp; comments</a:t>
            </a:r>
          </a:p>
          <a:p>
            <a:r>
              <a:rPr sz="2200" dirty="0"/>
              <a:t>📈 Analysis Results</a:t>
            </a:r>
          </a:p>
          <a:p>
            <a:pPr lvl="1"/>
            <a:r>
              <a:rPr sz="2200" dirty="0"/>
              <a:t>Sentiment: 45% Positive, 30% Neutral, 25% Negative</a:t>
            </a:r>
          </a:p>
          <a:p>
            <a:pPr lvl="1"/>
            <a:r>
              <a:rPr sz="2200" dirty="0"/>
              <a:t>Top Emotions: Joy (35%), Anger (20%), Neutral (45%)</a:t>
            </a:r>
          </a:p>
          <a:p>
            <a:pPr lvl="1"/>
            <a:r>
              <a:rPr sz="2200" dirty="0"/>
              <a:t>Peak Engagement: 8-10 PM daily</a:t>
            </a:r>
          </a:p>
          <a:p>
            <a:r>
              <a:rPr sz="2200" dirty="0"/>
              <a:t>🎯 Actionable Insights</a:t>
            </a:r>
          </a:p>
          <a:p>
            <a:pPr lvl="1"/>
            <a:r>
              <a:rPr sz="2200" dirty="0"/>
              <a:t>Positive sentiment on education &amp; infrastructure</a:t>
            </a:r>
          </a:p>
          <a:p>
            <a:pPr lvl="1"/>
            <a:r>
              <a:rPr sz="2200" dirty="0"/>
              <a:t>Negative sentiment on corruption &amp; transparency</a:t>
            </a:r>
          </a:p>
          <a:p>
            <a:pPr lvl="1"/>
            <a:r>
              <a:rPr sz="2200" dirty="0"/>
              <a:t>Recommendation: Focus on anti-corruption messaging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InsightPulse: Data Flow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1️⃣ Data Collection</a:t>
            </a:r>
          </a:p>
          <a:p>
            <a:pPr lvl="1"/>
            <a:r>
              <a:rPr sz="1800" dirty="0"/>
              <a:t>Crawl 10 platforms simultaneously</a:t>
            </a:r>
          </a:p>
          <a:p>
            <a:pPr lvl="1"/>
            <a:r>
              <a:rPr sz="1800" dirty="0"/>
              <a:t>Store raw data: data/</a:t>
            </a:r>
            <a:r>
              <a:rPr sz="1800" dirty="0" err="1"/>
              <a:t>smart_crawlers</a:t>
            </a:r>
            <a:r>
              <a:rPr sz="1800" dirty="0"/>
              <a:t>/PLATFORM/</a:t>
            </a:r>
          </a:p>
          <a:p>
            <a:r>
              <a:rPr sz="2000" dirty="0"/>
              <a:t>2️⃣ AI Analysis</a:t>
            </a:r>
          </a:p>
          <a:p>
            <a:pPr lvl="1"/>
            <a:r>
              <a:rPr sz="1800" dirty="0"/>
              <a:t>Sentiment Analysis (Multilingual)</a:t>
            </a:r>
          </a:p>
          <a:p>
            <a:pPr lvl="1"/>
            <a:r>
              <a:rPr sz="1800" dirty="0"/>
              <a:t>Emotion Detection (8 emotions)</a:t>
            </a:r>
          </a:p>
          <a:p>
            <a:pPr lvl="1"/>
            <a:r>
              <a:rPr sz="1800" dirty="0"/>
              <a:t>Engagement Scoring</a:t>
            </a:r>
          </a:p>
          <a:p>
            <a:r>
              <a:rPr sz="2000" dirty="0"/>
              <a:t>3️⃣ Data Storage</a:t>
            </a:r>
          </a:p>
          <a:p>
            <a:pPr lvl="1"/>
            <a:r>
              <a:rPr sz="1800" dirty="0"/>
              <a:t>Analyzed data: data/analyzed/</a:t>
            </a:r>
          </a:p>
          <a:p>
            <a:pPr lvl="1"/>
            <a:r>
              <a:rPr sz="1800" dirty="0"/>
              <a:t>Combined cross-platform: data/combined/</a:t>
            </a:r>
          </a:p>
          <a:p>
            <a:r>
              <a:rPr sz="2000" dirty="0"/>
              <a:t>4️⃣ Visualization &amp; Insights</a:t>
            </a:r>
          </a:p>
          <a:p>
            <a:pPr lvl="1"/>
            <a:r>
              <a:rPr sz="1800" dirty="0"/>
              <a:t>Real-time dashboard</a:t>
            </a:r>
          </a:p>
          <a:p>
            <a:pPr lvl="1"/>
            <a:r>
              <a:rPr sz="1800" dirty="0"/>
              <a:t>Trend graphs &amp; sentiment timeline</a:t>
            </a:r>
          </a:p>
          <a:p>
            <a:pPr lvl="1"/>
            <a:r>
              <a:rPr sz="1800" dirty="0"/>
              <a:t>Export to Excel/CSV for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✅ Big Data = Competitive Advantage</a:t>
            </a:r>
          </a:p>
          <a:p>
            <a:pPr lvl="1"/>
            <a:r>
              <a:rPr sz="2200" dirty="0"/>
              <a:t>Real-time insights </a:t>
            </a:r>
            <a:r>
              <a:rPr sz="2200" dirty="0" err="1"/>
              <a:t>untuk</a:t>
            </a:r>
            <a:r>
              <a:rPr sz="2200" dirty="0"/>
              <a:t> decision making</a:t>
            </a:r>
          </a:p>
          <a:p>
            <a:pPr lvl="1"/>
            <a:r>
              <a:rPr sz="2200" dirty="0"/>
              <a:t>Data-driven campaign strategies</a:t>
            </a:r>
          </a:p>
          <a:p>
            <a:r>
              <a:rPr sz="2200" dirty="0"/>
              <a:t>✅ </a:t>
            </a:r>
            <a:r>
              <a:rPr sz="2200" dirty="0" err="1"/>
              <a:t>InsightPulse</a:t>
            </a:r>
            <a:r>
              <a:rPr sz="2200" dirty="0"/>
              <a:t> = Complete Solution</a:t>
            </a:r>
          </a:p>
          <a:p>
            <a:pPr lvl="1"/>
            <a:r>
              <a:rPr sz="2200" dirty="0"/>
              <a:t>10 platforms monitoring</a:t>
            </a:r>
          </a:p>
          <a:p>
            <a:pPr lvl="1"/>
            <a:r>
              <a:rPr sz="2200" dirty="0"/>
              <a:t>Multilingual AI analysis</a:t>
            </a:r>
          </a:p>
          <a:p>
            <a:pPr lvl="1"/>
            <a:r>
              <a:rPr sz="2200" dirty="0"/>
              <a:t>Crisis detection &amp; rapid response</a:t>
            </a:r>
          </a:p>
          <a:p>
            <a:r>
              <a:rPr sz="2200" dirty="0"/>
              <a:t>✅ Next Steps</a:t>
            </a:r>
          </a:p>
          <a:p>
            <a:pPr lvl="1"/>
            <a:r>
              <a:rPr sz="2200" dirty="0"/>
              <a:t>Define keywords for monitoring</a:t>
            </a:r>
          </a:p>
          <a:p>
            <a:pPr lvl="1"/>
            <a:r>
              <a:rPr sz="2200" dirty="0"/>
              <a:t>Setup automated daily reports</a:t>
            </a:r>
          </a:p>
          <a:p>
            <a:pPr lvl="1"/>
            <a:r>
              <a:rPr sz="2200" dirty="0"/>
              <a:t>Train team on data interpretation</a:t>
            </a:r>
          </a:p>
          <a:p>
            <a:r>
              <a:rPr sz="2200" dirty="0"/>
              <a:t>🙏 </a:t>
            </a:r>
            <a:r>
              <a:rPr sz="2200" dirty="0" err="1"/>
              <a:t>Terima</a:t>
            </a:r>
            <a:r>
              <a:rPr sz="2200" dirty="0"/>
              <a:t> Kasih! Q&amp;A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Cadangan Belanjawan - Big 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r>
              <a:rPr sz="1800" dirty="0"/>
              <a:t>💰 Platform &amp; Tools (Monthly)</a:t>
            </a:r>
          </a:p>
          <a:p>
            <a:pPr lvl="1"/>
            <a:r>
              <a:rPr sz="1500" dirty="0" err="1"/>
              <a:t>InsightPulse</a:t>
            </a:r>
            <a:r>
              <a:rPr sz="1500" dirty="0"/>
              <a:t> Platform: </a:t>
            </a:r>
            <a:r>
              <a:rPr lang="en-US" sz="1500" dirty="0"/>
              <a:t>FREE</a:t>
            </a:r>
            <a:endParaRPr sz="1500" dirty="0"/>
          </a:p>
          <a:p>
            <a:pPr lvl="1"/>
            <a:r>
              <a:rPr lang="en-US" sz="1500" dirty="0"/>
              <a:t>API</a:t>
            </a:r>
            <a:r>
              <a:rPr sz="1500" dirty="0"/>
              <a:t> Crawling </a:t>
            </a:r>
            <a:r>
              <a:rPr lang="en-US" sz="1500" dirty="0"/>
              <a:t>Engine</a:t>
            </a:r>
            <a:r>
              <a:rPr sz="1500" dirty="0"/>
              <a:t>: RM 3,000 - 5,000</a:t>
            </a:r>
          </a:p>
          <a:p>
            <a:pPr lvl="1"/>
            <a:r>
              <a:rPr lang="en-US" sz="1500" dirty="0"/>
              <a:t>API</a:t>
            </a:r>
            <a:r>
              <a:rPr sz="1500" dirty="0"/>
              <a:t>(News monitoring): RM 500 - 1,000</a:t>
            </a:r>
          </a:p>
          <a:p>
            <a:pPr lvl="1"/>
            <a:r>
              <a:rPr sz="1500" dirty="0"/>
              <a:t>Cloud Storage (AWS/Azure): RM 1,000 - 2,000</a:t>
            </a:r>
          </a:p>
          <a:p>
            <a:r>
              <a:rPr sz="1800" dirty="0"/>
              <a:t>👥 Human Resources (Monthly)</a:t>
            </a:r>
          </a:p>
          <a:p>
            <a:pPr lvl="1"/>
            <a:r>
              <a:rPr sz="1500" dirty="0"/>
              <a:t>Data Analyst (1-2 pax): RM </a:t>
            </a:r>
            <a:r>
              <a:rPr lang="en-US" sz="1500" dirty="0"/>
              <a:t>4</a:t>
            </a:r>
            <a:r>
              <a:rPr sz="1500" dirty="0"/>
              <a:t>,000 - </a:t>
            </a:r>
            <a:r>
              <a:rPr lang="en-US" sz="1500" dirty="0"/>
              <a:t>6</a:t>
            </a:r>
            <a:r>
              <a:rPr sz="1500" dirty="0"/>
              <a:t>,000</a:t>
            </a:r>
          </a:p>
          <a:p>
            <a:pPr lvl="1"/>
            <a:r>
              <a:rPr sz="1500" dirty="0"/>
              <a:t>Social Media Strategist (1 pax): RM 6,000 - </a:t>
            </a:r>
            <a:r>
              <a:rPr lang="en-US" sz="1500" dirty="0"/>
              <a:t>8</a:t>
            </a:r>
            <a:r>
              <a:rPr sz="1500" dirty="0"/>
              <a:t>,000</a:t>
            </a:r>
          </a:p>
          <a:p>
            <a:pPr lvl="1"/>
            <a:r>
              <a:rPr sz="1500" dirty="0"/>
              <a:t>Content Writer/Responder (2 pax): RM </a:t>
            </a:r>
            <a:r>
              <a:rPr lang="en-US" sz="1500" dirty="0"/>
              <a:t>4</a:t>
            </a:r>
            <a:r>
              <a:rPr sz="1500" dirty="0"/>
              <a:t>,000 - </a:t>
            </a:r>
            <a:r>
              <a:rPr lang="en-US" sz="1500" dirty="0"/>
              <a:t>6</a:t>
            </a:r>
            <a:r>
              <a:rPr sz="1500" dirty="0"/>
              <a:t>,000</a:t>
            </a:r>
          </a:p>
          <a:p>
            <a:r>
              <a:rPr sz="1800" dirty="0">
                <a:solidFill>
                  <a:srgbClr val="FF0000"/>
                </a:solidFill>
              </a:rPr>
              <a:t>🎯 ROI &amp; Benefits</a:t>
            </a:r>
          </a:p>
          <a:p>
            <a:pPr lvl="1"/>
            <a:r>
              <a:rPr sz="1500" dirty="0">
                <a:solidFill>
                  <a:srgbClr val="FF0000"/>
                </a:solidFill>
              </a:rPr>
              <a:t>Crisis prevention worth 10x investment</a:t>
            </a:r>
          </a:p>
          <a:p>
            <a:pPr lvl="1"/>
            <a:r>
              <a:rPr sz="1500" dirty="0">
                <a:solidFill>
                  <a:srgbClr val="FF0000"/>
                </a:solidFill>
              </a:rPr>
              <a:t>Data-driven decisions reduce waste by 30-40%</a:t>
            </a:r>
          </a:p>
          <a:p>
            <a:pPr lvl="1"/>
            <a:r>
              <a:rPr sz="1500" dirty="0">
                <a:solidFill>
                  <a:srgbClr val="FF0000"/>
                </a:solidFill>
              </a:rPr>
              <a:t>Targeted messaging increases engagement by 50%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Pelaksanaan - 3 Fasa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867"/>
          </a:xfrm>
        </p:spPr>
        <p:txBody>
          <a:bodyPr>
            <a:noAutofit/>
          </a:bodyPr>
          <a:lstStyle/>
          <a:p>
            <a:r>
              <a:rPr sz="1800" dirty="0"/>
              <a:t>📅 FASA 1: Setup &amp; Training (Week 1-2)</a:t>
            </a:r>
          </a:p>
          <a:p>
            <a:pPr lvl="1"/>
            <a:r>
              <a:rPr sz="1500" dirty="0"/>
              <a:t>Platform setup &amp; API configuration</a:t>
            </a:r>
          </a:p>
          <a:p>
            <a:pPr lvl="1"/>
            <a:r>
              <a:rPr sz="1500" dirty="0"/>
              <a:t>Define keywords &amp; monitoring strategy</a:t>
            </a:r>
          </a:p>
          <a:p>
            <a:pPr lvl="1"/>
            <a:r>
              <a:rPr sz="1500" dirty="0"/>
              <a:t>Team training (2-3 </a:t>
            </a:r>
            <a:r>
              <a:rPr sz="1500" dirty="0" err="1"/>
              <a:t>hari</a:t>
            </a:r>
            <a:r>
              <a:rPr sz="1500" dirty="0"/>
              <a:t>)</a:t>
            </a:r>
          </a:p>
          <a:p>
            <a:pPr lvl="1"/>
            <a:r>
              <a:rPr sz="1500" dirty="0"/>
              <a:t>Budget: RM 15,000 - 25,000</a:t>
            </a:r>
          </a:p>
          <a:p>
            <a:r>
              <a:rPr sz="1800" dirty="0"/>
              <a:t>📅 FASA 2: Pilot Testing (Week 3-4)</a:t>
            </a:r>
          </a:p>
          <a:p>
            <a:pPr lvl="1"/>
            <a:r>
              <a:rPr sz="1500" dirty="0"/>
              <a:t>Monitor 3-5 keywords</a:t>
            </a:r>
          </a:p>
          <a:p>
            <a:pPr lvl="1"/>
            <a:r>
              <a:rPr sz="1500" dirty="0"/>
              <a:t>Test crisis response protocol</a:t>
            </a:r>
          </a:p>
          <a:p>
            <a:pPr lvl="1"/>
            <a:r>
              <a:rPr sz="1500" dirty="0"/>
              <a:t>Fine-tune sentiment models</a:t>
            </a:r>
          </a:p>
          <a:p>
            <a:pPr lvl="1"/>
            <a:r>
              <a:rPr sz="1500" dirty="0"/>
              <a:t>Budget: RM 20,000 - 35,000</a:t>
            </a:r>
          </a:p>
          <a:p>
            <a:r>
              <a:rPr sz="1800" dirty="0"/>
              <a:t>📅 FASA 3: Full Deployment (Ongoing)</a:t>
            </a:r>
          </a:p>
          <a:p>
            <a:pPr lvl="1"/>
            <a:r>
              <a:rPr sz="1500" dirty="0"/>
              <a:t>24/7 real-time monitoring</a:t>
            </a:r>
          </a:p>
          <a:p>
            <a:pPr lvl="1"/>
            <a:r>
              <a:rPr sz="1500" dirty="0"/>
              <a:t>Daily sentiment reports</a:t>
            </a:r>
          </a:p>
          <a:p>
            <a:pPr lvl="1"/>
            <a:r>
              <a:rPr sz="1500" dirty="0"/>
              <a:t>Weekly strategy meetings</a:t>
            </a:r>
          </a:p>
          <a:p>
            <a:pPr lvl="1"/>
            <a:r>
              <a:rPr sz="1500" dirty="0"/>
              <a:t>Budget: RM 50,000 - 150,000/</a:t>
            </a:r>
            <a:r>
              <a:rPr sz="1500" dirty="0" err="1"/>
              <a:t>bulan</a:t>
            </a:r>
            <a:endParaRPr sz="1500" dirty="0"/>
          </a:p>
          <a:p>
            <a:r>
              <a:rPr sz="1800" dirty="0"/>
              <a:t>⏱️ Total Setup: 4 </a:t>
            </a:r>
            <a:r>
              <a:rPr sz="1800" dirty="0" err="1"/>
              <a:t>minggu</a:t>
            </a:r>
            <a:r>
              <a:rPr sz="1800" dirty="0"/>
              <a:t> | 💰 Total Initial: RM 85,000 - 210,000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Pecahan Kos Terperinci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dirty="0"/>
              <a:t>💻 Technology Stack (One-time + Monthly)</a:t>
            </a:r>
          </a:p>
          <a:p>
            <a:pPr lvl="1"/>
            <a:r>
              <a:rPr sz="1800" dirty="0" err="1"/>
              <a:t>InsightPulse</a:t>
            </a:r>
            <a:r>
              <a:rPr sz="1800" dirty="0"/>
              <a:t> License: RM 10,000 (setup) + RM 8,000/</a:t>
            </a:r>
            <a:r>
              <a:rPr sz="1800" dirty="0" err="1"/>
              <a:t>bulan</a:t>
            </a:r>
            <a:endParaRPr sz="1800" dirty="0"/>
          </a:p>
          <a:p>
            <a:pPr lvl="1"/>
            <a:r>
              <a:rPr sz="1800" dirty="0" err="1"/>
              <a:t>Apify</a:t>
            </a:r>
            <a:r>
              <a:rPr sz="1800" dirty="0"/>
              <a:t> Credits: RM 5,000/</a:t>
            </a:r>
            <a:r>
              <a:rPr sz="1800" dirty="0" err="1"/>
              <a:t>bulan</a:t>
            </a:r>
            <a:r>
              <a:rPr sz="1800" dirty="0"/>
              <a:t> (500,000 results)</a:t>
            </a:r>
          </a:p>
          <a:p>
            <a:pPr lvl="1"/>
            <a:r>
              <a:rPr sz="1800" dirty="0" err="1"/>
              <a:t>SerpAPI</a:t>
            </a:r>
            <a:r>
              <a:rPr sz="1800" dirty="0"/>
              <a:t>: RM 800/</a:t>
            </a:r>
            <a:r>
              <a:rPr sz="1800" dirty="0" err="1"/>
              <a:t>bulan</a:t>
            </a:r>
            <a:r>
              <a:rPr sz="1800" dirty="0"/>
              <a:t> (unlimited searches)</a:t>
            </a:r>
          </a:p>
          <a:p>
            <a:pPr lvl="1"/>
            <a:r>
              <a:rPr sz="1800" dirty="0"/>
              <a:t>AWS/Azure Hosting: RM 1,500/</a:t>
            </a:r>
            <a:r>
              <a:rPr sz="1800" dirty="0" err="1"/>
              <a:t>bulan</a:t>
            </a:r>
            <a:endParaRPr sz="1800" dirty="0"/>
          </a:p>
          <a:p>
            <a:pPr lvl="1"/>
            <a:r>
              <a:rPr sz="1800" dirty="0"/>
              <a:t>Database &amp; Storage: RM 500/</a:t>
            </a:r>
            <a:r>
              <a:rPr sz="1800" dirty="0" err="1"/>
              <a:t>bulan</a:t>
            </a:r>
            <a:endParaRPr sz="1800" dirty="0"/>
          </a:p>
          <a:p>
            <a:r>
              <a:rPr sz="1800" dirty="0"/>
              <a:t>📱 Campaign Operations (Monthly)</a:t>
            </a:r>
          </a:p>
          <a:p>
            <a:pPr lvl="1"/>
            <a:r>
              <a:rPr sz="1800" dirty="0"/>
              <a:t>3 Data Analysts: RM 25,000/</a:t>
            </a:r>
            <a:r>
              <a:rPr sz="1800" dirty="0" err="1"/>
              <a:t>bulan</a:t>
            </a:r>
            <a:endParaRPr sz="1800" dirty="0"/>
          </a:p>
          <a:p>
            <a:pPr lvl="1"/>
            <a:r>
              <a:rPr sz="1800" dirty="0"/>
              <a:t>2 Content Strategists: RM 18,000/</a:t>
            </a:r>
            <a:r>
              <a:rPr sz="1800" dirty="0" err="1"/>
              <a:t>bulan</a:t>
            </a:r>
            <a:endParaRPr sz="1800" dirty="0"/>
          </a:p>
          <a:p>
            <a:pPr lvl="1"/>
            <a:r>
              <a:rPr sz="1800" dirty="0"/>
              <a:t>1 Tech Support: RM 8,000/</a:t>
            </a:r>
            <a:r>
              <a:rPr sz="1800" dirty="0" err="1"/>
              <a:t>bulan</a:t>
            </a:r>
            <a:endParaRPr sz="1800" dirty="0"/>
          </a:p>
          <a:p>
            <a:r>
              <a:rPr sz="1800" dirty="0"/>
              <a:t>📊 Additional Costs (Optional)</a:t>
            </a:r>
          </a:p>
          <a:p>
            <a:pPr lvl="1"/>
            <a:r>
              <a:rPr sz="1800" dirty="0"/>
              <a:t>Training &amp; Workshops: RM 5,000 (quarterly)</a:t>
            </a:r>
          </a:p>
          <a:p>
            <a:pPr lvl="1"/>
            <a:r>
              <a:rPr sz="1800" dirty="0"/>
              <a:t>Consultant/Advisor: RM 10,000/</a:t>
            </a:r>
            <a:r>
              <a:rPr sz="1800" dirty="0" err="1"/>
              <a:t>bulan</a:t>
            </a:r>
            <a:endParaRPr sz="1800" dirty="0"/>
          </a:p>
          <a:p>
            <a:pPr lvl="1"/>
            <a:r>
              <a:rPr sz="1800" dirty="0"/>
              <a:t>Emergency Response Fund: RM 20,000 (reserve)</a:t>
            </a:r>
          </a:p>
          <a:p>
            <a:r>
              <a:rPr sz="1800" dirty="0"/>
              <a:t>💰 TOTAL: RM 76,800/</a:t>
            </a:r>
            <a:r>
              <a:rPr sz="1800" dirty="0" err="1"/>
              <a:t>bulan</a:t>
            </a:r>
            <a:r>
              <a:rPr sz="1800" dirty="0"/>
              <a:t> + RM 10,000 setup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on Investment (ROI)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11889"/>
          </a:xfrm>
        </p:spPr>
        <p:txBody>
          <a:bodyPr>
            <a:noAutofit/>
          </a:bodyPr>
          <a:lstStyle/>
          <a:p>
            <a:r>
              <a:rPr sz="2000" dirty="0"/>
              <a:t>💡 Cost Savings</a:t>
            </a:r>
          </a:p>
          <a:p>
            <a:pPr lvl="1"/>
            <a:r>
              <a:rPr sz="1800" dirty="0"/>
              <a:t>Prevent 1 major crisis: Save RM 500,000 - 2,000,000</a:t>
            </a:r>
          </a:p>
          <a:p>
            <a:pPr lvl="1"/>
            <a:r>
              <a:rPr sz="1800" dirty="0"/>
              <a:t>Reduce ineffective advertising: Save 30-40%</a:t>
            </a:r>
          </a:p>
          <a:p>
            <a:pPr lvl="1"/>
            <a:r>
              <a:rPr sz="1800" dirty="0"/>
              <a:t>Targeted campaigns vs broadcast: 3x efficiency</a:t>
            </a:r>
          </a:p>
          <a:p>
            <a:r>
              <a:rPr sz="2000" dirty="0"/>
              <a:t>📈 Revenue/Value Generation</a:t>
            </a:r>
          </a:p>
          <a:p>
            <a:pPr lvl="1"/>
            <a:r>
              <a:rPr sz="1800" dirty="0"/>
              <a:t>Increased voter engagement: +50%</a:t>
            </a:r>
          </a:p>
          <a:p>
            <a:pPr lvl="1"/>
            <a:r>
              <a:rPr sz="1800" dirty="0"/>
              <a:t>Better resource allocation: +40% efficiency</a:t>
            </a:r>
          </a:p>
          <a:p>
            <a:pPr lvl="1"/>
            <a:r>
              <a:rPr sz="1800" dirty="0"/>
              <a:t>Win marginal seats: Priceless</a:t>
            </a:r>
          </a:p>
          <a:p>
            <a:r>
              <a:rPr sz="2000" dirty="0"/>
              <a:t>⚖️ ROI Calculation (Medium Campaign)</a:t>
            </a:r>
          </a:p>
          <a:p>
            <a:pPr lvl="1"/>
            <a:r>
              <a:rPr sz="1800" dirty="0"/>
              <a:t>Investment: RM 80,000/</a:t>
            </a:r>
            <a:r>
              <a:rPr sz="1800" dirty="0" err="1"/>
              <a:t>bulan</a:t>
            </a:r>
            <a:r>
              <a:rPr sz="1800" dirty="0"/>
              <a:t> x 6 </a:t>
            </a:r>
            <a:r>
              <a:rPr sz="1800" dirty="0" err="1"/>
              <a:t>bulan</a:t>
            </a:r>
            <a:r>
              <a:rPr sz="1800" dirty="0"/>
              <a:t> = RM 480,000</a:t>
            </a:r>
          </a:p>
          <a:p>
            <a:pPr lvl="1"/>
            <a:r>
              <a:rPr sz="1800" dirty="0"/>
              <a:t>Crisis prevention value: RM 1,000,000+</a:t>
            </a:r>
          </a:p>
          <a:p>
            <a:pPr lvl="1"/>
            <a:r>
              <a:rPr sz="1800" dirty="0"/>
              <a:t>Ad waste reduction: RM 300,000+</a:t>
            </a:r>
          </a:p>
          <a:p>
            <a:pPr lvl="1"/>
            <a:r>
              <a:rPr sz="1800" dirty="0"/>
              <a:t>Net ROI: 200-300% minimum</a:t>
            </a:r>
          </a:p>
          <a:p>
            <a:r>
              <a:rPr sz="2000" dirty="0"/>
              <a:t>✅ Breakeven: After 2-3 major crisis prevented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1094</Words>
  <Application>Microsoft Macintosh PowerPoint</Application>
  <PresentationFormat>On-screen Show (4:3)</PresentationFormat>
  <Paragraphs>178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Agenda</vt:lpstr>
      <vt:lpstr>Big Data dalam Politik: Era Baru Kempen</vt:lpstr>
      <vt:lpstr>Kepentingan Analytics dalam Pilihan Raya</vt:lpstr>
      <vt:lpstr>InsightPulse - Platform Analytics Pilihan Raya</vt:lpstr>
      <vt:lpstr>Strategi Taktikal Menggunakan Big Data</vt:lpstr>
      <vt:lpstr>Sample Keywords - InsightPulse Monitoring</vt:lpstr>
      <vt:lpstr>Case Study: Monitoring Pilihan Raya PBT</vt:lpstr>
      <vt:lpstr>InsightPulse: Data Flow Pipeline</vt:lpstr>
      <vt:lpstr>Kesimpulan</vt:lpstr>
      <vt:lpstr>Cadangan Belanjawan - Big Data Analytics</vt:lpstr>
      <vt:lpstr>Timeline Pelaksanaan - 3 Fasa</vt:lpstr>
      <vt:lpstr>Pecahan Kos Terperinci</vt:lpstr>
      <vt:lpstr>Return on Investment (ROI)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 Mohd Tariqi Raja Lope Ahmad</cp:lastModifiedBy>
  <cp:revision>3</cp:revision>
  <dcterms:created xsi:type="dcterms:W3CDTF">2013-01-27T09:14:16Z</dcterms:created>
  <dcterms:modified xsi:type="dcterms:W3CDTF">2026-05-27T04:43:52Z</dcterms:modified>
  <cp:category/>
</cp:coreProperties>
</file>