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4" r:id="rId10"/>
    <p:sldId id="263" r:id="rId11"/>
    <p:sldId id="266" r:id="rId12"/>
    <p:sldId id="270" r:id="rId13"/>
    <p:sldId id="26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08"/>
    <p:restoredTop sz="94645"/>
  </p:normalViewPr>
  <p:slideViewPr>
    <p:cSldViewPr snapToGrid="0" snapToObjects="1">
      <p:cViewPr varScale="1">
        <p:scale>
          <a:sx n="76" d="100"/>
          <a:sy n="76" d="100"/>
        </p:scale>
        <p:origin x="1896" y="9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Big Data &amp; Analytic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00000"/>
                </a:solidFill>
              </a:defRPr>
            </a:pPr>
            <a:r>
              <a:t>Strategi Pilihan Raya dan Taktikal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/>
            </a:pPr>
            <a:r>
              <a:rPr dirty="0" err="1"/>
              <a:t>InsightPulse</a:t>
            </a:r>
            <a:r>
              <a:rPr dirty="0"/>
              <a:t> Analytics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Pengenalan</a:t>
            </a:r>
            <a:r>
              <a:rPr dirty="0"/>
              <a:t> Big Data </a:t>
            </a:r>
            <a:r>
              <a:rPr dirty="0" err="1"/>
              <a:t>dalam</a:t>
            </a:r>
            <a:r>
              <a:rPr dirty="0"/>
              <a:t> Politik</a:t>
            </a:r>
          </a:p>
          <a:p>
            <a:r>
              <a:rPr dirty="0" err="1"/>
              <a:t>Kepentingan</a:t>
            </a:r>
            <a:r>
              <a:rPr dirty="0"/>
              <a:t> Analytics </a:t>
            </a:r>
            <a:r>
              <a:rPr dirty="0" err="1"/>
              <a:t>dalam</a:t>
            </a:r>
            <a:r>
              <a:rPr dirty="0"/>
              <a:t> </a:t>
            </a:r>
            <a:r>
              <a:rPr dirty="0" err="1"/>
              <a:t>Pilihan</a:t>
            </a:r>
            <a:r>
              <a:rPr dirty="0"/>
              <a:t> Raya</a:t>
            </a:r>
          </a:p>
          <a:p>
            <a:r>
              <a:rPr dirty="0"/>
              <a:t>Platform </a:t>
            </a:r>
            <a:r>
              <a:rPr dirty="0" err="1"/>
              <a:t>InsightPulse</a:t>
            </a:r>
            <a:r>
              <a:rPr dirty="0"/>
              <a:t> - Tools Monitoring</a:t>
            </a:r>
          </a:p>
          <a:p>
            <a:r>
              <a:rPr dirty="0"/>
              <a:t>Strategi </a:t>
            </a:r>
            <a:r>
              <a:rPr dirty="0" err="1"/>
              <a:t>Taktikal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Data</a:t>
            </a:r>
          </a:p>
          <a:p>
            <a:r>
              <a:rPr dirty="0"/>
              <a:t>Case Study &amp; </a:t>
            </a:r>
            <a:r>
              <a:rPr dirty="0" err="1"/>
              <a:t>Contoh</a:t>
            </a:r>
            <a:r>
              <a:rPr dirty="0"/>
              <a:t> </a:t>
            </a:r>
            <a:r>
              <a:rPr dirty="0" err="1"/>
              <a:t>Aplikasi</a:t>
            </a:r>
            <a:endParaRPr dirty="0"/>
          </a:p>
          <a:p>
            <a:r>
              <a:rPr dirty="0"/>
              <a:t>Kesimpulan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Big Data dalam Politik: Era Baru Kempen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34467"/>
          </a:xfrm>
        </p:spPr>
        <p:txBody>
          <a:bodyPr>
            <a:noAutofit/>
          </a:bodyPr>
          <a:lstStyle/>
          <a:p>
            <a:r>
              <a:rPr sz="2600" dirty="0"/>
              <a:t>✅ Volume Data Besar-</a:t>
            </a:r>
            <a:r>
              <a:rPr sz="2600" dirty="0" err="1"/>
              <a:t>besaran</a:t>
            </a:r>
            <a:endParaRPr sz="2600" dirty="0"/>
          </a:p>
          <a:p>
            <a:pPr lvl="1"/>
            <a:r>
              <a:rPr sz="2600" dirty="0" err="1"/>
              <a:t>Jutaan</a:t>
            </a:r>
            <a:r>
              <a:rPr sz="2600" dirty="0"/>
              <a:t> posting media </a:t>
            </a:r>
            <a:r>
              <a:rPr sz="2600" dirty="0" err="1"/>
              <a:t>sosial</a:t>
            </a:r>
            <a:r>
              <a:rPr sz="2600" dirty="0"/>
              <a:t> </a:t>
            </a:r>
            <a:r>
              <a:rPr sz="2600" dirty="0" err="1"/>
              <a:t>setiap</a:t>
            </a:r>
            <a:r>
              <a:rPr sz="2600" dirty="0"/>
              <a:t> </a:t>
            </a:r>
            <a:r>
              <a:rPr sz="2600" dirty="0" err="1"/>
              <a:t>hari</a:t>
            </a:r>
            <a:endParaRPr sz="2600" dirty="0"/>
          </a:p>
          <a:p>
            <a:pPr lvl="1"/>
            <a:r>
              <a:rPr sz="2600" dirty="0"/>
              <a:t>10 platform: Facebook, Instagram, X, TikTok, YouTube, LinkedIn, News, </a:t>
            </a:r>
            <a:r>
              <a:rPr sz="2600" dirty="0" err="1"/>
              <a:t>Lowyat</a:t>
            </a:r>
            <a:r>
              <a:rPr sz="2600" dirty="0"/>
              <a:t>, Shopee, Lazada</a:t>
            </a:r>
            <a:r>
              <a:rPr lang="en-US" sz="2600" dirty="0"/>
              <a:t> – Threads </a:t>
            </a:r>
            <a:r>
              <a:rPr lang="en-US" sz="1800" b="1" i="1" dirty="0">
                <a:solidFill>
                  <a:srgbClr val="00B050"/>
                </a:solidFill>
              </a:rPr>
              <a:t>New</a:t>
            </a:r>
            <a:endParaRPr sz="2600" dirty="0"/>
          </a:p>
          <a:p>
            <a:r>
              <a:rPr sz="2600" dirty="0"/>
              <a:t>✅ </a:t>
            </a:r>
            <a:r>
              <a:rPr sz="2600" dirty="0" err="1"/>
              <a:t>Kelajuan</a:t>
            </a:r>
            <a:r>
              <a:rPr sz="2600" dirty="0"/>
              <a:t> &amp; Masa </a:t>
            </a:r>
            <a:r>
              <a:rPr sz="2600" dirty="0" err="1"/>
              <a:t>Nyata</a:t>
            </a:r>
            <a:r>
              <a:rPr sz="2600" dirty="0"/>
              <a:t> (Real-time)</a:t>
            </a:r>
          </a:p>
          <a:p>
            <a:pPr lvl="1"/>
            <a:r>
              <a:rPr sz="2600" dirty="0"/>
              <a:t>Sentiment </a:t>
            </a:r>
            <a:r>
              <a:rPr sz="2600" dirty="0" err="1"/>
              <a:t>berubah</a:t>
            </a:r>
            <a:r>
              <a:rPr sz="2600" dirty="0"/>
              <a:t> </a:t>
            </a:r>
            <a:r>
              <a:rPr sz="2600" dirty="0" err="1"/>
              <a:t>dalam</a:t>
            </a:r>
            <a:r>
              <a:rPr sz="2600" dirty="0"/>
              <a:t> masa </a:t>
            </a:r>
            <a:r>
              <a:rPr sz="2600" dirty="0" err="1"/>
              <a:t>nyata</a:t>
            </a:r>
            <a:endParaRPr sz="2600" dirty="0"/>
          </a:p>
          <a:p>
            <a:pPr lvl="1"/>
            <a:r>
              <a:rPr sz="2600" dirty="0"/>
              <a:t>Crisis detection </a:t>
            </a:r>
            <a:r>
              <a:rPr sz="2600" dirty="0" err="1"/>
              <a:t>dalam</a:t>
            </a:r>
            <a:r>
              <a:rPr sz="2600" dirty="0"/>
              <a:t> </a:t>
            </a:r>
            <a:r>
              <a:rPr sz="2600" dirty="0" err="1"/>
              <a:t>minit</a:t>
            </a:r>
            <a:endParaRPr sz="2600" dirty="0"/>
          </a:p>
          <a:p>
            <a:r>
              <a:rPr sz="2600" dirty="0"/>
              <a:t>✅ </a:t>
            </a:r>
            <a:r>
              <a:rPr sz="2600" dirty="0" err="1"/>
              <a:t>Kepelbagaian</a:t>
            </a:r>
            <a:r>
              <a:rPr sz="2600" dirty="0"/>
              <a:t> Data</a:t>
            </a:r>
          </a:p>
          <a:p>
            <a:pPr lvl="1"/>
            <a:r>
              <a:rPr sz="2600" dirty="0"/>
              <a:t>Text, images, videos, engagement metrics</a:t>
            </a:r>
          </a:p>
          <a:p>
            <a:pPr lvl="1"/>
            <a:r>
              <a:rPr sz="2600" dirty="0"/>
              <a:t>Multilingual: Malay, English, Chinese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Kepentingan Analytics dalam Pilihan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</a:t>
            </a:r>
            <a:r>
              <a:rPr sz="2200" dirty="0" err="1"/>
              <a:t>Fahami</a:t>
            </a:r>
            <a:r>
              <a:rPr sz="2200" dirty="0"/>
              <a:t> Sentiment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Positive, Neutral, Negative - masa </a:t>
            </a:r>
            <a:r>
              <a:rPr sz="2200" dirty="0" err="1"/>
              <a:t>nyata</a:t>
            </a:r>
            <a:endParaRPr sz="2200" dirty="0"/>
          </a:p>
          <a:p>
            <a:pPr lvl="1"/>
            <a:r>
              <a:rPr sz="2200" dirty="0"/>
              <a:t>Emosi: Joy, Anger, Fear, Sadness, Love, Surprise</a:t>
            </a:r>
          </a:p>
          <a:p>
            <a:r>
              <a:rPr sz="2200" dirty="0"/>
              <a:t>📊 Monitor Isu Trending</a:t>
            </a:r>
          </a:p>
          <a:p>
            <a:pPr lvl="1"/>
            <a:r>
              <a:rPr sz="2200" dirty="0" err="1"/>
              <a:t>Topik</a:t>
            </a:r>
            <a:r>
              <a:rPr sz="2200" dirty="0"/>
              <a:t> </a:t>
            </a:r>
            <a:r>
              <a:rPr sz="2200" dirty="0" err="1"/>
              <a:t>panas</a:t>
            </a:r>
            <a:r>
              <a:rPr sz="2200" dirty="0"/>
              <a:t> </a:t>
            </a:r>
            <a:r>
              <a:rPr sz="2200" dirty="0" err="1"/>
              <a:t>dalam</a:t>
            </a:r>
            <a:r>
              <a:rPr sz="2200" dirty="0"/>
              <a:t> </a:t>
            </a:r>
            <a:r>
              <a:rPr sz="2200" dirty="0" err="1"/>
              <a:t>kalangan</a:t>
            </a:r>
            <a:r>
              <a:rPr sz="2200" dirty="0"/>
              <a:t> </a:t>
            </a:r>
            <a:r>
              <a:rPr sz="2200" dirty="0" err="1"/>
              <a:t>pengundi</a:t>
            </a:r>
            <a:endParaRPr sz="2200" dirty="0"/>
          </a:p>
          <a:p>
            <a:pPr lvl="1"/>
            <a:r>
              <a:rPr sz="2200" dirty="0"/>
              <a:t>Viral detection &amp; response strategy</a:t>
            </a:r>
          </a:p>
          <a:p>
            <a:r>
              <a:rPr sz="2200" dirty="0"/>
              <a:t>⚠️ Crisis Detection</a:t>
            </a:r>
          </a:p>
          <a:p>
            <a:pPr lvl="1"/>
            <a:r>
              <a:rPr sz="2200" dirty="0"/>
              <a:t>Detect negative sentiment spikes</a:t>
            </a:r>
          </a:p>
          <a:p>
            <a:pPr lvl="1"/>
            <a:r>
              <a:rPr sz="2200" dirty="0"/>
              <a:t>Response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📍 Geographic &amp; Demographic Insights</a:t>
            </a:r>
          </a:p>
          <a:p>
            <a:pPr lvl="1"/>
            <a:r>
              <a:rPr sz="2200" dirty="0"/>
              <a:t>Sentiment by location &amp; demographics</a:t>
            </a:r>
          </a:p>
          <a:p>
            <a:pPr lvl="1"/>
            <a:r>
              <a:rPr sz="2200" dirty="0"/>
              <a:t>Targeted campaign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E2ED6F9-63C3-4A8D-9BB4-1EA62533B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72081E-AD41-4FBB-B02B-698A68DBC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421890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E11EE7-0DEA-CBDE-6869-2CC4B044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4495466"/>
            <a:ext cx="2708910" cy="1536192"/>
          </a:xfrm>
        </p:spPr>
        <p:txBody>
          <a:bodyPr>
            <a:normAutofit/>
          </a:bodyPr>
          <a:lstStyle/>
          <a:p>
            <a:r>
              <a:rPr lang="en-US" sz="2800" dirty="0"/>
              <a:t>.CSV Data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D11398-CBE0-02F6-3879-2CBBB6DC02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6" r="9588" b="2"/>
          <a:stretch>
            <a:fillRect/>
          </a:stretch>
        </p:blipFill>
        <p:spPr>
          <a:xfrm>
            <a:off x="20" y="10"/>
            <a:ext cx="9143980" cy="39944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16248AD-805F-41BF-9B57-FC53E5B3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491151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82758F-B2B3-4F0A-BB90-4BFFEDD16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525670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323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InsightPulse</a:t>
            </a:r>
            <a:r>
              <a:rPr dirty="0"/>
              <a:t> - Platform Analytics </a:t>
            </a:r>
            <a:r>
              <a:rPr dirty="0" err="1"/>
              <a:t>Pilihan</a:t>
            </a:r>
            <a:r>
              <a:rPr dirty="0"/>
              <a:t> Raya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🚀 Features Utama</a:t>
            </a:r>
          </a:p>
          <a:p>
            <a:pPr lvl="1"/>
            <a:r>
              <a:rPr sz="1800" dirty="0"/>
              <a:t>1</a:t>
            </a:r>
            <a:r>
              <a:rPr lang="en-US" sz="1800" dirty="0"/>
              <a:t>1</a:t>
            </a:r>
            <a:r>
              <a:rPr sz="1800" dirty="0"/>
              <a:t> Platform Monitoring (Social Media + E-commerce)</a:t>
            </a:r>
          </a:p>
          <a:p>
            <a:pPr lvl="1"/>
            <a:r>
              <a:rPr sz="1800" dirty="0"/>
              <a:t>Multilingual AI: Malay, English, Chinese</a:t>
            </a:r>
          </a:p>
          <a:p>
            <a:pPr lvl="1"/>
            <a:r>
              <a:rPr sz="1800" dirty="0"/>
              <a:t>Real-time Sentiment &amp; Emotion Analysis</a:t>
            </a:r>
          </a:p>
          <a:p>
            <a:pPr lvl="1"/>
            <a:r>
              <a:rPr sz="1800" dirty="0"/>
              <a:t>Crisis Detection &amp; Alerts</a:t>
            </a:r>
          </a:p>
          <a:p>
            <a:pPr lvl="1"/>
            <a:r>
              <a:rPr sz="1800" dirty="0"/>
              <a:t>Trend Analysis &amp; Forecasting</a:t>
            </a:r>
          </a:p>
          <a:p>
            <a:r>
              <a:rPr sz="2000" dirty="0"/>
              <a:t>📈 Metrics </a:t>
            </a:r>
            <a:r>
              <a:rPr sz="2000" dirty="0" err="1"/>
              <a:t>Penting</a:t>
            </a:r>
            <a:endParaRPr sz="2000" dirty="0"/>
          </a:p>
          <a:p>
            <a:pPr lvl="1"/>
            <a:r>
              <a:rPr sz="1800" dirty="0"/>
              <a:t>Engagement Score (likes + shares + comments + views)</a:t>
            </a:r>
          </a:p>
          <a:p>
            <a:pPr lvl="1"/>
            <a:r>
              <a:rPr sz="1800" dirty="0"/>
              <a:t>Sentiment Score (-1 to +1)</a:t>
            </a:r>
          </a:p>
          <a:p>
            <a:pPr lvl="1"/>
            <a:r>
              <a:rPr sz="1800" dirty="0"/>
              <a:t>Viral Coefficient &amp; Reach</a:t>
            </a:r>
          </a:p>
          <a:p>
            <a:r>
              <a:rPr sz="2000" dirty="0"/>
              <a:t>💾 Data Storage</a:t>
            </a:r>
          </a:p>
          <a:p>
            <a:pPr lvl="1"/>
            <a:r>
              <a:rPr sz="1800" dirty="0"/>
              <a:t>Raw Data: 30-day retention</a:t>
            </a:r>
          </a:p>
          <a:p>
            <a:pPr lvl="1"/>
            <a:r>
              <a:rPr sz="1800" dirty="0"/>
              <a:t>Analyzed Data: 7-day retention</a:t>
            </a:r>
          </a:p>
          <a:p>
            <a:pPr lvl="1"/>
            <a:r>
              <a:rPr sz="1800" dirty="0"/>
              <a:t>Combined Cross-platform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Strategi </a:t>
            </a:r>
            <a:r>
              <a:rPr dirty="0" err="1"/>
              <a:t>Taktikal</a:t>
            </a:r>
            <a:r>
              <a:rPr dirty="0"/>
              <a:t> </a:t>
            </a:r>
            <a:r>
              <a:rPr dirty="0" err="1"/>
              <a:t>Menggunakan</a:t>
            </a:r>
            <a:r>
              <a:rPr dirty="0"/>
              <a:t>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🎯 Strategi 1: Monitoring Lawan</a:t>
            </a:r>
          </a:p>
          <a:p>
            <a:pPr lvl="1"/>
            <a:r>
              <a:rPr sz="2200" dirty="0"/>
              <a:t>Track sentiment </a:t>
            </a:r>
            <a:r>
              <a:rPr sz="2200" dirty="0" err="1"/>
              <a:t>terhadap</a:t>
            </a:r>
            <a:r>
              <a:rPr sz="2200" dirty="0"/>
              <a:t> </a:t>
            </a:r>
            <a:r>
              <a:rPr sz="2200" dirty="0" err="1"/>
              <a:t>lawan</a:t>
            </a:r>
            <a:endParaRPr sz="2200" dirty="0"/>
          </a:p>
          <a:p>
            <a:pPr lvl="1"/>
            <a:r>
              <a:rPr sz="2200" dirty="0"/>
              <a:t>Identify weaknesses &amp; attack points</a:t>
            </a:r>
          </a:p>
          <a:p>
            <a:r>
              <a:rPr sz="2200" dirty="0"/>
              <a:t>🎯 Strategi 2: Micro-targeting</a:t>
            </a:r>
          </a:p>
          <a:p>
            <a:pPr lvl="1"/>
            <a:r>
              <a:rPr sz="2200" dirty="0"/>
              <a:t>Segment </a:t>
            </a:r>
            <a:r>
              <a:rPr sz="2200" dirty="0" err="1"/>
              <a:t>pengundi</a:t>
            </a:r>
            <a:r>
              <a:rPr sz="2200" dirty="0"/>
              <a:t> by demographics</a:t>
            </a:r>
          </a:p>
          <a:p>
            <a:pPr lvl="1"/>
            <a:r>
              <a:rPr sz="2200" dirty="0"/>
              <a:t>Personalized messaging per segment</a:t>
            </a:r>
          </a:p>
          <a:p>
            <a:r>
              <a:rPr sz="2200" dirty="0"/>
              <a:t>🎯 Strategi 3: Rapid Response</a:t>
            </a:r>
          </a:p>
          <a:p>
            <a:pPr lvl="1"/>
            <a:r>
              <a:rPr sz="2200" dirty="0"/>
              <a:t>Monitor negative sentiment spikes</a:t>
            </a:r>
          </a:p>
          <a:p>
            <a:pPr lvl="1"/>
            <a:r>
              <a:rPr sz="2200" dirty="0"/>
              <a:t>Response strategy </a:t>
            </a:r>
            <a:r>
              <a:rPr sz="2200" dirty="0" err="1"/>
              <a:t>dalam</a:t>
            </a:r>
            <a:r>
              <a:rPr sz="2200" dirty="0"/>
              <a:t> 15-30 </a:t>
            </a:r>
            <a:r>
              <a:rPr sz="2200" dirty="0" err="1"/>
              <a:t>minit</a:t>
            </a:r>
            <a:endParaRPr sz="2200" dirty="0"/>
          </a:p>
          <a:p>
            <a:r>
              <a:rPr sz="2200" dirty="0"/>
              <a:t>🎯 Strategi 4: Content Optimization</a:t>
            </a:r>
          </a:p>
          <a:p>
            <a:pPr lvl="1"/>
            <a:r>
              <a:rPr sz="2200" dirty="0"/>
              <a:t>Test A/B messaging</a:t>
            </a:r>
          </a:p>
          <a:p>
            <a:pPr lvl="1"/>
            <a:r>
              <a:rPr sz="2200" dirty="0"/>
              <a:t>Optimize posting time &amp; 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Sample Keywords - InsightPulse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🔍 Election General Keywords</a:t>
            </a:r>
          </a:p>
          <a:p>
            <a:pPr lvl="1"/>
            <a:r>
              <a:rPr sz="2000" dirty="0"/>
              <a:t>PRU16, PRN Selangor, </a:t>
            </a:r>
            <a:r>
              <a:rPr sz="2000" dirty="0" err="1"/>
              <a:t>Pilihan</a:t>
            </a:r>
            <a:r>
              <a:rPr sz="2000" dirty="0"/>
              <a:t> Raya Negeri</a:t>
            </a:r>
          </a:p>
          <a:p>
            <a:pPr lvl="1"/>
            <a:r>
              <a:rPr sz="2000" dirty="0" err="1"/>
              <a:t>Pengundi</a:t>
            </a:r>
            <a:r>
              <a:rPr sz="2000" dirty="0"/>
              <a:t>, </a:t>
            </a:r>
            <a:r>
              <a:rPr sz="2000" dirty="0" err="1"/>
              <a:t>Mengundi</a:t>
            </a:r>
            <a:r>
              <a:rPr sz="2000" dirty="0"/>
              <a:t>, Daftar Undi</a:t>
            </a:r>
          </a:p>
          <a:p>
            <a:r>
              <a:rPr sz="2000" dirty="0"/>
              <a:t>🔍 Party &amp; Candidate Keywords</a:t>
            </a:r>
          </a:p>
          <a:p>
            <a:pPr lvl="1"/>
            <a:r>
              <a:rPr sz="2000" dirty="0"/>
              <a:t>Pakatan Harapan, </a:t>
            </a:r>
            <a:r>
              <a:rPr sz="2000" dirty="0" err="1"/>
              <a:t>Perikatan</a:t>
            </a:r>
            <a:r>
              <a:rPr sz="2000" dirty="0"/>
              <a:t> Nasional, Barisan Nasional</a:t>
            </a:r>
          </a:p>
          <a:p>
            <a:pPr lvl="1"/>
            <a:r>
              <a:rPr sz="2000" dirty="0"/>
              <a:t>[Nama Calon], [Nama </a:t>
            </a:r>
            <a:r>
              <a:rPr sz="2000" dirty="0" err="1"/>
              <a:t>Ketua</a:t>
            </a:r>
            <a:r>
              <a:rPr sz="2000" dirty="0"/>
              <a:t> Parti]</a:t>
            </a:r>
          </a:p>
          <a:p>
            <a:r>
              <a:rPr sz="2000" dirty="0"/>
              <a:t>🔍 Issue-Based Keywords</a:t>
            </a:r>
          </a:p>
          <a:p>
            <a:pPr lvl="1"/>
            <a:r>
              <a:rPr sz="2000" dirty="0"/>
              <a:t>Kos Sara Hidup, </a:t>
            </a:r>
            <a:r>
              <a:rPr sz="2000" dirty="0" err="1"/>
              <a:t>Inflasi</a:t>
            </a:r>
            <a:r>
              <a:rPr sz="2000" dirty="0"/>
              <a:t>, </a:t>
            </a:r>
            <a:r>
              <a:rPr sz="2000" dirty="0" err="1"/>
              <a:t>Gaji</a:t>
            </a:r>
            <a:r>
              <a:rPr sz="2000" dirty="0"/>
              <a:t> Minimum</a:t>
            </a:r>
          </a:p>
          <a:p>
            <a:pPr lvl="1"/>
            <a:r>
              <a:rPr sz="2000" dirty="0"/>
              <a:t>Corruption, </a:t>
            </a:r>
            <a:r>
              <a:rPr sz="2000" dirty="0" err="1"/>
              <a:t>Rasuah</a:t>
            </a:r>
            <a:r>
              <a:rPr sz="2000" dirty="0"/>
              <a:t>, </a:t>
            </a:r>
            <a:r>
              <a:rPr sz="2000" dirty="0" err="1"/>
              <a:t>Integriti</a:t>
            </a:r>
            <a:endParaRPr sz="2000" dirty="0"/>
          </a:p>
          <a:p>
            <a:pPr lvl="1"/>
            <a:r>
              <a:rPr sz="2000" dirty="0"/>
              <a:t>Pendidikan, Kesihatan, </a:t>
            </a:r>
            <a:r>
              <a:rPr sz="2000" dirty="0" err="1"/>
              <a:t>Perumahan</a:t>
            </a:r>
            <a:endParaRPr sz="2000" dirty="0"/>
          </a:p>
          <a:p>
            <a:r>
              <a:rPr sz="2000" dirty="0"/>
              <a:t>🔍 Sentiment Keywords</a:t>
            </a:r>
          </a:p>
          <a:p>
            <a:pPr lvl="1"/>
            <a:r>
              <a:rPr sz="2000" dirty="0" err="1"/>
              <a:t>Kecewa</a:t>
            </a:r>
            <a:r>
              <a:rPr sz="2000" dirty="0"/>
              <a:t>, Harapan, Marah, Gembira</a:t>
            </a:r>
          </a:p>
          <a:p>
            <a:pPr lvl="1"/>
            <a:r>
              <a:rPr sz="2000" dirty="0" err="1"/>
              <a:t>Sokong</a:t>
            </a:r>
            <a:r>
              <a:rPr sz="2000" dirty="0"/>
              <a:t>, Tolak, </a:t>
            </a:r>
            <a:r>
              <a:rPr sz="2000" dirty="0" err="1"/>
              <a:t>Tukar</a:t>
            </a:r>
            <a:r>
              <a:rPr sz="2000" dirty="0"/>
              <a:t>, Ubah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InsightPulse: Data Flow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1️⃣ Data Collection</a:t>
            </a:r>
          </a:p>
          <a:p>
            <a:pPr lvl="1"/>
            <a:r>
              <a:rPr sz="1800" dirty="0"/>
              <a:t>Crawl 10 platforms simultaneously</a:t>
            </a:r>
          </a:p>
          <a:p>
            <a:pPr lvl="1"/>
            <a:r>
              <a:rPr sz="1800" dirty="0"/>
              <a:t>Store raw data: data/</a:t>
            </a:r>
            <a:r>
              <a:rPr sz="1800" dirty="0" err="1"/>
              <a:t>smart_crawlers</a:t>
            </a:r>
            <a:r>
              <a:rPr sz="1800" dirty="0"/>
              <a:t>/PLATFORM/</a:t>
            </a:r>
          </a:p>
          <a:p>
            <a:r>
              <a:rPr sz="2000" dirty="0"/>
              <a:t>2️⃣ AI Analysis</a:t>
            </a:r>
          </a:p>
          <a:p>
            <a:pPr lvl="1"/>
            <a:r>
              <a:rPr sz="1800" dirty="0"/>
              <a:t>Sentiment Analysis (Multilingual)</a:t>
            </a:r>
          </a:p>
          <a:p>
            <a:pPr lvl="1"/>
            <a:r>
              <a:rPr sz="1800" dirty="0"/>
              <a:t>Emotion Detection (8 emotions)</a:t>
            </a:r>
          </a:p>
          <a:p>
            <a:pPr lvl="1"/>
            <a:r>
              <a:rPr sz="1800" dirty="0"/>
              <a:t>Engagement Scoring</a:t>
            </a:r>
          </a:p>
          <a:p>
            <a:r>
              <a:rPr sz="2000" dirty="0"/>
              <a:t>3️⃣ Data Storage</a:t>
            </a:r>
          </a:p>
          <a:p>
            <a:pPr lvl="1"/>
            <a:r>
              <a:rPr sz="1800" dirty="0"/>
              <a:t>Analyzed data: data/analyzed/</a:t>
            </a:r>
          </a:p>
          <a:p>
            <a:pPr lvl="1"/>
            <a:r>
              <a:rPr sz="1800" dirty="0"/>
              <a:t>Combined cross-platform: data/combined/</a:t>
            </a:r>
          </a:p>
          <a:p>
            <a:r>
              <a:rPr sz="2000" dirty="0"/>
              <a:t>4️⃣ Visualization &amp; Insights</a:t>
            </a:r>
          </a:p>
          <a:p>
            <a:pPr lvl="1"/>
            <a:r>
              <a:rPr sz="1800" dirty="0"/>
              <a:t>Real-time dashboard</a:t>
            </a:r>
          </a:p>
          <a:p>
            <a:pPr lvl="1"/>
            <a:r>
              <a:rPr sz="1800" dirty="0"/>
              <a:t>Trend graphs &amp; sentiment timeline</a:t>
            </a:r>
          </a:p>
          <a:p>
            <a:pPr lvl="1"/>
            <a:r>
              <a:rPr sz="1800" dirty="0"/>
              <a:t>Export to Excel/CSV for reporting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Case Study: </a:t>
            </a:r>
            <a:r>
              <a:rPr lang="en-US" dirty="0"/>
              <a:t>PAS ..BERSATU …PN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📊 Data Collection</a:t>
            </a:r>
          </a:p>
          <a:p>
            <a:pPr lvl="1"/>
            <a:r>
              <a:rPr sz="2200" dirty="0"/>
              <a:t>Keywords: </a:t>
            </a:r>
            <a:endParaRPr lang="en-US" sz="2200" dirty="0"/>
          </a:p>
          <a:p>
            <a:pPr marL="515938" lvl="1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PAS OR Bersatu OR "</a:t>
            </a:r>
            <a:r>
              <a:rPr lang="en-US" sz="1500" i="1" dirty="0" err="1">
                <a:solidFill>
                  <a:srgbClr val="00B050"/>
                </a:solidFill>
              </a:rPr>
              <a:t>Perikatan</a:t>
            </a:r>
            <a:r>
              <a:rPr lang="en-US" sz="1500" i="1" dirty="0">
                <a:solidFill>
                  <a:srgbClr val="00B050"/>
                </a:solidFill>
              </a:rPr>
              <a:t> Nasional" OR PN OR </a:t>
            </a:r>
            <a:r>
              <a:rPr lang="en-US" sz="1500" i="1" dirty="0" err="1">
                <a:solidFill>
                  <a:srgbClr val="00B050"/>
                </a:solidFill>
              </a:rPr>
              <a:t>hajihadi</a:t>
            </a:r>
            <a:r>
              <a:rPr lang="en-US" sz="1500" i="1" dirty="0">
                <a:solidFill>
                  <a:srgbClr val="00B050"/>
                </a:solidFill>
              </a:rPr>
              <a:t> OR "haji </a:t>
            </a:r>
            <a:r>
              <a:rPr lang="en-US" sz="1500" i="1" dirty="0" err="1">
                <a:solidFill>
                  <a:srgbClr val="00B050"/>
                </a:solidFill>
              </a:rPr>
              <a:t>hadi</a:t>
            </a:r>
            <a:r>
              <a:rPr lang="en-US" sz="1500" i="1" dirty="0">
                <a:solidFill>
                  <a:srgbClr val="00B050"/>
                </a:solidFill>
              </a:rPr>
              <a:t>" </a:t>
            </a:r>
          </a:p>
          <a:p>
            <a:pPr marL="515938" lvl="1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"PAS </a:t>
            </a:r>
            <a:r>
              <a:rPr lang="en-US" sz="1500" i="1" dirty="0" err="1">
                <a:solidFill>
                  <a:srgbClr val="00B050"/>
                </a:solidFill>
              </a:rPr>
              <a:t>bergerak</a:t>
            </a:r>
            <a:r>
              <a:rPr lang="en-US" sz="1500" i="1" dirty="0">
                <a:solidFill>
                  <a:srgbClr val="00B050"/>
                </a:solidFill>
              </a:rPr>
              <a:t> solo" OR "PAS solo" OR "PAS </a:t>
            </a:r>
            <a:r>
              <a:rPr lang="en-US" sz="1500" i="1" dirty="0" err="1">
                <a:solidFill>
                  <a:srgbClr val="00B050"/>
                </a:solidFill>
              </a:rPr>
              <a:t>gerak</a:t>
            </a:r>
            <a:r>
              <a:rPr lang="en-US" sz="1500" i="1" dirty="0">
                <a:solidFill>
                  <a:srgbClr val="00B050"/>
                </a:solidFill>
              </a:rPr>
              <a:t> solo" </a:t>
            </a:r>
          </a:p>
          <a:p>
            <a:pPr marL="515938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("PAS Bersatu" OR "PAS-Bersatu" OR "PAS dan Bersatu" OR "</a:t>
            </a:r>
            <a:r>
              <a:rPr lang="en-US" sz="1500" i="1" dirty="0" err="1">
                <a:solidFill>
                  <a:srgbClr val="00B050"/>
                </a:solidFill>
              </a:rPr>
              <a:t>hubungan</a:t>
            </a:r>
            <a:r>
              <a:rPr lang="en-US" sz="1500" i="1" dirty="0">
                <a:solidFill>
                  <a:srgbClr val="00B050"/>
                </a:solidFill>
              </a:rPr>
              <a:t> PAS Bersatu" OR "</a:t>
            </a:r>
            <a:r>
              <a:rPr lang="en-US" sz="1500" i="1" dirty="0" err="1">
                <a:solidFill>
                  <a:srgbClr val="00B050"/>
                </a:solidFill>
              </a:rPr>
              <a:t>kerjasama</a:t>
            </a:r>
            <a:r>
              <a:rPr lang="en-US" sz="1500" i="1" dirty="0">
                <a:solidFill>
                  <a:srgbClr val="00B050"/>
                </a:solidFill>
              </a:rPr>
              <a:t> PAS Bersatu") AND ("</a:t>
            </a:r>
            <a:r>
              <a:rPr lang="en-US" sz="1500" i="1" dirty="0" err="1">
                <a:solidFill>
                  <a:srgbClr val="00B050"/>
                </a:solidFill>
              </a:rPr>
              <a:t>perpecahan</a:t>
            </a:r>
            <a:r>
              <a:rPr lang="en-US" sz="1500" i="1" dirty="0">
                <a:solidFill>
                  <a:srgbClr val="00B050"/>
                </a:solidFill>
              </a:rPr>
              <a:t>" OR "</a:t>
            </a:r>
            <a:r>
              <a:rPr lang="en-US" sz="1500" i="1" dirty="0" err="1">
                <a:solidFill>
                  <a:srgbClr val="00B050"/>
                </a:solidFill>
              </a:rPr>
              <a:t>berpecah</a:t>
            </a:r>
            <a:r>
              <a:rPr lang="en-US" sz="1500" i="1" dirty="0">
                <a:solidFill>
                  <a:srgbClr val="00B050"/>
                </a:solidFill>
              </a:rPr>
              <a:t>" OR "</a:t>
            </a:r>
            <a:r>
              <a:rPr lang="en-US" sz="1500" i="1" dirty="0" err="1">
                <a:solidFill>
                  <a:srgbClr val="00B050"/>
                </a:solidFill>
              </a:rPr>
              <a:t>retak</a:t>
            </a:r>
            <a:r>
              <a:rPr lang="en-US" sz="1500" i="1" dirty="0">
                <a:solidFill>
                  <a:srgbClr val="00B050"/>
                </a:solidFill>
              </a:rPr>
              <a:t>" OR "</a:t>
            </a:r>
            <a:r>
              <a:rPr lang="en-US" sz="1500" i="1" dirty="0" err="1">
                <a:solidFill>
                  <a:srgbClr val="00B050"/>
                </a:solidFill>
              </a:rPr>
              <a:t>retak</a:t>
            </a:r>
            <a:r>
              <a:rPr lang="en-US" sz="1500" i="1" dirty="0">
                <a:solidFill>
                  <a:srgbClr val="00B050"/>
                </a:solidFill>
              </a:rPr>
              <a:t> </a:t>
            </a:r>
            <a:r>
              <a:rPr lang="en-US" sz="1500" i="1" dirty="0" err="1">
                <a:solidFill>
                  <a:srgbClr val="00B050"/>
                </a:solidFill>
              </a:rPr>
              <a:t>menanti</a:t>
            </a:r>
            <a:r>
              <a:rPr lang="en-US" sz="1500" i="1" dirty="0">
                <a:solidFill>
                  <a:srgbClr val="00B050"/>
                </a:solidFill>
              </a:rPr>
              <a:t> </a:t>
            </a:r>
            <a:r>
              <a:rPr lang="en-US" sz="1500" i="1" dirty="0" err="1">
                <a:solidFill>
                  <a:srgbClr val="00B050"/>
                </a:solidFill>
              </a:rPr>
              <a:t>belah</a:t>
            </a:r>
            <a:r>
              <a:rPr lang="en-US" sz="1500" i="1" dirty="0">
                <a:solidFill>
                  <a:srgbClr val="00B050"/>
                </a:solidFill>
              </a:rPr>
              <a:t>")</a:t>
            </a:r>
          </a:p>
          <a:p>
            <a:pPr marL="515938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PAS OR Bersatu OR PAS Bersatu OR "</a:t>
            </a:r>
            <a:r>
              <a:rPr lang="en-US" sz="1500" i="1" dirty="0" err="1">
                <a:solidFill>
                  <a:srgbClr val="00B050"/>
                </a:solidFill>
              </a:rPr>
              <a:t>Perikatan</a:t>
            </a:r>
            <a:r>
              <a:rPr lang="en-US" sz="1500" i="1" dirty="0">
                <a:solidFill>
                  <a:srgbClr val="00B050"/>
                </a:solidFill>
              </a:rPr>
              <a:t> Nasional" OR PN OR "</a:t>
            </a:r>
            <a:r>
              <a:rPr lang="en-US" sz="1500" i="1" dirty="0" err="1">
                <a:solidFill>
                  <a:srgbClr val="00B050"/>
                </a:solidFill>
              </a:rPr>
              <a:t>hubungan</a:t>
            </a:r>
            <a:r>
              <a:rPr lang="en-US" sz="1500" i="1" dirty="0">
                <a:solidFill>
                  <a:srgbClr val="00B050"/>
                </a:solidFill>
              </a:rPr>
              <a:t> PAS Bersatu"</a:t>
            </a:r>
          </a:p>
          <a:p>
            <a:pPr marL="515938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(PAS AND Bersatu) AND (</a:t>
            </a:r>
            <a:r>
              <a:rPr lang="en-US" sz="1500" i="1" dirty="0" err="1">
                <a:solidFill>
                  <a:srgbClr val="00B050"/>
                </a:solidFill>
              </a:rPr>
              <a:t>perpecahan</a:t>
            </a:r>
            <a:r>
              <a:rPr lang="en-US" sz="1500" i="1" dirty="0">
                <a:solidFill>
                  <a:srgbClr val="00B050"/>
                </a:solidFill>
              </a:rPr>
              <a:t> OR </a:t>
            </a:r>
            <a:r>
              <a:rPr lang="en-US" sz="1500" i="1" dirty="0" err="1">
                <a:solidFill>
                  <a:srgbClr val="00B050"/>
                </a:solidFill>
              </a:rPr>
              <a:t>retak</a:t>
            </a:r>
            <a:r>
              <a:rPr lang="en-US" sz="1500" i="1" dirty="0">
                <a:solidFill>
                  <a:srgbClr val="00B050"/>
                </a:solidFill>
              </a:rPr>
              <a:t> OR "</a:t>
            </a:r>
            <a:r>
              <a:rPr lang="en-US" sz="1500" i="1" dirty="0" err="1">
                <a:solidFill>
                  <a:srgbClr val="00B050"/>
                </a:solidFill>
              </a:rPr>
              <a:t>retak</a:t>
            </a:r>
            <a:r>
              <a:rPr lang="en-US" sz="1500" i="1" dirty="0">
                <a:solidFill>
                  <a:srgbClr val="00B050"/>
                </a:solidFill>
              </a:rPr>
              <a:t> </a:t>
            </a:r>
            <a:r>
              <a:rPr lang="en-US" sz="1500" i="1" dirty="0" err="1">
                <a:solidFill>
                  <a:srgbClr val="00B050"/>
                </a:solidFill>
              </a:rPr>
              <a:t>menanti</a:t>
            </a:r>
            <a:r>
              <a:rPr lang="en-US" sz="1500" i="1" dirty="0">
                <a:solidFill>
                  <a:srgbClr val="00B050"/>
                </a:solidFill>
              </a:rPr>
              <a:t> </a:t>
            </a:r>
            <a:r>
              <a:rPr lang="en-US" sz="1500" i="1" dirty="0" err="1">
                <a:solidFill>
                  <a:srgbClr val="00B050"/>
                </a:solidFill>
              </a:rPr>
              <a:t>belah</a:t>
            </a:r>
            <a:r>
              <a:rPr lang="en-US" sz="1500" i="1" dirty="0">
                <a:solidFill>
                  <a:srgbClr val="00B050"/>
                </a:solidFill>
              </a:rPr>
              <a:t>" OR </a:t>
            </a:r>
            <a:r>
              <a:rPr lang="en-US" sz="1500" i="1" dirty="0" err="1">
                <a:solidFill>
                  <a:srgbClr val="00B050"/>
                </a:solidFill>
              </a:rPr>
              <a:t>gaduh</a:t>
            </a:r>
            <a:r>
              <a:rPr lang="en-US" sz="1500" i="1" dirty="0">
                <a:solidFill>
                  <a:srgbClr val="00B050"/>
                </a:solidFill>
              </a:rPr>
              <a:t> OR </a:t>
            </a:r>
            <a:r>
              <a:rPr lang="en-US" sz="1500" i="1" dirty="0" err="1">
                <a:solidFill>
                  <a:srgbClr val="00B050"/>
                </a:solidFill>
              </a:rPr>
              <a:t>tegang</a:t>
            </a:r>
            <a:r>
              <a:rPr lang="en-US" sz="1500" i="1" dirty="0">
                <a:solidFill>
                  <a:srgbClr val="00B050"/>
                </a:solidFill>
              </a:rPr>
              <a:t> OR </a:t>
            </a:r>
            <a:r>
              <a:rPr lang="en-US" sz="1500" i="1" dirty="0" err="1">
                <a:solidFill>
                  <a:srgbClr val="00B050"/>
                </a:solidFill>
              </a:rPr>
              <a:t>krisis</a:t>
            </a:r>
            <a:r>
              <a:rPr lang="en-US" sz="1500" i="1" dirty="0">
                <a:solidFill>
                  <a:srgbClr val="00B050"/>
                </a:solidFill>
              </a:rPr>
              <a:t>)</a:t>
            </a:r>
          </a:p>
          <a:p>
            <a:pPr marL="515938" indent="-168275">
              <a:buFont typeface="Arial" panose="020B0604020202020204" pitchFamily="34" charset="0"/>
              <a:buChar char="•"/>
            </a:pPr>
            <a:r>
              <a:rPr lang="en-US" sz="1500" i="1" dirty="0">
                <a:solidFill>
                  <a:srgbClr val="00B050"/>
                </a:solidFill>
              </a:rPr>
              <a:t>("Hadi Awang" OR "Abdul Hadi") AND (Bersatu OR Muhyiddin OR "</a:t>
            </a:r>
            <a:r>
              <a:rPr lang="en-US" sz="1500" i="1" dirty="0" err="1">
                <a:solidFill>
                  <a:srgbClr val="00B050"/>
                </a:solidFill>
              </a:rPr>
              <a:t>kesabaran</a:t>
            </a:r>
            <a:r>
              <a:rPr lang="en-US" sz="1500" i="1" dirty="0">
                <a:solidFill>
                  <a:srgbClr val="00B050"/>
                </a:solidFill>
              </a:rPr>
              <a:t> </a:t>
            </a:r>
            <a:r>
              <a:rPr lang="en-US" sz="1500" i="1" dirty="0" err="1">
                <a:solidFill>
                  <a:srgbClr val="00B050"/>
                </a:solidFill>
              </a:rPr>
              <a:t>ada</a:t>
            </a:r>
            <a:r>
              <a:rPr lang="en-US" sz="1500" i="1" dirty="0">
                <a:solidFill>
                  <a:srgbClr val="00B050"/>
                </a:solidFill>
              </a:rPr>
              <a:t> batas")</a:t>
            </a:r>
            <a:endParaRPr sz="2200" i="1" dirty="0">
              <a:solidFill>
                <a:srgbClr val="00B050"/>
              </a:solidFill>
            </a:endParaRPr>
          </a:p>
          <a:p>
            <a:pPr lvl="1"/>
            <a:r>
              <a:rPr sz="2200" dirty="0"/>
              <a:t>Platforms: Facebook, X, Instagram, </a:t>
            </a:r>
            <a:r>
              <a:rPr lang="en-US" sz="2200" dirty="0"/>
              <a:t>TikTok, </a:t>
            </a:r>
            <a:r>
              <a:rPr lang="en-US" sz="2200" dirty="0" err="1"/>
              <a:t>Youtube</a:t>
            </a:r>
            <a:r>
              <a:rPr lang="en-US" sz="2200" dirty="0"/>
              <a:t>, threads</a:t>
            </a:r>
            <a:endParaRPr sz="2200" dirty="0"/>
          </a:p>
          <a:p>
            <a:pPr lvl="1"/>
            <a:r>
              <a:rPr sz="2200" dirty="0"/>
              <a:t>Dataset: </a:t>
            </a:r>
            <a:r>
              <a:rPr lang="en-US" sz="2200" dirty="0"/>
              <a:t>39K</a:t>
            </a:r>
            <a:r>
              <a:rPr sz="2200" dirty="0"/>
              <a:t>+ posts &amp; comments</a:t>
            </a:r>
            <a:r>
              <a:rPr lang="en-US" sz="2200" dirty="0"/>
              <a:t> – raw data from crawling</a:t>
            </a:r>
            <a:endParaRPr sz="2200" dirty="0"/>
          </a:p>
          <a:p>
            <a:endParaRPr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Cadangan </a:t>
            </a:r>
            <a:r>
              <a:rPr dirty="0" err="1"/>
              <a:t>Belanjawan</a:t>
            </a:r>
            <a:r>
              <a:rPr dirty="0"/>
              <a:t> - Big Data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Autofit/>
          </a:bodyPr>
          <a:lstStyle/>
          <a:p>
            <a:r>
              <a:rPr sz="2400" dirty="0"/>
              <a:t>Platform &amp; Tools (Monthly)</a:t>
            </a:r>
          </a:p>
          <a:p>
            <a:pPr lvl="1"/>
            <a:r>
              <a:rPr sz="2400" dirty="0" err="1"/>
              <a:t>InsightPulse</a:t>
            </a:r>
            <a:r>
              <a:rPr sz="2400" dirty="0"/>
              <a:t> Platform</a:t>
            </a:r>
            <a:r>
              <a:rPr lang="en-US" sz="2400" dirty="0"/>
              <a:t> + ML/DL Analytics + LLM + RAG </a:t>
            </a:r>
            <a:r>
              <a:rPr sz="2400" dirty="0"/>
              <a:t>: </a:t>
            </a:r>
            <a:r>
              <a:rPr lang="en-US" sz="2400" dirty="0"/>
              <a:t>FREE </a:t>
            </a:r>
            <a:endParaRPr sz="2400" dirty="0"/>
          </a:p>
          <a:p>
            <a:pPr lvl="1"/>
            <a:r>
              <a:rPr lang="en-US" sz="2400" dirty="0"/>
              <a:t>API</a:t>
            </a:r>
            <a:r>
              <a:rPr sz="2400" dirty="0"/>
              <a:t> Crawling </a:t>
            </a:r>
            <a:r>
              <a:rPr lang="en-US" sz="2400" dirty="0"/>
              <a:t>Engine</a:t>
            </a:r>
            <a:r>
              <a:rPr sz="2400" dirty="0"/>
              <a:t>: RM 3,000 </a:t>
            </a:r>
            <a:r>
              <a:rPr lang="en-US" sz="2400" dirty="0"/>
              <a:t>–</a:t>
            </a:r>
            <a:r>
              <a:rPr sz="2400" dirty="0"/>
              <a:t> </a:t>
            </a:r>
            <a:r>
              <a:rPr lang="en-US" sz="2400" dirty="0"/>
              <a:t>RM </a:t>
            </a:r>
            <a:r>
              <a:rPr sz="2400" dirty="0"/>
              <a:t>5,000</a:t>
            </a:r>
            <a:r>
              <a:rPr lang="en-US" sz="2400" dirty="0"/>
              <a:t> (data crawling numbers)</a:t>
            </a:r>
            <a:endParaRPr sz="2400" dirty="0"/>
          </a:p>
          <a:p>
            <a:pPr lvl="1"/>
            <a:r>
              <a:rPr lang="en-US" sz="2400" dirty="0"/>
              <a:t>API</a:t>
            </a:r>
            <a:r>
              <a:rPr sz="2400" dirty="0"/>
              <a:t>(News monitoring</a:t>
            </a:r>
            <a:r>
              <a:rPr lang="en-US" sz="2400" dirty="0"/>
              <a:t> + Etc.</a:t>
            </a:r>
            <a:r>
              <a:rPr sz="2400" dirty="0"/>
              <a:t>): RM </a:t>
            </a:r>
            <a:r>
              <a:rPr lang="en-US" sz="2400" dirty="0"/>
              <a:t>1,500</a:t>
            </a:r>
            <a:endParaRPr sz="2400" dirty="0"/>
          </a:p>
          <a:p>
            <a:pPr lvl="1"/>
            <a:r>
              <a:rPr sz="2400" dirty="0"/>
              <a:t>Cloud Storage :</a:t>
            </a:r>
            <a:r>
              <a:rPr lang="en-US" sz="2400" dirty="0"/>
              <a:t> ??</a:t>
            </a:r>
            <a:endParaRPr sz="2400" dirty="0"/>
          </a:p>
          <a:p>
            <a:r>
              <a:rPr sz="2400" dirty="0"/>
              <a:t>Human Resources </a:t>
            </a:r>
            <a:r>
              <a:rPr lang="en-US" sz="2400" dirty="0"/>
              <a:t>Team</a:t>
            </a:r>
            <a:endParaRPr sz="2400" dirty="0"/>
          </a:p>
          <a:p>
            <a:pPr lvl="1"/>
            <a:r>
              <a:rPr sz="2400" dirty="0"/>
              <a:t>Data Analyst (1-2 pax):</a:t>
            </a:r>
            <a:r>
              <a:rPr lang="en-US" sz="2400" dirty="0"/>
              <a:t> JITP</a:t>
            </a:r>
            <a:endParaRPr sz="2400" dirty="0"/>
          </a:p>
          <a:p>
            <a:pPr lvl="1"/>
            <a:r>
              <a:rPr sz="2400" dirty="0"/>
              <a:t>Social Media Strategist (1 pax):</a:t>
            </a:r>
            <a:r>
              <a:rPr lang="en-US" sz="2400" dirty="0"/>
              <a:t> </a:t>
            </a:r>
            <a:r>
              <a:rPr lang="en-US" sz="2400" dirty="0" err="1"/>
              <a:t>Penerangan</a:t>
            </a:r>
            <a:r>
              <a:rPr lang="en-US" sz="2400" dirty="0"/>
              <a:t> </a:t>
            </a:r>
            <a:endParaRPr sz="2400" dirty="0"/>
          </a:p>
          <a:p>
            <a:pPr lvl="1"/>
            <a:r>
              <a:rPr sz="2400" dirty="0"/>
              <a:t>Content Writer/Responder (2 pax):</a:t>
            </a:r>
            <a:r>
              <a:rPr lang="en-US" sz="2400" dirty="0"/>
              <a:t> </a:t>
            </a:r>
            <a:r>
              <a:rPr lang="en-US" sz="2400" dirty="0" err="1"/>
              <a:t>Penerangan</a:t>
            </a:r>
            <a:r>
              <a:rPr lang="en-US" sz="2400" dirty="0"/>
              <a:t> </a:t>
            </a:r>
            <a:endParaRPr sz="2400" dirty="0"/>
          </a:p>
          <a:p>
            <a:pPr marL="0" indent="0">
              <a:buNone/>
            </a:pPr>
            <a:endParaRPr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InsightPulse SaaS - Pricing Tiers (Subscription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b="1" dirty="0"/>
              <a:t>TIER 1: BASIC </a:t>
            </a:r>
            <a:r>
              <a:rPr sz="2000" dirty="0"/>
              <a:t>- RM </a:t>
            </a:r>
            <a:r>
              <a:rPr lang="en-US" sz="2000" dirty="0"/>
              <a:t>8</a:t>
            </a:r>
            <a:r>
              <a:rPr sz="2000" dirty="0"/>
              <a:t>,000/month</a:t>
            </a:r>
          </a:p>
          <a:p>
            <a:pPr lvl="1"/>
            <a:r>
              <a:rPr lang="en-US" sz="2000" dirty="0"/>
              <a:t>5000 – 10,000</a:t>
            </a:r>
            <a:r>
              <a:rPr sz="2000" dirty="0"/>
              <a:t> posts/month, 5 keywords, 5 platforms</a:t>
            </a:r>
          </a:p>
          <a:p>
            <a:pPr lvl="1"/>
            <a:r>
              <a:rPr lang="en-US" sz="2000" dirty="0"/>
              <a:t>weekly</a:t>
            </a:r>
            <a:r>
              <a:rPr sz="2000" dirty="0"/>
              <a:t> reports, 30-day retention</a:t>
            </a:r>
          </a:p>
          <a:p>
            <a:r>
              <a:rPr sz="2000" b="1" dirty="0"/>
              <a:t>TIER 2: PROFESSIONAL </a:t>
            </a:r>
            <a:r>
              <a:rPr sz="2000" dirty="0"/>
              <a:t>- RM </a:t>
            </a:r>
            <a:r>
              <a:rPr lang="en-US" sz="2000" dirty="0"/>
              <a:t>15</a:t>
            </a:r>
            <a:r>
              <a:rPr sz="2000" dirty="0"/>
              <a:t>,000/month</a:t>
            </a:r>
          </a:p>
          <a:p>
            <a:pPr lvl="1"/>
            <a:r>
              <a:rPr sz="2000" dirty="0"/>
              <a:t>50,000 posts/month, 20 keywords, 8 platforms</a:t>
            </a:r>
          </a:p>
          <a:p>
            <a:pPr lvl="1"/>
            <a:r>
              <a:rPr sz="2000" dirty="0"/>
              <a:t>Real-time crisis detection, API access, 90-day retention</a:t>
            </a:r>
          </a:p>
          <a:p>
            <a:r>
              <a:rPr sz="2000" b="1" dirty="0"/>
              <a:t>TIER 3: ENTERPRISE </a:t>
            </a:r>
            <a:r>
              <a:rPr sz="2000" dirty="0"/>
              <a:t>- RM </a:t>
            </a:r>
            <a:r>
              <a:rPr lang="en-US" sz="2000" dirty="0"/>
              <a:t>25</a:t>
            </a:r>
            <a:r>
              <a:rPr sz="2000" dirty="0"/>
              <a:t>,000/month</a:t>
            </a:r>
          </a:p>
          <a:p>
            <a:pPr lvl="1"/>
            <a:r>
              <a:rPr sz="2000" dirty="0"/>
              <a:t>200,000 posts/month, 100 keywords, ALL 10 platforms</a:t>
            </a:r>
          </a:p>
          <a:p>
            <a:pPr lvl="1"/>
            <a:r>
              <a:rPr sz="2000" dirty="0"/>
              <a:t>24/7 monitoring, Predictive analytics, Unlimited API</a:t>
            </a:r>
            <a:endParaRPr lang="en-US" sz="2000" dirty="0"/>
          </a:p>
          <a:p>
            <a:pPr marL="457200" lvl="1" indent="0">
              <a:buNone/>
            </a:pPr>
            <a:endParaRPr sz="2000" dirty="0"/>
          </a:p>
          <a:p>
            <a:r>
              <a:rPr lang="en-US" sz="2000" dirty="0"/>
              <a:t>Hybrid modelling – Unstructured + Structured : </a:t>
            </a:r>
            <a:r>
              <a:rPr lang="en-US" sz="2000" b="1" dirty="0"/>
              <a:t>Tambahan</a:t>
            </a:r>
          </a:p>
          <a:p>
            <a:r>
              <a:rPr lang="en-US" sz="2000" dirty="0"/>
              <a:t>✅ No upfront costs, No hiring, Start in 3 weeks!</a:t>
            </a:r>
          </a:p>
          <a:p>
            <a:pPr marL="0" indent="0">
              <a:buNone/>
            </a:pPr>
            <a:endParaRPr sz="20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200" dirty="0"/>
              <a:t>✅ Big Data = Competitive Advantage</a:t>
            </a:r>
          </a:p>
          <a:p>
            <a:pPr lvl="1"/>
            <a:r>
              <a:rPr sz="2200" dirty="0"/>
              <a:t>Real-time insights </a:t>
            </a:r>
            <a:r>
              <a:rPr sz="2200" dirty="0" err="1"/>
              <a:t>untuk</a:t>
            </a:r>
            <a:r>
              <a:rPr sz="2200" dirty="0"/>
              <a:t> decision making</a:t>
            </a:r>
          </a:p>
          <a:p>
            <a:pPr lvl="1"/>
            <a:r>
              <a:rPr sz="2200" dirty="0"/>
              <a:t>Data-driven campaign strategies</a:t>
            </a:r>
          </a:p>
          <a:p>
            <a:r>
              <a:rPr sz="2200" dirty="0"/>
              <a:t>✅ </a:t>
            </a:r>
            <a:r>
              <a:rPr sz="2200" dirty="0" err="1"/>
              <a:t>InsightPulse</a:t>
            </a:r>
            <a:r>
              <a:rPr sz="2200" dirty="0"/>
              <a:t> = Complete Solution</a:t>
            </a:r>
          </a:p>
          <a:p>
            <a:pPr lvl="1"/>
            <a:r>
              <a:rPr sz="2200" dirty="0"/>
              <a:t>10 platforms monitoring</a:t>
            </a:r>
          </a:p>
          <a:p>
            <a:pPr lvl="1"/>
            <a:r>
              <a:rPr sz="2200" dirty="0"/>
              <a:t>Multilingual AI analysis</a:t>
            </a:r>
          </a:p>
          <a:p>
            <a:pPr lvl="1"/>
            <a:r>
              <a:rPr sz="2200" dirty="0"/>
              <a:t>Crisis detection &amp; rapid response</a:t>
            </a:r>
          </a:p>
          <a:p>
            <a:r>
              <a:rPr sz="2200" dirty="0"/>
              <a:t>✅ Next Steps</a:t>
            </a:r>
          </a:p>
          <a:p>
            <a:pPr lvl="1"/>
            <a:r>
              <a:rPr sz="2200" dirty="0"/>
              <a:t>Define keywords for monitoring</a:t>
            </a:r>
          </a:p>
          <a:p>
            <a:pPr lvl="1"/>
            <a:r>
              <a:rPr sz="2200" dirty="0"/>
              <a:t>Setup automated daily reports</a:t>
            </a:r>
          </a:p>
          <a:p>
            <a:pPr lvl="1"/>
            <a:r>
              <a:rPr sz="2200" dirty="0"/>
              <a:t>Train team on data interpretation</a:t>
            </a:r>
          </a:p>
          <a:p>
            <a:r>
              <a:rPr sz="2200" dirty="0"/>
              <a:t>🙏 </a:t>
            </a:r>
            <a:r>
              <a:rPr sz="2200" dirty="0" err="1"/>
              <a:t>Terima</a:t>
            </a:r>
            <a:r>
              <a:rPr sz="2200" dirty="0"/>
              <a:t> Kasih!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921</Words>
  <Application>Microsoft Macintosh PowerPoint</Application>
  <PresentationFormat>On-screen Show (4:3)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Agenda</vt:lpstr>
      <vt:lpstr>Big Data dalam Politik: Era Baru Kempen</vt:lpstr>
      <vt:lpstr>Kepentingan Analytics dalam Pilihan Raya</vt:lpstr>
      <vt:lpstr>.CSV Data</vt:lpstr>
      <vt:lpstr>InsightPulse - Platform Analytics Pilihan Raya</vt:lpstr>
      <vt:lpstr>Strategi Taktikal Menggunakan Big Data</vt:lpstr>
      <vt:lpstr>Sample Keywords - InsightPulse Monitoring</vt:lpstr>
      <vt:lpstr>InsightPulse: Data Flow Pipeline</vt:lpstr>
      <vt:lpstr>Case Study: PAS ..BERSATU …PN</vt:lpstr>
      <vt:lpstr>Cadangan Belanjawan - Big Data Analytics</vt:lpstr>
      <vt:lpstr>InsightPulse SaaS - Pricing Tiers (Subscription Model)</vt:lpstr>
      <vt:lpstr>Kesimpulan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 Mohd Tariqi Raja Lope Ahmad</cp:lastModifiedBy>
  <cp:revision>8</cp:revision>
  <dcterms:created xsi:type="dcterms:W3CDTF">2013-01-27T09:14:16Z</dcterms:created>
  <dcterms:modified xsi:type="dcterms:W3CDTF">2026-06-07T14:08:09Z</dcterms:modified>
  <cp:category/>
</cp:coreProperties>
</file>