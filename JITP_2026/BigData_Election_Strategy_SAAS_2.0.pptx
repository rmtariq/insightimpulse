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2" r:id="rId14"/>
    <p:sldId id="27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 snapToObjects="1">
      <p:cViewPr varScale="1">
        <p:scale>
          <a:sx n="113" d="100"/>
          <a:sy n="113" d="100"/>
        </p:scale>
        <p:origin x="16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Big Data &amp; Analytic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C00000"/>
                </a:solidFill>
              </a:defRPr>
            </a:pPr>
            <a:r>
              <a:t>Strategi Pilihan Raya dan Taktikal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/>
            </a:pPr>
            <a:r>
              <a:t>InsightPulse Analytics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Pengenalan Big Data dalam Politik</a:t>
            </a:r>
          </a:p>
          <a:p>
            <a:r>
              <a:t>Kepentingan Analytics dalam Pilihan Raya</a:t>
            </a:r>
          </a:p>
          <a:p>
            <a:r>
              <a:t>Platform InsightPulse - Tools Monitoring</a:t>
            </a:r>
          </a:p>
          <a:p>
            <a:r>
              <a:t>Strategi Taktikal Menggunakan Data</a:t>
            </a:r>
          </a:p>
          <a:p>
            <a:r>
              <a:t>Case Study &amp; Contoh Aplikasi</a:t>
            </a:r>
          </a:p>
          <a:p>
            <a:r>
              <a:t>Kesimpulan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Data dalam Politik: Era Baru Kempen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34467"/>
          </a:xfrm>
        </p:spPr>
        <p:txBody>
          <a:bodyPr>
            <a:noAutofit/>
          </a:bodyPr>
          <a:lstStyle/>
          <a:p>
            <a:r>
              <a:rPr sz="2600" dirty="0"/>
              <a:t>✅ Volume Data Besar-</a:t>
            </a:r>
            <a:r>
              <a:rPr sz="2600" dirty="0" err="1"/>
              <a:t>besaran</a:t>
            </a:r>
            <a:endParaRPr sz="2600" dirty="0"/>
          </a:p>
          <a:p>
            <a:pPr lvl="1"/>
            <a:r>
              <a:rPr sz="2600" dirty="0" err="1"/>
              <a:t>Jutaan</a:t>
            </a:r>
            <a:r>
              <a:rPr sz="2600" dirty="0"/>
              <a:t> posting media </a:t>
            </a:r>
            <a:r>
              <a:rPr sz="2600" dirty="0" err="1"/>
              <a:t>sosial</a:t>
            </a:r>
            <a:r>
              <a:rPr sz="2600" dirty="0"/>
              <a:t> </a:t>
            </a:r>
            <a:r>
              <a:rPr sz="2600" dirty="0" err="1"/>
              <a:t>setiap</a:t>
            </a:r>
            <a:r>
              <a:rPr sz="2600" dirty="0"/>
              <a:t> </a:t>
            </a:r>
            <a:r>
              <a:rPr sz="2600" dirty="0" err="1"/>
              <a:t>hari</a:t>
            </a:r>
            <a:endParaRPr sz="2600" dirty="0"/>
          </a:p>
          <a:p>
            <a:pPr lvl="1"/>
            <a:r>
              <a:rPr sz="2600" dirty="0"/>
              <a:t>10 platform: Facebook, Instagram, X, TikTok, YouTube, LinkedIn, News, </a:t>
            </a:r>
            <a:r>
              <a:rPr sz="2600" dirty="0" err="1"/>
              <a:t>Lowyat</a:t>
            </a:r>
            <a:r>
              <a:rPr sz="2600" dirty="0"/>
              <a:t>, Shopee, Lazada</a:t>
            </a:r>
          </a:p>
          <a:p>
            <a:r>
              <a:rPr sz="2600" dirty="0"/>
              <a:t>✅ </a:t>
            </a:r>
            <a:r>
              <a:rPr sz="2600" dirty="0" err="1"/>
              <a:t>Kelajuan</a:t>
            </a:r>
            <a:r>
              <a:rPr sz="2600" dirty="0"/>
              <a:t> &amp; Masa </a:t>
            </a:r>
            <a:r>
              <a:rPr sz="2600" dirty="0" err="1"/>
              <a:t>Nyata</a:t>
            </a:r>
            <a:r>
              <a:rPr sz="2600" dirty="0"/>
              <a:t> (Real-time)</a:t>
            </a:r>
          </a:p>
          <a:p>
            <a:pPr lvl="1"/>
            <a:r>
              <a:rPr sz="2600" dirty="0"/>
              <a:t>Sentiment </a:t>
            </a:r>
            <a:r>
              <a:rPr sz="2600" dirty="0" err="1"/>
              <a:t>berubah</a:t>
            </a:r>
            <a:r>
              <a:rPr sz="2600" dirty="0"/>
              <a:t> </a:t>
            </a:r>
            <a:r>
              <a:rPr sz="2600" dirty="0" err="1"/>
              <a:t>dalam</a:t>
            </a:r>
            <a:r>
              <a:rPr sz="2600" dirty="0"/>
              <a:t> masa </a:t>
            </a:r>
            <a:r>
              <a:rPr sz="2600" dirty="0" err="1"/>
              <a:t>nyata</a:t>
            </a:r>
            <a:endParaRPr sz="2600" dirty="0"/>
          </a:p>
          <a:p>
            <a:pPr lvl="1"/>
            <a:r>
              <a:rPr sz="2600" dirty="0"/>
              <a:t>Crisis detection </a:t>
            </a:r>
            <a:r>
              <a:rPr sz="2600" dirty="0" err="1"/>
              <a:t>dalam</a:t>
            </a:r>
            <a:r>
              <a:rPr sz="2600" dirty="0"/>
              <a:t> </a:t>
            </a:r>
            <a:r>
              <a:rPr sz="2600" dirty="0" err="1"/>
              <a:t>minit</a:t>
            </a:r>
            <a:endParaRPr sz="2600" dirty="0"/>
          </a:p>
          <a:p>
            <a:r>
              <a:rPr sz="2600" dirty="0"/>
              <a:t>✅ </a:t>
            </a:r>
            <a:r>
              <a:rPr sz="2600" dirty="0" err="1"/>
              <a:t>Kepelbagaian</a:t>
            </a:r>
            <a:r>
              <a:rPr sz="2600" dirty="0"/>
              <a:t> Data</a:t>
            </a:r>
          </a:p>
          <a:p>
            <a:pPr lvl="1"/>
            <a:r>
              <a:rPr sz="2600" dirty="0"/>
              <a:t>Text, images, videos, engagement metrics</a:t>
            </a:r>
          </a:p>
          <a:p>
            <a:pPr lvl="1"/>
            <a:r>
              <a:rPr sz="2600" dirty="0"/>
              <a:t>Multilingual: Malay, English, Chinese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Kepentingan Analytics dalam Pilihan Raya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200" dirty="0"/>
              <a:t>🎯 </a:t>
            </a:r>
            <a:r>
              <a:rPr sz="2200" dirty="0" err="1"/>
              <a:t>Fahami</a:t>
            </a:r>
            <a:r>
              <a:rPr sz="2200" dirty="0"/>
              <a:t> Sentiment </a:t>
            </a:r>
            <a:r>
              <a:rPr sz="2200" dirty="0" err="1"/>
              <a:t>Pengundi</a:t>
            </a:r>
            <a:endParaRPr sz="2200" dirty="0"/>
          </a:p>
          <a:p>
            <a:pPr lvl="1"/>
            <a:r>
              <a:rPr sz="2200" dirty="0"/>
              <a:t>Positive, Neutral, Negative - masa </a:t>
            </a:r>
            <a:r>
              <a:rPr sz="2200" dirty="0" err="1"/>
              <a:t>nyata</a:t>
            </a:r>
            <a:endParaRPr sz="2200" dirty="0"/>
          </a:p>
          <a:p>
            <a:pPr lvl="1"/>
            <a:r>
              <a:rPr sz="2200" dirty="0"/>
              <a:t>Emosi: Joy, Anger, Fear, Sadness, Love, Surprise</a:t>
            </a:r>
          </a:p>
          <a:p>
            <a:r>
              <a:rPr sz="2200" dirty="0"/>
              <a:t>📊 Monitor Isu Trending</a:t>
            </a:r>
          </a:p>
          <a:p>
            <a:pPr lvl="1"/>
            <a:r>
              <a:rPr sz="2200" dirty="0" err="1"/>
              <a:t>Topik</a:t>
            </a:r>
            <a:r>
              <a:rPr sz="2200" dirty="0"/>
              <a:t> </a:t>
            </a:r>
            <a:r>
              <a:rPr sz="2200" dirty="0" err="1"/>
              <a:t>panas</a:t>
            </a:r>
            <a:r>
              <a:rPr sz="2200" dirty="0"/>
              <a:t> </a:t>
            </a:r>
            <a:r>
              <a:rPr sz="2200" dirty="0" err="1"/>
              <a:t>dalam</a:t>
            </a:r>
            <a:r>
              <a:rPr sz="2200" dirty="0"/>
              <a:t> </a:t>
            </a:r>
            <a:r>
              <a:rPr sz="2200" dirty="0" err="1"/>
              <a:t>kalangan</a:t>
            </a:r>
            <a:r>
              <a:rPr sz="2200" dirty="0"/>
              <a:t> </a:t>
            </a:r>
            <a:r>
              <a:rPr sz="2200" dirty="0" err="1"/>
              <a:t>pengundi</a:t>
            </a:r>
            <a:endParaRPr sz="2200" dirty="0"/>
          </a:p>
          <a:p>
            <a:pPr lvl="1"/>
            <a:r>
              <a:rPr sz="2200" dirty="0"/>
              <a:t>Viral detection &amp; response strategy</a:t>
            </a:r>
          </a:p>
          <a:p>
            <a:r>
              <a:rPr sz="2200" dirty="0"/>
              <a:t>⚠️ Crisis Detection</a:t>
            </a:r>
          </a:p>
          <a:p>
            <a:pPr lvl="1"/>
            <a:r>
              <a:rPr sz="2200" dirty="0"/>
              <a:t>Detect negative sentiment spikes</a:t>
            </a:r>
          </a:p>
          <a:p>
            <a:pPr lvl="1"/>
            <a:r>
              <a:rPr sz="2200" dirty="0"/>
              <a:t>Response </a:t>
            </a:r>
            <a:r>
              <a:rPr sz="2200" dirty="0" err="1"/>
              <a:t>dalam</a:t>
            </a:r>
            <a:r>
              <a:rPr sz="2200" dirty="0"/>
              <a:t> 15-30 </a:t>
            </a:r>
            <a:r>
              <a:rPr sz="2200" dirty="0" err="1"/>
              <a:t>minit</a:t>
            </a:r>
            <a:endParaRPr sz="2200" dirty="0"/>
          </a:p>
          <a:p>
            <a:r>
              <a:rPr sz="2200" dirty="0"/>
              <a:t>📍 Geographic &amp; Demographic Insights</a:t>
            </a:r>
          </a:p>
          <a:p>
            <a:pPr lvl="1"/>
            <a:r>
              <a:rPr sz="2200" dirty="0"/>
              <a:t>Sentiment by location &amp; demographics</a:t>
            </a:r>
          </a:p>
          <a:p>
            <a:pPr lvl="1"/>
            <a:r>
              <a:rPr sz="2200" dirty="0"/>
              <a:t>Targeted campaign strategies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InsightPulse</a:t>
            </a:r>
            <a:r>
              <a:rPr dirty="0"/>
              <a:t> - Platform Analytics </a:t>
            </a:r>
            <a:r>
              <a:rPr dirty="0" err="1"/>
              <a:t>Pilihan</a:t>
            </a:r>
            <a:r>
              <a:rPr dirty="0"/>
              <a:t> Raya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🚀 Features Utama</a:t>
            </a:r>
          </a:p>
          <a:p>
            <a:pPr lvl="1"/>
            <a:r>
              <a:rPr sz="2000" dirty="0"/>
              <a:t>10 Platform Monitoring (Social Media + E-commerce)</a:t>
            </a:r>
          </a:p>
          <a:p>
            <a:pPr lvl="1"/>
            <a:r>
              <a:rPr sz="2000" dirty="0"/>
              <a:t>Multilingual AI: Malay, English, Chinese</a:t>
            </a:r>
          </a:p>
          <a:p>
            <a:pPr lvl="1"/>
            <a:r>
              <a:rPr sz="2000" dirty="0"/>
              <a:t>Real-time Sentiment &amp; Emotion Analysis</a:t>
            </a:r>
          </a:p>
          <a:p>
            <a:pPr lvl="1"/>
            <a:r>
              <a:rPr sz="2000" dirty="0"/>
              <a:t>Crisis Detection &amp; Alerts</a:t>
            </a:r>
          </a:p>
          <a:p>
            <a:pPr lvl="1"/>
            <a:r>
              <a:rPr sz="2000" dirty="0"/>
              <a:t>Trend Analysis &amp; Forecasting</a:t>
            </a:r>
          </a:p>
          <a:p>
            <a:r>
              <a:rPr sz="2000" dirty="0"/>
              <a:t>📈 Metrics </a:t>
            </a:r>
            <a:r>
              <a:rPr sz="2000" dirty="0" err="1"/>
              <a:t>Penting</a:t>
            </a:r>
            <a:endParaRPr sz="2000" dirty="0"/>
          </a:p>
          <a:p>
            <a:pPr lvl="1"/>
            <a:r>
              <a:rPr sz="2000" dirty="0"/>
              <a:t>Engagement Score (likes + shares + comments + views)</a:t>
            </a:r>
          </a:p>
          <a:p>
            <a:pPr lvl="1"/>
            <a:r>
              <a:rPr sz="2000" dirty="0"/>
              <a:t>Sentiment Score (-1 to +1)</a:t>
            </a:r>
          </a:p>
          <a:p>
            <a:pPr lvl="1"/>
            <a:r>
              <a:rPr sz="2000" dirty="0"/>
              <a:t>Viral Coefficient &amp; Reach</a:t>
            </a:r>
          </a:p>
          <a:p>
            <a:r>
              <a:rPr sz="2000" dirty="0"/>
              <a:t>💾 Data Storage</a:t>
            </a:r>
          </a:p>
          <a:p>
            <a:pPr lvl="1"/>
            <a:r>
              <a:rPr sz="2000" dirty="0"/>
              <a:t>Raw Data: 30-day retention</a:t>
            </a:r>
          </a:p>
          <a:p>
            <a:pPr lvl="1"/>
            <a:r>
              <a:rPr sz="2000" dirty="0"/>
              <a:t>Analyzed Data: 7-day retention</a:t>
            </a:r>
          </a:p>
          <a:p>
            <a:pPr lvl="1"/>
            <a:r>
              <a:rPr sz="2000" dirty="0"/>
              <a:t>Combined Cross-platform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Strategi </a:t>
            </a:r>
            <a:r>
              <a:rPr dirty="0" err="1"/>
              <a:t>Taktikal</a:t>
            </a:r>
            <a:r>
              <a:rPr dirty="0"/>
              <a:t> </a:t>
            </a:r>
            <a:r>
              <a:rPr dirty="0" err="1"/>
              <a:t>Menggunakan</a:t>
            </a:r>
            <a:r>
              <a:rPr dirty="0"/>
              <a:t> Big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200" dirty="0"/>
              <a:t>🎯 Strategi 1: Monitoring Lawan</a:t>
            </a:r>
          </a:p>
          <a:p>
            <a:pPr lvl="1"/>
            <a:r>
              <a:rPr sz="2200" dirty="0"/>
              <a:t>Track sentiment </a:t>
            </a:r>
            <a:r>
              <a:rPr sz="2200" dirty="0" err="1"/>
              <a:t>terhadap</a:t>
            </a:r>
            <a:r>
              <a:rPr sz="2200" dirty="0"/>
              <a:t> </a:t>
            </a:r>
            <a:r>
              <a:rPr sz="2200" dirty="0" err="1"/>
              <a:t>lawan</a:t>
            </a:r>
            <a:endParaRPr sz="2200" dirty="0"/>
          </a:p>
          <a:p>
            <a:pPr lvl="1"/>
            <a:r>
              <a:rPr sz="2200" dirty="0"/>
              <a:t>Identify weaknesses &amp; attack points</a:t>
            </a:r>
          </a:p>
          <a:p>
            <a:r>
              <a:rPr sz="2200" dirty="0"/>
              <a:t>🎯 Strategi 2: Micro-targeting</a:t>
            </a:r>
          </a:p>
          <a:p>
            <a:pPr lvl="1"/>
            <a:r>
              <a:rPr sz="2200" dirty="0"/>
              <a:t>Segment </a:t>
            </a:r>
            <a:r>
              <a:rPr sz="2200" dirty="0" err="1"/>
              <a:t>pengundi</a:t>
            </a:r>
            <a:r>
              <a:rPr sz="2200" dirty="0"/>
              <a:t> by demographics</a:t>
            </a:r>
          </a:p>
          <a:p>
            <a:pPr lvl="1"/>
            <a:r>
              <a:rPr sz="2200" dirty="0"/>
              <a:t>Personalized messaging per segment</a:t>
            </a:r>
          </a:p>
          <a:p>
            <a:r>
              <a:rPr sz="2200" dirty="0"/>
              <a:t>🎯 Strategi 3: Rapid Response</a:t>
            </a:r>
          </a:p>
          <a:p>
            <a:pPr lvl="1"/>
            <a:r>
              <a:rPr sz="2200" dirty="0"/>
              <a:t>Monitor negative sentiment spikes</a:t>
            </a:r>
          </a:p>
          <a:p>
            <a:pPr lvl="1"/>
            <a:r>
              <a:rPr sz="2200" dirty="0"/>
              <a:t>Response strategy </a:t>
            </a:r>
            <a:r>
              <a:rPr sz="2200" dirty="0" err="1"/>
              <a:t>dalam</a:t>
            </a:r>
            <a:r>
              <a:rPr sz="2200" dirty="0"/>
              <a:t> 15-30 </a:t>
            </a:r>
            <a:r>
              <a:rPr sz="2200" dirty="0" err="1"/>
              <a:t>minit</a:t>
            </a:r>
            <a:endParaRPr sz="2200" dirty="0"/>
          </a:p>
          <a:p>
            <a:r>
              <a:rPr sz="2200" dirty="0"/>
              <a:t>🎯 Strategi 4: Content Optimization</a:t>
            </a:r>
          </a:p>
          <a:p>
            <a:pPr lvl="1"/>
            <a:r>
              <a:rPr sz="2200" dirty="0"/>
              <a:t>Test A/B messaging</a:t>
            </a:r>
          </a:p>
          <a:p>
            <a:pPr lvl="1"/>
            <a:r>
              <a:rPr sz="2200" dirty="0"/>
              <a:t>Optimize posting time &amp; format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Keywords - InsightPulse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🔍 Election General Keywords</a:t>
            </a:r>
          </a:p>
          <a:p>
            <a:pPr lvl="1"/>
            <a:r>
              <a:rPr sz="2000" dirty="0"/>
              <a:t>PRU16, PRN Selangor, </a:t>
            </a:r>
            <a:r>
              <a:rPr sz="2000" dirty="0" err="1"/>
              <a:t>Pilihan</a:t>
            </a:r>
            <a:r>
              <a:rPr sz="2000" dirty="0"/>
              <a:t> Raya Negeri</a:t>
            </a:r>
          </a:p>
          <a:p>
            <a:pPr lvl="1"/>
            <a:r>
              <a:rPr sz="2000" dirty="0" err="1"/>
              <a:t>Pengundi</a:t>
            </a:r>
            <a:r>
              <a:rPr sz="2000" dirty="0"/>
              <a:t>, </a:t>
            </a:r>
            <a:r>
              <a:rPr sz="2000" dirty="0" err="1"/>
              <a:t>Mengundi</a:t>
            </a:r>
            <a:r>
              <a:rPr sz="2000" dirty="0"/>
              <a:t>, Daftar Undi</a:t>
            </a:r>
          </a:p>
          <a:p>
            <a:r>
              <a:rPr sz="2000" dirty="0"/>
              <a:t>🔍 Party &amp; Candidate Keywords</a:t>
            </a:r>
          </a:p>
          <a:p>
            <a:pPr lvl="1"/>
            <a:r>
              <a:rPr sz="2000" dirty="0"/>
              <a:t>Pakatan Harapan, </a:t>
            </a:r>
            <a:r>
              <a:rPr sz="2000" dirty="0" err="1"/>
              <a:t>Perikatan</a:t>
            </a:r>
            <a:r>
              <a:rPr sz="2000" dirty="0"/>
              <a:t> Nasional, Barisan Nasional</a:t>
            </a:r>
          </a:p>
          <a:p>
            <a:pPr lvl="1"/>
            <a:r>
              <a:rPr sz="2000" dirty="0"/>
              <a:t>[Nama Calon], [Nama </a:t>
            </a:r>
            <a:r>
              <a:rPr sz="2000" dirty="0" err="1"/>
              <a:t>Ketua</a:t>
            </a:r>
            <a:r>
              <a:rPr sz="2000" dirty="0"/>
              <a:t> Parti]</a:t>
            </a:r>
          </a:p>
          <a:p>
            <a:r>
              <a:rPr sz="2000" dirty="0"/>
              <a:t>🔍 Issue-Based Keywords</a:t>
            </a:r>
          </a:p>
          <a:p>
            <a:pPr lvl="1"/>
            <a:r>
              <a:rPr sz="2000" dirty="0"/>
              <a:t>Kos Sara Hidup, </a:t>
            </a:r>
            <a:r>
              <a:rPr sz="2000" dirty="0" err="1"/>
              <a:t>Inflasi</a:t>
            </a:r>
            <a:r>
              <a:rPr sz="2000" dirty="0"/>
              <a:t>, </a:t>
            </a:r>
            <a:r>
              <a:rPr sz="2000" dirty="0" err="1"/>
              <a:t>Gaji</a:t>
            </a:r>
            <a:r>
              <a:rPr sz="2000" dirty="0"/>
              <a:t> Minimum</a:t>
            </a:r>
          </a:p>
          <a:p>
            <a:pPr lvl="1"/>
            <a:r>
              <a:rPr sz="2000" dirty="0"/>
              <a:t>Corruption, </a:t>
            </a:r>
            <a:r>
              <a:rPr sz="2000" dirty="0" err="1"/>
              <a:t>Rasuah</a:t>
            </a:r>
            <a:r>
              <a:rPr sz="2000" dirty="0"/>
              <a:t>, </a:t>
            </a:r>
            <a:r>
              <a:rPr sz="2000" dirty="0" err="1"/>
              <a:t>Integriti</a:t>
            </a:r>
            <a:endParaRPr sz="2000" dirty="0"/>
          </a:p>
          <a:p>
            <a:pPr lvl="1"/>
            <a:r>
              <a:rPr sz="2000" dirty="0"/>
              <a:t>Pendidikan, Kesihatan, </a:t>
            </a:r>
            <a:r>
              <a:rPr sz="2000" dirty="0" err="1"/>
              <a:t>Perumahan</a:t>
            </a:r>
            <a:endParaRPr sz="2000" dirty="0"/>
          </a:p>
          <a:p>
            <a:r>
              <a:rPr sz="2000" dirty="0"/>
              <a:t>🔍 Sentiment Keywords</a:t>
            </a:r>
          </a:p>
          <a:p>
            <a:pPr lvl="1"/>
            <a:r>
              <a:rPr sz="2000" dirty="0" err="1"/>
              <a:t>Kecewa</a:t>
            </a:r>
            <a:r>
              <a:rPr sz="2000" dirty="0"/>
              <a:t>, Harapan, Marah, Gembira</a:t>
            </a:r>
          </a:p>
          <a:p>
            <a:pPr lvl="1"/>
            <a:r>
              <a:rPr sz="2000" dirty="0" err="1"/>
              <a:t>Sokong</a:t>
            </a:r>
            <a:r>
              <a:rPr sz="2000" dirty="0"/>
              <a:t>, Tolak, </a:t>
            </a:r>
            <a:r>
              <a:rPr sz="2000" dirty="0" err="1"/>
              <a:t>Tukar</a:t>
            </a:r>
            <a:r>
              <a:rPr sz="2000" dirty="0"/>
              <a:t>, Ubah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Monitoring Pilihan Raya PBT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200" dirty="0"/>
              <a:t>📊 Data Collection</a:t>
            </a:r>
          </a:p>
          <a:p>
            <a:pPr lvl="1"/>
            <a:r>
              <a:rPr sz="2200" dirty="0"/>
              <a:t>Keywords: '</a:t>
            </a:r>
            <a:r>
              <a:rPr sz="2200" dirty="0" err="1"/>
              <a:t>Pilihan</a:t>
            </a:r>
            <a:r>
              <a:rPr sz="2200" dirty="0"/>
              <a:t> Raya PBT', 'PKS', 'Election'</a:t>
            </a:r>
          </a:p>
          <a:p>
            <a:pPr lvl="1"/>
            <a:r>
              <a:rPr sz="2200" dirty="0"/>
              <a:t>Platforms: Facebook, X, Instagram, News</a:t>
            </a:r>
          </a:p>
          <a:p>
            <a:pPr lvl="1"/>
            <a:r>
              <a:rPr sz="2200" dirty="0"/>
              <a:t>Dataset: 500+ posts &amp; comments</a:t>
            </a:r>
          </a:p>
          <a:p>
            <a:r>
              <a:rPr sz="2200" dirty="0"/>
              <a:t>📈 Analysis Results</a:t>
            </a:r>
          </a:p>
          <a:p>
            <a:pPr lvl="1"/>
            <a:r>
              <a:rPr sz="2200" dirty="0"/>
              <a:t>Sentiment: 45% Positive, 30% Neutral, 25% Negative</a:t>
            </a:r>
          </a:p>
          <a:p>
            <a:pPr lvl="1"/>
            <a:r>
              <a:rPr sz="2200" dirty="0"/>
              <a:t>Top Emotions: Joy (35%), Anger (20%), Neutral (45%)</a:t>
            </a:r>
          </a:p>
          <a:p>
            <a:pPr lvl="1"/>
            <a:r>
              <a:rPr sz="2200" dirty="0"/>
              <a:t>Peak Engagement: 8-10 PM daily</a:t>
            </a:r>
          </a:p>
          <a:p>
            <a:r>
              <a:rPr sz="2200" dirty="0"/>
              <a:t>🎯 Actionable Insights</a:t>
            </a:r>
          </a:p>
          <a:p>
            <a:pPr lvl="1"/>
            <a:r>
              <a:rPr sz="2200" dirty="0"/>
              <a:t>Positive sentiment on education &amp; infrastructure</a:t>
            </a:r>
          </a:p>
          <a:p>
            <a:pPr lvl="1"/>
            <a:r>
              <a:rPr sz="2200" dirty="0"/>
              <a:t>Negative sentiment on corruption &amp; transparency</a:t>
            </a:r>
          </a:p>
          <a:p>
            <a:pPr lvl="1"/>
            <a:r>
              <a:rPr sz="2200" dirty="0"/>
              <a:t>Recommendation: Focus on anti-corruption messaging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InsightPulse: Data Flow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1️⃣ Data Collection</a:t>
            </a:r>
          </a:p>
          <a:p>
            <a:pPr lvl="1"/>
            <a:r>
              <a:rPr sz="1800" dirty="0"/>
              <a:t>Crawl 10 platforms simultaneously</a:t>
            </a:r>
          </a:p>
          <a:p>
            <a:pPr lvl="1"/>
            <a:r>
              <a:rPr sz="1800" dirty="0"/>
              <a:t>Store raw data: data/</a:t>
            </a:r>
            <a:r>
              <a:rPr sz="1800" dirty="0" err="1"/>
              <a:t>smart_crawlers</a:t>
            </a:r>
            <a:r>
              <a:rPr sz="1800" dirty="0"/>
              <a:t>/PLATFORM/</a:t>
            </a:r>
          </a:p>
          <a:p>
            <a:r>
              <a:rPr sz="2000" dirty="0"/>
              <a:t>2️⃣ AI Analysis</a:t>
            </a:r>
          </a:p>
          <a:p>
            <a:pPr lvl="1"/>
            <a:r>
              <a:rPr sz="1800" dirty="0"/>
              <a:t>Sentiment Analysis (Multilingual)</a:t>
            </a:r>
          </a:p>
          <a:p>
            <a:pPr lvl="1"/>
            <a:r>
              <a:rPr sz="1800" dirty="0"/>
              <a:t>Emotion Detection (8 emotions)</a:t>
            </a:r>
          </a:p>
          <a:p>
            <a:pPr lvl="1"/>
            <a:r>
              <a:rPr sz="1800" dirty="0"/>
              <a:t>Engagement Scoring</a:t>
            </a:r>
          </a:p>
          <a:p>
            <a:r>
              <a:rPr sz="2000" dirty="0"/>
              <a:t>3️⃣ Data Storage</a:t>
            </a:r>
          </a:p>
          <a:p>
            <a:pPr lvl="1"/>
            <a:r>
              <a:rPr sz="1800" dirty="0"/>
              <a:t>Analyzed data: data/analyzed/</a:t>
            </a:r>
          </a:p>
          <a:p>
            <a:pPr lvl="1"/>
            <a:r>
              <a:rPr sz="1800" dirty="0"/>
              <a:t>Combined cross-platform: data/combined/</a:t>
            </a:r>
          </a:p>
          <a:p>
            <a:r>
              <a:rPr sz="2000" dirty="0"/>
              <a:t>4️⃣ Visualization &amp; Insights</a:t>
            </a:r>
          </a:p>
          <a:p>
            <a:pPr lvl="1"/>
            <a:r>
              <a:rPr sz="1800" dirty="0"/>
              <a:t>Real-time dashboard</a:t>
            </a:r>
          </a:p>
          <a:p>
            <a:pPr lvl="1"/>
            <a:r>
              <a:rPr sz="1800" dirty="0"/>
              <a:t>Trend graphs &amp; sentiment timeline</a:t>
            </a:r>
          </a:p>
          <a:p>
            <a:pPr lvl="1"/>
            <a:r>
              <a:rPr sz="1800" dirty="0"/>
              <a:t>Export to Excel/CSV for reporting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200" dirty="0"/>
              <a:t>✅ Big Data = Competitive Advantage</a:t>
            </a:r>
          </a:p>
          <a:p>
            <a:pPr lvl="1"/>
            <a:r>
              <a:rPr sz="2200" dirty="0"/>
              <a:t>Real-time insights </a:t>
            </a:r>
            <a:r>
              <a:rPr sz="2200" dirty="0" err="1"/>
              <a:t>untuk</a:t>
            </a:r>
            <a:r>
              <a:rPr sz="2200" dirty="0"/>
              <a:t> decision making</a:t>
            </a:r>
          </a:p>
          <a:p>
            <a:pPr lvl="1"/>
            <a:r>
              <a:rPr sz="2200" dirty="0"/>
              <a:t>Data-driven campaign strategies</a:t>
            </a:r>
          </a:p>
          <a:p>
            <a:r>
              <a:rPr sz="2200" dirty="0"/>
              <a:t>✅ </a:t>
            </a:r>
            <a:r>
              <a:rPr sz="2200" dirty="0" err="1"/>
              <a:t>InsightPulse</a:t>
            </a:r>
            <a:r>
              <a:rPr sz="2200" dirty="0"/>
              <a:t> = Complete Solution</a:t>
            </a:r>
          </a:p>
          <a:p>
            <a:pPr lvl="1"/>
            <a:r>
              <a:rPr sz="2200" dirty="0"/>
              <a:t>10 platforms monitoring</a:t>
            </a:r>
          </a:p>
          <a:p>
            <a:pPr lvl="1"/>
            <a:r>
              <a:rPr sz="2200" dirty="0"/>
              <a:t>Multilingual AI analysis</a:t>
            </a:r>
          </a:p>
          <a:p>
            <a:pPr lvl="1"/>
            <a:r>
              <a:rPr sz="2200" dirty="0"/>
              <a:t>Crisis detection &amp; rapid response</a:t>
            </a:r>
          </a:p>
          <a:p>
            <a:r>
              <a:rPr sz="2200" dirty="0"/>
              <a:t>✅ Next Steps</a:t>
            </a:r>
          </a:p>
          <a:p>
            <a:pPr lvl="1"/>
            <a:r>
              <a:rPr sz="2200" dirty="0"/>
              <a:t>Define keywords for monitoring</a:t>
            </a:r>
          </a:p>
          <a:p>
            <a:pPr lvl="1"/>
            <a:r>
              <a:rPr sz="2200" dirty="0"/>
              <a:t>Setup automated daily reports</a:t>
            </a:r>
          </a:p>
          <a:p>
            <a:pPr lvl="1"/>
            <a:r>
              <a:rPr sz="2200" dirty="0"/>
              <a:t>Train team on data interpretation</a:t>
            </a:r>
          </a:p>
          <a:p>
            <a:r>
              <a:rPr sz="2200" dirty="0"/>
              <a:t>🙏 </a:t>
            </a:r>
            <a:r>
              <a:rPr sz="2200" dirty="0" err="1"/>
              <a:t>Terima</a:t>
            </a:r>
            <a:r>
              <a:rPr sz="2200" dirty="0"/>
              <a:t> Kasih! Q&amp;A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Cadangan Belanjawan - Big Data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Autofit/>
          </a:bodyPr>
          <a:lstStyle/>
          <a:p>
            <a:r>
              <a:rPr sz="2200" dirty="0"/>
              <a:t>💰 Platform &amp; Tools (Monthly)</a:t>
            </a:r>
          </a:p>
          <a:p>
            <a:pPr lvl="1"/>
            <a:r>
              <a:rPr sz="2200" dirty="0" err="1"/>
              <a:t>InsightPulse</a:t>
            </a:r>
            <a:r>
              <a:rPr sz="2200" dirty="0"/>
              <a:t> Platform: </a:t>
            </a:r>
            <a:r>
              <a:rPr lang="en-US" sz="2200" dirty="0"/>
              <a:t>FREE</a:t>
            </a:r>
            <a:endParaRPr sz="2200" dirty="0"/>
          </a:p>
          <a:p>
            <a:pPr lvl="1"/>
            <a:r>
              <a:rPr lang="en-US" sz="2200" dirty="0"/>
              <a:t>API</a:t>
            </a:r>
            <a:r>
              <a:rPr sz="2200" dirty="0"/>
              <a:t> Crawling </a:t>
            </a:r>
            <a:r>
              <a:rPr lang="en-US" sz="2200" dirty="0"/>
              <a:t>Engine</a:t>
            </a:r>
            <a:r>
              <a:rPr sz="2200" dirty="0"/>
              <a:t>: RM 3,000 - 5,000</a:t>
            </a:r>
          </a:p>
          <a:p>
            <a:pPr lvl="1"/>
            <a:r>
              <a:rPr lang="en-US" sz="2200" dirty="0"/>
              <a:t>API</a:t>
            </a:r>
            <a:r>
              <a:rPr sz="2200" dirty="0"/>
              <a:t>(News monitoring): RM 500 - 1,000</a:t>
            </a:r>
          </a:p>
          <a:p>
            <a:pPr lvl="1"/>
            <a:r>
              <a:rPr sz="2200" dirty="0"/>
              <a:t>Cloud Storage (AWS/Azure): RM 1,000 - 2,000</a:t>
            </a:r>
          </a:p>
          <a:p>
            <a:r>
              <a:rPr sz="2200" dirty="0"/>
              <a:t>👥 Human Resources (Monthly)</a:t>
            </a:r>
          </a:p>
          <a:p>
            <a:pPr lvl="1"/>
            <a:r>
              <a:rPr sz="2200" dirty="0"/>
              <a:t>Data Analyst (1-2 pax): RM </a:t>
            </a:r>
            <a:r>
              <a:rPr lang="en-US" sz="2200" dirty="0"/>
              <a:t>4</a:t>
            </a:r>
            <a:r>
              <a:rPr sz="2200" dirty="0"/>
              <a:t>,000 - </a:t>
            </a:r>
            <a:r>
              <a:rPr lang="en-US" sz="2200" dirty="0"/>
              <a:t>6</a:t>
            </a:r>
            <a:r>
              <a:rPr sz="2200" dirty="0"/>
              <a:t>,000</a:t>
            </a:r>
          </a:p>
          <a:p>
            <a:pPr lvl="1"/>
            <a:r>
              <a:rPr sz="2200" dirty="0"/>
              <a:t>Social Media Strategist (1 pax): RM 6,000 - </a:t>
            </a:r>
            <a:r>
              <a:rPr lang="en-US" sz="2200" dirty="0"/>
              <a:t>8</a:t>
            </a:r>
            <a:r>
              <a:rPr sz="2200" dirty="0"/>
              <a:t>,000</a:t>
            </a:r>
          </a:p>
          <a:p>
            <a:pPr lvl="1"/>
            <a:r>
              <a:rPr sz="2200" dirty="0"/>
              <a:t>Content Writer/Responder (2 pax): RM </a:t>
            </a:r>
            <a:r>
              <a:rPr lang="en-US" sz="2200" dirty="0"/>
              <a:t>4</a:t>
            </a:r>
            <a:r>
              <a:rPr sz="2200" dirty="0"/>
              <a:t>,000 - </a:t>
            </a:r>
            <a:r>
              <a:rPr lang="en-US" sz="2200" dirty="0"/>
              <a:t>6</a:t>
            </a:r>
            <a:r>
              <a:rPr sz="2200" dirty="0"/>
              <a:t>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InsightPulse SaaS - Pricing Tiers (Subscription Model)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💰 TIER 1: BASIC - RM 15,000/month</a:t>
            </a:r>
          </a:p>
          <a:p>
            <a:pPr lvl="1"/>
            <a:r>
              <a:rPr sz="2000" dirty="0"/>
              <a:t>10,000 posts/month, 5 keywords, 5 platforms</a:t>
            </a:r>
          </a:p>
          <a:p>
            <a:pPr lvl="1"/>
            <a:r>
              <a:rPr sz="2000" dirty="0"/>
              <a:t>Daily reports, Email support, 30-day retention</a:t>
            </a:r>
          </a:p>
          <a:p>
            <a:pPr lvl="1"/>
            <a:r>
              <a:rPr sz="2000" dirty="0"/>
              <a:t>Best for: PRK, Small local campaigns</a:t>
            </a:r>
          </a:p>
          <a:p>
            <a:r>
              <a:rPr sz="2000" dirty="0"/>
              <a:t>💼 TIER 2: PROFESSIONAL - RM 35,000/month</a:t>
            </a:r>
          </a:p>
          <a:p>
            <a:pPr lvl="1"/>
            <a:r>
              <a:rPr sz="2000" dirty="0"/>
              <a:t>50,000 posts/month, 20 keywords, 8 platforms</a:t>
            </a:r>
          </a:p>
          <a:p>
            <a:pPr lvl="1"/>
            <a:r>
              <a:rPr sz="2000" dirty="0"/>
              <a:t>Real-time crisis detection, API access, 90-day retention</a:t>
            </a:r>
          </a:p>
          <a:p>
            <a:pPr lvl="1"/>
            <a:r>
              <a:rPr sz="2000" dirty="0"/>
              <a:t>Best for: PRN (State elections)</a:t>
            </a:r>
          </a:p>
          <a:p>
            <a:r>
              <a:rPr sz="2000" dirty="0"/>
              <a:t>🏆 TIER 3: ENTERPRISE - RM 80,000/month</a:t>
            </a:r>
          </a:p>
          <a:p>
            <a:pPr lvl="1"/>
            <a:r>
              <a:rPr sz="2000" dirty="0"/>
              <a:t>200,000 posts/month, 100 keywords, ALL 10 platforms</a:t>
            </a:r>
          </a:p>
          <a:p>
            <a:pPr lvl="1"/>
            <a:r>
              <a:rPr sz="2000" dirty="0"/>
              <a:t>24/7 monitoring, Predictive analytics, Unlimited API</a:t>
            </a:r>
          </a:p>
          <a:p>
            <a:pPr lvl="1"/>
            <a:r>
              <a:rPr sz="2000" dirty="0"/>
              <a:t>Best for: PRU (National elections)</a:t>
            </a:r>
          </a:p>
          <a:p>
            <a:r>
              <a:rPr sz="2000" dirty="0"/>
              <a:t>✅ No upfront costs, No hiring, Start in 3 weeks!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InsightPulse SaaS?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Autofit/>
          </a:bodyPr>
          <a:lstStyle/>
          <a:p>
            <a:r>
              <a:rPr sz="2000" dirty="0"/>
              <a:t>🔒 Your Data, Our Technology</a:t>
            </a:r>
          </a:p>
          <a:p>
            <a:pPr lvl="1"/>
            <a:r>
              <a:rPr sz="1800" dirty="0"/>
              <a:t>No code sharing - Proprietary IP protected</a:t>
            </a:r>
          </a:p>
          <a:p>
            <a:pPr lvl="1"/>
            <a:r>
              <a:rPr sz="1800" dirty="0"/>
              <a:t>You get: Dashboard access, API, Analyzed data</a:t>
            </a:r>
          </a:p>
          <a:p>
            <a:pPr lvl="1"/>
            <a:r>
              <a:rPr sz="1800" dirty="0"/>
              <a:t>We handle: Infrastructure, maintenance, updates</a:t>
            </a:r>
          </a:p>
          <a:p>
            <a:r>
              <a:rPr sz="2000" dirty="0"/>
              <a:t>⚡ Faster Deployment</a:t>
            </a:r>
          </a:p>
          <a:p>
            <a:pPr lvl="1"/>
            <a:r>
              <a:rPr sz="1800" dirty="0"/>
              <a:t>SaaS: </a:t>
            </a:r>
            <a:r>
              <a:rPr lang="en-US" sz="1800" dirty="0"/>
              <a:t>4</a:t>
            </a:r>
            <a:r>
              <a:rPr sz="1800" dirty="0"/>
              <a:t> weeks vs DIY: 4-6 months</a:t>
            </a:r>
          </a:p>
          <a:p>
            <a:pPr lvl="1"/>
            <a:r>
              <a:rPr sz="1800" dirty="0"/>
              <a:t>No hiring, training, or team management</a:t>
            </a:r>
          </a:p>
          <a:p>
            <a:r>
              <a:rPr sz="2000" dirty="0"/>
              <a:t>💡 Lower Risk</a:t>
            </a:r>
          </a:p>
          <a:p>
            <a:pPr lvl="1"/>
            <a:r>
              <a:rPr sz="1800" dirty="0"/>
              <a:t>Pay monthly, cancel anytime (30 days notice)</a:t>
            </a:r>
          </a:p>
          <a:p>
            <a:pPr lvl="1"/>
            <a:r>
              <a:rPr sz="1800" dirty="0"/>
              <a:t>No upfront investment</a:t>
            </a:r>
          </a:p>
          <a:p>
            <a:pPr lvl="1"/>
            <a:r>
              <a:rPr sz="1800" dirty="0"/>
              <a:t>Scale up/down based on campaign needs</a:t>
            </a:r>
          </a:p>
          <a:p>
            <a:r>
              <a:rPr sz="2000" dirty="0"/>
              <a:t>📊 Proven Accuracy</a:t>
            </a:r>
          </a:p>
          <a:p>
            <a:pPr lvl="1"/>
            <a:r>
              <a:rPr sz="1800" dirty="0"/>
              <a:t>95-98% sentiment accuracy (tested)</a:t>
            </a:r>
          </a:p>
          <a:p>
            <a:pPr lvl="1"/>
            <a:r>
              <a:rPr sz="1800" dirty="0"/>
              <a:t>10 platforms, 3 languages (Malay, English, Chinese)</a:t>
            </a:r>
          </a:p>
          <a:p>
            <a:pPr lvl="1"/>
            <a:r>
              <a:rPr sz="1800" dirty="0"/>
              <a:t>200,000+ posts analyzed successfully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Recommended: Professional Tier (PRN Campaign)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💼 Package Details - 6 Months</a:t>
            </a:r>
          </a:p>
          <a:p>
            <a:pPr lvl="1"/>
            <a:r>
              <a:rPr sz="1800" dirty="0"/>
              <a:t>Monthly: RM 35,000 x 6 = RM 210,000</a:t>
            </a:r>
          </a:p>
          <a:p>
            <a:pPr lvl="1"/>
            <a:r>
              <a:rPr sz="1800" dirty="0"/>
              <a:t>Setup &amp; Onboarding: RM 10,000</a:t>
            </a:r>
          </a:p>
          <a:p>
            <a:pPr lvl="1"/>
            <a:r>
              <a:rPr sz="1800" dirty="0"/>
              <a:t>Total Investment: RM 220,000</a:t>
            </a:r>
          </a:p>
          <a:p>
            <a:r>
              <a:rPr sz="2000" dirty="0"/>
              <a:t>📦 What You Get</a:t>
            </a:r>
          </a:p>
          <a:p>
            <a:pPr lvl="1"/>
            <a:r>
              <a:rPr sz="1800" dirty="0"/>
              <a:t>300,000 posts analyzed (real-time sentiment)</a:t>
            </a:r>
          </a:p>
          <a:p>
            <a:pPr lvl="1"/>
            <a:r>
              <a:rPr sz="1800" dirty="0"/>
              <a:t>20 keywords monitoring (customizable)</a:t>
            </a:r>
          </a:p>
          <a:p>
            <a:pPr lvl="1"/>
            <a:r>
              <a:rPr sz="1800" dirty="0"/>
              <a:t>8 platforms (Facebook, X, Instagram, TikTok, YouTube, LinkedIn, News, </a:t>
            </a:r>
            <a:r>
              <a:rPr sz="1800" dirty="0" err="1"/>
              <a:t>Lowyat</a:t>
            </a:r>
            <a:r>
              <a:rPr sz="1800" dirty="0"/>
              <a:t>)</a:t>
            </a:r>
          </a:p>
          <a:p>
            <a:pPr lvl="1"/>
            <a:r>
              <a:rPr sz="1800" dirty="0"/>
              <a:t>Crisis detection &amp; SMS/Email alerts</a:t>
            </a:r>
          </a:p>
          <a:p>
            <a:pPr lvl="1"/>
            <a:r>
              <a:rPr sz="1800" dirty="0"/>
              <a:t>Daily + Weekly reports (data-driven insights)</a:t>
            </a:r>
          </a:p>
          <a:p>
            <a:pPr lvl="1"/>
            <a:r>
              <a:rPr sz="1800" dirty="0"/>
              <a:t>API access (integrate with your systems)</a:t>
            </a:r>
          </a:p>
          <a:p>
            <a:pPr lvl="1"/>
            <a:r>
              <a:rPr sz="1800" dirty="0"/>
              <a:t>Priority support (4-hour response time)</a:t>
            </a:r>
          </a:p>
          <a:p>
            <a:r>
              <a:rPr sz="2000" dirty="0"/>
              <a:t>🎯 ROI: Save RM 322,800 vs DIY + Prevent RM 1M+ crisis</a:t>
            </a:r>
          </a:p>
          <a:p>
            <a:r>
              <a:rPr sz="2000" dirty="0"/>
              <a:t>🚀 Start in 3 weeks - No hiring needed!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1087</Words>
  <Application>Microsoft Macintosh PowerPoint</Application>
  <PresentationFormat>On-screen Show (4:3)</PresentationFormat>
  <Paragraphs>171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Agenda</vt:lpstr>
      <vt:lpstr>Big Data dalam Politik: Era Baru Kempen</vt:lpstr>
      <vt:lpstr>Kepentingan Analytics dalam Pilihan Raya</vt:lpstr>
      <vt:lpstr>InsightPulse - Platform Analytics Pilihan Raya</vt:lpstr>
      <vt:lpstr>Strategi Taktikal Menggunakan Big Data</vt:lpstr>
      <vt:lpstr>Sample Keywords - InsightPulse Monitoring</vt:lpstr>
      <vt:lpstr>Case Study: Monitoring Pilihan Raya PBT</vt:lpstr>
      <vt:lpstr>InsightPulse: Data Flow Pipeline</vt:lpstr>
      <vt:lpstr>Kesimpulan</vt:lpstr>
      <vt:lpstr>Cadangan Belanjawan - Big Data Analytics</vt:lpstr>
      <vt:lpstr>InsightPulse SaaS - Pricing Tiers (Subscription Model)</vt:lpstr>
      <vt:lpstr>Why InsightPulse SaaS?</vt:lpstr>
      <vt:lpstr>Recommended: Professional Tier (PRN Campaign)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Raja Mohd Tariqi Raja Lope Ahmad</cp:lastModifiedBy>
  <cp:revision>6</cp:revision>
  <dcterms:created xsi:type="dcterms:W3CDTF">2013-01-27T09:14:16Z</dcterms:created>
  <dcterms:modified xsi:type="dcterms:W3CDTF">2026-05-27T04:57:16Z</dcterms:modified>
  <cp:category/>
</cp:coreProperties>
</file>