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70" r:id="rId12"/>
    <p:sldId id="269" r:id="rId13"/>
    <p:sldId id="271" r:id="rId14"/>
    <p:sldId id="272" r:id="rId15"/>
    <p:sldId id="273" r:id="rId16"/>
    <p:sldId id="274" r:id="rId17"/>
    <p:sldId id="275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18"/>
    <p:restoredTop sz="94722"/>
  </p:normalViewPr>
  <p:slideViewPr>
    <p:cSldViewPr snapToGrid="0" snapToObjects="1">
      <p:cViewPr varScale="1">
        <p:scale>
          <a:sx n="111" d="100"/>
          <a:sy n="111" d="100"/>
        </p:scale>
        <p:origin x="171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rPr dirty="0"/>
              <a:t>PRN Negeri Sembilan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C8102E"/>
                </a:solidFill>
              </a:defRPr>
            </a:pPr>
            <a:r>
              <a:t>Intelligence Dashboard &amp; War Room — Briefing EXCO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4748B"/>
                </a:solidFill>
              </a:defRPr>
            </a:pPr>
            <a:r>
              <a:t>InsightPulse Analytics Platform</a:t>
            </a:r>
          </a:p>
          <a:p>
            <a:pPr algn="ctr">
              <a:defRPr sz="1600">
                <a:solidFill>
                  <a:srgbClr val="64748B"/>
                </a:solidFill>
              </a:defRPr>
            </a:pPr>
            <a:r>
              <a:t>12 Jun 2026 · Keputusan SPR · Dalaman EXCO</a:t>
            </a:r>
          </a:p>
          <a:p>
            <a:pPr algn="ctr">
              <a:defRPr sz="1600">
                <a:solidFill>
                  <a:srgbClr val="64748B"/>
                </a:solidFill>
              </a:defRPr>
            </a:pPr>
            <a:r>
              <a:t>DUN 36 kerusi · Majoriti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Agenda Malam 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Keputusan SPR &amp; garis masa PRN NS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Apa yang sudah siap — InsightPulse Dashboard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Kerusi strategik &amp; War Room Hari Ini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Operasi harian &amp; automasi (cadangan)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Pelan cloud hosting dashboard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Cadangan belanjawan — teknologi + perkhidmatan pakar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Langkah seterusnya &amp; kelulusan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Keputusan SPR — 12 Jun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PRN Negeri Sembilan (DISAHKAN)</a:t>
            </a:r>
          </a:p>
          <a:p>
            <a:pPr lvl="1"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Penamaan calon: 18 Julai 2026 (36 hari)</a:t>
            </a:r>
          </a:p>
          <a:p>
            <a:pPr lvl="1"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Undi awal: 28 Julai 2026</a:t>
            </a:r>
          </a:p>
          <a:p>
            <a:pPr lvl="1"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Hari mengundi: 1 Ogos 2026 (50 hari)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PRN Johor (rujuk): mengundi 11 Julai 2026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Implikasi: ~5 minggu pre-penamaan + ~2 minggu kempen penuh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Objektif — Intelligence untuk EXCO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BUKAN polling — social listening &amp; naratif masa nyata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Pantau isu, sentimen &amp; crisis sebelum ia viral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Fokus 6 kerusi kritikal: Pertahan + Boleh Menang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Arahan harian ke petugas via WhatsApp (War Room Lite)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Sokong keputusan EXCO dengan data, bukan andaian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Apa Sudah Siap (Proof of Concept)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Dashboard PRN NS — 10 tab intel (kerusi, sentimen, scenario)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Master data: 69,000+ posts (PAS-Break + PRN NS crawl)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831 mention NS · sentiment ikut platform (FB/TikTok/X/News)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36 kerusi — kategori Pertahan / Menang / Sukar / Bukan Fokus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War Room Hari Ini — 6 tindakan + Copy WhatsApp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Tarikh SPR, countdown &amp; garis masa — auto-update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Kerusi Strategik — Fokus Operasi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05840"/>
          <a:ext cx="841248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Kategori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DUN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Kawasan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Tindakan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PERTAHAN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Jaga base FELDA · socmed harian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PERTAHAN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Paroi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Bandar Seremban · kos hidup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PERTAHAN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Bagan Pinang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PD · pelancongan/nelayan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BOLEH MENANG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Sungai Lui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Majoriti 535 · swing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BOLEH MENANG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Lenggeng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Majoriti 685 · bandar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BOLEH MENANG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Pilah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Majoriti 1,079 · rebut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10 Modul Kempen — Status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✅ Data pengundi &amp; isu tempatan (Excel SPR + profil DUN)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✅ Sentimen socmed AI (master crawl + dashboard)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✅ Segmentasi kerusi (Pertahan / Menang / Sukar)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🟡 Draf kandungan &amp; jadual post (semi-auto + WhatsApp)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✅ Pantau isu &amp; counter-narrative (trigger War Room)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✅ Tugasan jentera (Hari Ini + template petugas)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🟡 Cloud dashboard — perlu deploy (cadangan budget)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⬜ Laporan prestasi mingguan — fasa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Operasi Harian (Ringkas — 20 min/hari)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STEP 1: Crawl berita BM + Cina + Tamil + ekonomi (script auto)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STEP 2: Crawl socmed via InsightPulse (keyword siap by DUN)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STEP 3: Regenerate dashboard + War Room Hari Ini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STEP 4: Copy WhatsApp → Koordinator → group petugas DUN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Cadangan: cron 2×/hari + dashboard cloud untuk EXCO akses 24/7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Cadangan Belanjawan — Teknologi (7 minggu: 12 Jun – 1 Ogo)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972127"/>
              </p:ext>
            </p:extLst>
          </p:nvPr>
        </p:nvGraphicFramePr>
        <p:xfrm>
          <a:off x="365760" y="1005840"/>
          <a:ext cx="8412481" cy="271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1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9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9320">
                  <a:extLst>
                    <a:ext uri="{9D8B030D-6E8A-4147-A177-3AD203B41FA5}">
                      <a16:colId xmlns:a16="http://schemas.microsoft.com/office/drawing/2014/main" val="2781535728"/>
                    </a:ext>
                  </a:extLst>
                </a:gridCol>
                <a:gridCol w="22800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sz="1200" b="1">
                          <a:solidFill>
                            <a:schemeClr val="tx1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sz="1200" b="1">
                          <a:solidFill>
                            <a:schemeClr val="tx1"/>
                          </a:solidFill>
                        </a:rPr>
                        <a:t>Fungsi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sz="1200" b="1" dirty="0" err="1">
                          <a:solidFill>
                            <a:schemeClr val="tx1"/>
                          </a:solidFill>
                        </a:rPr>
                        <a:t>Anggaran</a:t>
                      </a:r>
                      <a:r>
                        <a:rPr sz="1200" b="1" dirty="0">
                          <a:solidFill>
                            <a:schemeClr val="tx1"/>
                          </a:solidFill>
                        </a:rPr>
                        <a:t> (RM)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 (RM)</a:t>
                      </a:r>
                      <a:endParaRPr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sz="1200" b="1" dirty="0">
                          <a:solidFill>
                            <a:schemeClr val="tx1"/>
                          </a:solidFill>
                        </a:rPr>
                        <a:t>Nota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dirty="0"/>
                        <a:t>Engine </a:t>
                      </a:r>
                      <a:r>
                        <a:rPr dirty="0"/>
                        <a:t>Crawling API</a:t>
                      </a:r>
                      <a:r>
                        <a:rPr lang="en-US" dirty="0"/>
                        <a:t> + Proxies IPs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FB, TikTok, X, IG — socmed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18,000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lang="en-US" b="1" dirty="0"/>
                        <a:t>6,000</a:t>
                      </a:r>
                      <a:endParaRPr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2×</a:t>
                      </a:r>
                      <a:r>
                        <a:rPr lang="en-US" dirty="0"/>
                        <a:t> @ 3x </a:t>
                      </a:r>
                      <a:r>
                        <a:rPr dirty="0"/>
                        <a:t>/</a:t>
                      </a:r>
                      <a:r>
                        <a:rPr dirty="0" err="1"/>
                        <a:t>hari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kempen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LLM API</a:t>
                      </a:r>
                      <a:r>
                        <a:rPr lang="en-US" dirty="0"/>
                        <a:t> + RAG + VDB + </a:t>
                      </a:r>
                      <a:r>
                        <a:rPr lang="en-US" dirty="0" err="1"/>
                        <a:t>AgenticAi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Briefing, draf counter-narrative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dirty="0"/>
                        <a:t>5,000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lang="en-US" b="1" dirty="0"/>
                        <a:t>2,000</a:t>
                      </a:r>
                      <a:endParaRPr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Human-in-the-loop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Cloud hosting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Dashboard EXCO +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lang="en-US" b="1" dirty="0"/>
                        <a:t>2,500</a:t>
                      </a:r>
                      <a:endParaRPr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3 </a:t>
                      </a:r>
                      <a:r>
                        <a:rPr dirty="0" err="1"/>
                        <a:t>bulan</a:t>
                      </a:r>
                      <a:r>
                        <a:rPr dirty="0"/>
                        <a:t> × ~RM700/</a:t>
                      </a:r>
                      <a:r>
                        <a:rPr dirty="0" err="1"/>
                        <a:t>bulan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Domain + SSL + CDN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URL rasmi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dirty="0"/>
                        <a:t>800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lang="en-US" b="1" dirty="0"/>
                        <a:t>-</a:t>
                      </a:r>
                      <a:endParaRPr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One-time + renewal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Setup &amp; deploy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CI/CD, security, backup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lang="en-US" b="1" dirty="0"/>
                        <a:t>3000</a:t>
                      </a:r>
                      <a:endParaRPr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One-time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SUB-JUMLAH TEKNOLOGI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dirty="0"/>
                        <a:t>34,300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lang="en-US" b="1" dirty="0"/>
                        <a:t>13,500</a:t>
                      </a:r>
                      <a:endParaRPr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Cadangan Belanjawan — Perkhidmatan Pakar (Upah)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508659"/>
              </p:ext>
            </p:extLst>
          </p:nvPr>
        </p:nvGraphicFramePr>
        <p:xfrm>
          <a:off x="365760" y="1005840"/>
          <a:ext cx="8412481" cy="2029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9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58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9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9320">
                  <a:extLst>
                    <a:ext uri="{9D8B030D-6E8A-4147-A177-3AD203B41FA5}">
                      <a16:colId xmlns:a16="http://schemas.microsoft.com/office/drawing/2014/main" val="1840949845"/>
                    </a:ext>
                  </a:extLst>
                </a:gridCol>
                <a:gridCol w="18082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sz="1200" dirty="0" err="1">
                          <a:solidFill>
                            <a:schemeClr val="tx1"/>
                          </a:solidFill>
                        </a:rPr>
                        <a:t>Peranan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sz="1200" dirty="0">
                          <a:solidFill>
                            <a:schemeClr val="tx1"/>
                          </a:solidFill>
                        </a:rPr>
                        <a:t>Skop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sz="1200" dirty="0" err="1">
                          <a:solidFill>
                            <a:schemeClr val="tx1"/>
                          </a:solidFill>
                        </a:rPr>
                        <a:t>Anggaran</a:t>
                      </a:r>
                      <a:r>
                        <a:rPr sz="1200" dirty="0">
                          <a:solidFill>
                            <a:schemeClr val="tx1"/>
                          </a:solidFill>
                        </a:rPr>
                        <a:t> (RM)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100" b="1"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 (RM)</a:t>
                      </a:r>
                    </a:p>
                    <a:p>
                      <a:pPr algn="ctr">
                        <a:defRPr sz="1100" b="1"/>
                      </a:pP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sz="1200" dirty="0" err="1">
                          <a:solidFill>
                            <a:schemeClr val="tx1"/>
                          </a:solidFill>
                        </a:rPr>
                        <a:t>Tempoh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 err="1"/>
                        <a:t>Ketua</a:t>
                      </a:r>
                      <a:r>
                        <a:rPr dirty="0"/>
                        <a:t> </a:t>
                      </a:r>
                      <a:r>
                        <a:rPr lang="en-US" dirty="0" err="1"/>
                        <a:t>Sainstis</a:t>
                      </a:r>
                      <a:r>
                        <a:rPr dirty="0"/>
                        <a:t> / Consultant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Dashboard, crawl, briefing EXCO, War Room</a:t>
                      </a:r>
                      <a:r>
                        <a:rPr lang="en-US" dirty="0"/>
                        <a:t>, Maintenance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dirty="0"/>
                        <a:t>25,000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11,000</a:t>
                      </a:r>
                      <a:endParaRPr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12 Jun – </a:t>
                      </a:r>
                      <a:r>
                        <a:rPr lang="en-US" dirty="0"/>
                        <a:t>1 </a:t>
                      </a:r>
                      <a:r>
                        <a:rPr lang="en-US" dirty="0" err="1"/>
                        <a:t>Ogos</a:t>
                      </a:r>
                      <a:r>
                        <a:rPr lang="en-US" dirty="0"/>
                        <a:t> /2 </a:t>
                      </a:r>
                      <a:r>
                        <a:rPr lang="en-US" dirty="0" err="1"/>
                        <a:t>Ogos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dirty="0"/>
                        <a:t>GPU Spec – PC / Notebook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dirty="0"/>
                        <a:t>parallel crawling + inference + modelling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dirty="0"/>
                        <a:t>20,000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20,000</a:t>
                      </a:r>
                      <a:endParaRPr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en-US" dirty="0"/>
                        <a:t>One-time</a:t>
                      </a:r>
                    </a:p>
                    <a:p>
                      <a:pPr>
                        <a:defRPr sz="10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02195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Contingency (10%)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Crisis spike / crawl extra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dirty="0"/>
                        <a:t>6</a:t>
                      </a:r>
                      <a:r>
                        <a:rPr dirty="0"/>
                        <a:t>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3,500</a:t>
                      </a:r>
                      <a:endParaRPr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dirty="0"/>
                        <a:t>One-time 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211046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SUB-JUMLAH PERKHIDMATAN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lang="en-US" dirty="0"/>
                        <a:t>85,300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48,000</a:t>
                      </a:r>
                      <a:endParaRPr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3302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Terima Kasih</a:t>
            </a:r>
          </a:p>
          <a:p>
            <a:pPr algn="ctr">
              <a:defRPr sz="3200">
                <a:solidFill>
                  <a:srgbClr val="C8102E"/>
                </a:solidFill>
              </a:defRPr>
            </a:pPr>
            <a:r>
              <a:t>Soal Jawab</a:t>
            </a:r>
          </a:p>
          <a:p>
            <a:pPr algn="ctr">
              <a:defRPr sz="1800">
                <a:solidFill>
                  <a:srgbClr val="64748B"/>
                </a:solidFill>
              </a:defRPr>
            </a:pPr>
            <a:r>
              <a:t>InsightPulse · PRN Negeri Sembilan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Formula Keputusan Analitik — Dari Data ke Arahan EXCO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321040" cy="2913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3366"/>
                </a:solidFill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Pipeline 5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Lapisan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InsightPulse</a:t>
            </a:r>
            <a:endParaRPr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[1] CRAWL  → 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Apify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+ RSS (FB, TikTok, X, IG, Berita BM/Cina/Tamil)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[2] NLP/DL →  BERT/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RoBERTa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Sentimen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+ Emosi (per post)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[3] CONTEXT → Override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naratif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politik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(regex + domain rules)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[4] AGREGASI → Skor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kerusi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, %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, engagement,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isu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trending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[5] KEPUTUSAN → Ramalan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kerusi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+ Scenario S1–S5 + War Room Hari Ini</a:t>
            </a:r>
          </a:p>
          <a:p>
            <a:pPr>
              <a:spcAft>
                <a:spcPts val="600"/>
              </a:spcAft>
              <a:defRPr sz="1800">
                <a:solidFill>
                  <a:srgbClr val="003366"/>
                </a:solidFill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Formula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agregat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sentimen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(per DUN):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% = (post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/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jumlah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mention DUN) × 100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Positive% = (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positif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/ total) × 100   |   Neutral% = (neutral / total) × 100</a:t>
            </a:r>
          </a:p>
          <a:p>
            <a:pPr>
              <a:spcAft>
                <a:spcPts val="600"/>
              </a:spcAft>
              <a:defRPr sz="1800">
                <a:solidFill>
                  <a:srgbClr val="003366"/>
                </a:solidFill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NOTA EXCO: BUKAN polling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undi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— early warning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naratif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prioriti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6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kerusi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kritikal</a:t>
            </a:r>
            <a:endParaRPr sz="1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98079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Slide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Formulasi Deep Learning — Sentimen &amp; Emosi Multibahasa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321040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3366"/>
                </a:solidFill>
              </a:defRPr>
            </a:pPr>
            <a:r>
              <a:rPr sz="1350" dirty="0">
                <a:latin typeface="Calibri" panose="020F0502020204030204" pitchFamily="34" charset="0"/>
                <a:cs typeface="Calibri" panose="020F0502020204030204" pitchFamily="34" charset="0"/>
              </a:rPr>
              <a:t>Model DL (auto-route </a:t>
            </a:r>
            <a:r>
              <a:rPr sz="1350" dirty="0" err="1">
                <a:latin typeface="Calibri" panose="020F0502020204030204" pitchFamily="34" charset="0"/>
                <a:cs typeface="Calibri" panose="020F0502020204030204" pitchFamily="34" charset="0"/>
              </a:rPr>
              <a:t>ikut</a:t>
            </a:r>
            <a:r>
              <a:rPr sz="135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350" dirty="0" err="1">
                <a:latin typeface="Calibri" panose="020F0502020204030204" pitchFamily="34" charset="0"/>
                <a:cs typeface="Calibri" panose="020F0502020204030204" pitchFamily="34" charset="0"/>
              </a:rPr>
              <a:t>bahasa</a:t>
            </a:r>
            <a:r>
              <a:rPr sz="1350" dirty="0">
                <a:latin typeface="Calibri" panose="020F0502020204030204" pitchFamily="34" charset="0"/>
                <a:cs typeface="Calibri" panose="020F0502020204030204" pitchFamily="34" charset="0"/>
              </a:rPr>
              <a:t>):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rPr sz="1350" dirty="0" err="1">
                <a:latin typeface="Calibri" panose="020F0502020204030204" pitchFamily="34" charset="0"/>
                <a:cs typeface="Calibri" panose="020F0502020204030204" pitchFamily="34" charset="0"/>
              </a:rPr>
              <a:t>Melayu</a:t>
            </a:r>
            <a:r>
              <a:rPr sz="1350" dirty="0">
                <a:latin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sz="1350" dirty="0" err="1">
                <a:latin typeface="Calibri" panose="020F0502020204030204" pitchFamily="34" charset="0"/>
                <a:cs typeface="Calibri" panose="020F0502020204030204" pitchFamily="34" charset="0"/>
              </a:rPr>
              <a:t>rmtariq</a:t>
            </a:r>
            <a:r>
              <a:rPr sz="1350" dirty="0">
                <a:latin typeface="Calibri" panose="020F0502020204030204" pitchFamily="34" charset="0"/>
                <a:cs typeface="Calibri" panose="020F0502020204030204" pitchFamily="34" charset="0"/>
              </a:rPr>
              <a:t>/ft-Malay-</a:t>
            </a:r>
            <a:r>
              <a:rPr sz="1350" dirty="0" err="1">
                <a:latin typeface="Calibri" panose="020F0502020204030204" pitchFamily="34" charset="0"/>
                <a:cs typeface="Calibri" panose="020F0502020204030204" pitchFamily="34" charset="0"/>
              </a:rPr>
              <a:t>bert</a:t>
            </a:r>
            <a:r>
              <a:rPr sz="1350" dirty="0">
                <a:latin typeface="Calibri" panose="020F0502020204030204" pitchFamily="34" charset="0"/>
                <a:cs typeface="Calibri" panose="020F0502020204030204" pitchFamily="34" charset="0"/>
              </a:rPr>
              <a:t> (BERT)  |  English → twitter-</a:t>
            </a:r>
            <a:r>
              <a:rPr sz="1350" dirty="0" err="1">
                <a:latin typeface="Calibri" panose="020F0502020204030204" pitchFamily="34" charset="0"/>
                <a:cs typeface="Calibri" panose="020F0502020204030204" pitchFamily="34" charset="0"/>
              </a:rPr>
              <a:t>roberta</a:t>
            </a:r>
            <a:r>
              <a:rPr sz="1350" dirty="0">
                <a:latin typeface="Calibri" panose="020F0502020204030204" pitchFamily="34" charset="0"/>
                <a:cs typeface="Calibri" panose="020F0502020204030204" pitchFamily="34" charset="0"/>
              </a:rPr>
              <a:t>-sentiment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rPr sz="1350" dirty="0">
                <a:latin typeface="Calibri" panose="020F0502020204030204" pitchFamily="34" charset="0"/>
                <a:cs typeface="Calibri" panose="020F0502020204030204" pitchFamily="34" charset="0"/>
              </a:rPr>
              <a:t>Cina → </a:t>
            </a:r>
            <a:r>
              <a:rPr sz="1350" dirty="0" err="1">
                <a:latin typeface="Calibri" panose="020F0502020204030204" pitchFamily="34" charset="0"/>
                <a:cs typeface="Calibri" panose="020F0502020204030204" pitchFamily="34" charset="0"/>
              </a:rPr>
              <a:t>roberta-chinanews-chinese</a:t>
            </a:r>
            <a:r>
              <a:rPr sz="1350" dirty="0">
                <a:latin typeface="Calibri" panose="020F0502020204030204" pitchFamily="34" charset="0"/>
                <a:cs typeface="Calibri" panose="020F0502020204030204" pitchFamily="34" charset="0"/>
              </a:rPr>
              <a:t>  |  Fallback → </a:t>
            </a:r>
            <a:r>
              <a:rPr sz="1350" dirty="0" err="1">
                <a:latin typeface="Calibri" panose="020F0502020204030204" pitchFamily="34" charset="0"/>
                <a:cs typeface="Calibri" panose="020F0502020204030204" pitchFamily="34" charset="0"/>
              </a:rPr>
              <a:t>bert</a:t>
            </a:r>
            <a:r>
              <a:rPr sz="1350" dirty="0">
                <a:latin typeface="Calibri" panose="020F0502020204030204" pitchFamily="34" charset="0"/>
                <a:cs typeface="Calibri" panose="020F0502020204030204" pitchFamily="34" charset="0"/>
              </a:rPr>
              <a:t>-multilingual-sentiment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rPr sz="1350" dirty="0">
                <a:latin typeface="Calibri" panose="020F0502020204030204" pitchFamily="34" charset="0"/>
                <a:cs typeface="Calibri" panose="020F0502020204030204" pitchFamily="34" charset="0"/>
              </a:rPr>
              <a:t>Emosi → multilingual-emotion-classifier (XLM-</a:t>
            </a:r>
            <a:r>
              <a:rPr sz="1350" dirty="0" err="1">
                <a:latin typeface="Calibri" panose="020F0502020204030204" pitchFamily="34" charset="0"/>
                <a:cs typeface="Calibri" panose="020F0502020204030204" pitchFamily="34" charset="0"/>
              </a:rPr>
              <a:t>RoBERTa</a:t>
            </a:r>
            <a:r>
              <a:rPr sz="1350" dirty="0">
                <a:latin typeface="Calibri" panose="020F0502020204030204" pitchFamily="34" charset="0"/>
                <a:cs typeface="Calibri" panose="020F0502020204030204" pitchFamily="34" charset="0"/>
              </a:rPr>
              <a:t>, 8 </a:t>
            </a:r>
            <a:r>
              <a:rPr sz="1350" dirty="0" err="1">
                <a:latin typeface="Calibri" panose="020F0502020204030204" pitchFamily="34" charset="0"/>
                <a:cs typeface="Calibri" panose="020F0502020204030204" pitchFamily="34" charset="0"/>
              </a:rPr>
              <a:t>kelas</a:t>
            </a:r>
            <a:r>
              <a:rPr sz="135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sz="1350" dirty="0" err="1">
                <a:latin typeface="Calibri" panose="020F0502020204030204" pitchFamily="34" charset="0"/>
                <a:cs typeface="Calibri" panose="020F0502020204030204" pitchFamily="34" charset="0"/>
              </a:rPr>
              <a:t>Σ</a:t>
            </a:r>
            <a:r>
              <a:rPr sz="1350" dirty="0">
                <a:latin typeface="Calibri" panose="020F0502020204030204" pitchFamily="34" charset="0"/>
                <a:cs typeface="Calibri" panose="020F0502020204030204" pitchFamily="34" charset="0"/>
              </a:rPr>
              <a:t>=1.0)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ourier New"/>
              </a:defRPr>
            </a:pPr>
            <a:r>
              <a:rPr sz="1350" dirty="0" err="1">
                <a:latin typeface="Calibri" panose="020F0502020204030204" pitchFamily="34" charset="0"/>
                <a:cs typeface="Calibri" panose="020F0502020204030204" pitchFamily="34" charset="0"/>
              </a:rPr>
              <a:t>Arkitektur</a:t>
            </a:r>
            <a:r>
              <a:rPr sz="1350" dirty="0">
                <a:latin typeface="Calibri" panose="020F0502020204030204" pitchFamily="34" charset="0"/>
                <a:cs typeface="Calibri" panose="020F0502020204030204" pitchFamily="34" charset="0"/>
              </a:rPr>
              <a:t>: Input x → Tokenizer → BERT/</a:t>
            </a:r>
            <a:r>
              <a:rPr sz="1350" dirty="0" err="1">
                <a:latin typeface="Calibri" panose="020F0502020204030204" pitchFamily="34" charset="0"/>
                <a:cs typeface="Calibri" panose="020F0502020204030204" pitchFamily="34" charset="0"/>
              </a:rPr>
              <a:t>RoBERTa</a:t>
            </a:r>
            <a:r>
              <a:rPr sz="1350" dirty="0">
                <a:latin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sz="1350" dirty="0" err="1">
                <a:latin typeface="Calibri" panose="020F0502020204030204" pitchFamily="34" charset="0"/>
                <a:cs typeface="Calibri" panose="020F0502020204030204" pitchFamily="34" charset="0"/>
              </a:rPr>
              <a:t>Softmax</a:t>
            </a:r>
            <a:r>
              <a:rPr sz="1350" dirty="0">
                <a:latin typeface="Calibri" panose="020F0502020204030204" pitchFamily="34" charset="0"/>
                <a:cs typeface="Calibri" panose="020F0502020204030204" pitchFamily="34" charset="0"/>
              </a:rPr>
              <a:t> → P(</a:t>
            </a:r>
            <a:r>
              <a:rPr sz="1350" dirty="0" err="1">
                <a:latin typeface="Calibri" panose="020F0502020204030204" pitchFamily="34" charset="0"/>
                <a:cs typeface="Calibri" panose="020F0502020204030204" pitchFamily="34" charset="0"/>
              </a:rPr>
              <a:t>kelas</a:t>
            </a:r>
            <a:r>
              <a:rPr sz="135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rPr sz="1350" dirty="0">
                <a:latin typeface="Calibri" panose="020F0502020204030204" pitchFamily="34" charset="0"/>
                <a:cs typeface="Calibri" panose="020F0502020204030204" pitchFamily="34" charset="0"/>
              </a:rPr>
              <a:t>P(y=</a:t>
            </a:r>
            <a:r>
              <a:rPr sz="1350" dirty="0" err="1">
                <a:latin typeface="Calibri" panose="020F0502020204030204" pitchFamily="34" charset="0"/>
                <a:cs typeface="Calibri" panose="020F0502020204030204" pitchFamily="34" charset="0"/>
              </a:rPr>
              <a:t>c|x</a:t>
            </a:r>
            <a:r>
              <a:rPr sz="1350" dirty="0">
                <a:latin typeface="Calibri" panose="020F0502020204030204" pitchFamily="34" charset="0"/>
                <a:cs typeface="Calibri" panose="020F0502020204030204" pitchFamily="34" charset="0"/>
              </a:rPr>
              <a:t>) = exp(</a:t>
            </a:r>
            <a:r>
              <a:rPr sz="1350" dirty="0" err="1">
                <a:latin typeface="Calibri" panose="020F0502020204030204" pitchFamily="34" charset="0"/>
                <a:cs typeface="Calibri" panose="020F0502020204030204" pitchFamily="34" charset="0"/>
              </a:rPr>
              <a:t>z_c</a:t>
            </a:r>
            <a:r>
              <a:rPr sz="1350" dirty="0">
                <a:latin typeface="Calibri" panose="020F0502020204030204" pitchFamily="34" charset="0"/>
                <a:cs typeface="Calibri" panose="020F0502020204030204" pitchFamily="34" charset="0"/>
              </a:rPr>
              <a:t>) / </a:t>
            </a:r>
            <a:r>
              <a:rPr sz="1350" dirty="0" err="1">
                <a:latin typeface="Calibri" panose="020F0502020204030204" pitchFamily="34" charset="0"/>
                <a:cs typeface="Calibri" panose="020F0502020204030204" pitchFamily="34" charset="0"/>
              </a:rPr>
              <a:t>Σ</a:t>
            </a:r>
            <a:r>
              <a:rPr sz="1350" dirty="0">
                <a:latin typeface="Calibri" panose="020F0502020204030204" pitchFamily="34" charset="0"/>
                <a:cs typeface="Calibri" panose="020F0502020204030204" pitchFamily="34" charset="0"/>
              </a:rPr>
              <a:t>ⱼ exp(</a:t>
            </a:r>
            <a:r>
              <a:rPr sz="1350" dirty="0" err="1">
                <a:latin typeface="Calibri" panose="020F0502020204030204" pitchFamily="34" charset="0"/>
                <a:cs typeface="Calibri" panose="020F0502020204030204" pitchFamily="34" charset="0"/>
              </a:rPr>
              <a:t>z_j</a:t>
            </a:r>
            <a:r>
              <a:rPr sz="1350" dirty="0">
                <a:latin typeface="Calibri" panose="020F0502020204030204" pitchFamily="34" charset="0"/>
                <a:cs typeface="Calibri" panose="020F0502020204030204" pitchFamily="34" charset="0"/>
              </a:rPr>
              <a:t>)   |   label = argmax(P)   |   confidence = P(label)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ourier New"/>
              </a:defRPr>
            </a:pPr>
            <a:r>
              <a:rPr sz="1350" dirty="0">
                <a:latin typeface="Calibri" panose="020F0502020204030204" pitchFamily="34" charset="0"/>
                <a:cs typeface="Calibri" panose="020F0502020204030204" pitchFamily="34" charset="0"/>
              </a:rPr>
              <a:t>Routing: </a:t>
            </a:r>
            <a:r>
              <a:rPr sz="1350" dirty="0" err="1">
                <a:latin typeface="Calibri" panose="020F0502020204030204" pitchFamily="34" charset="0"/>
                <a:cs typeface="Calibri" panose="020F0502020204030204" pitchFamily="34" charset="0"/>
              </a:rPr>
              <a:t>detect_language</a:t>
            </a:r>
            <a:r>
              <a:rPr sz="1350" dirty="0">
                <a:latin typeface="Calibri" panose="020F0502020204030204" pitchFamily="34" charset="0"/>
                <a:cs typeface="Calibri" panose="020F0502020204030204" pitchFamily="34" charset="0"/>
              </a:rPr>
              <a:t>(x) → Model[lang](truncate(x, max=384 tokens))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rPr sz="1350" dirty="0" err="1">
                <a:latin typeface="Calibri" panose="020F0502020204030204" pitchFamily="34" charset="0"/>
                <a:cs typeface="Calibri" panose="020F0502020204030204" pitchFamily="34" charset="0"/>
              </a:rPr>
              <a:t>Emosi_dominan</a:t>
            </a:r>
            <a:r>
              <a:rPr sz="1350" dirty="0">
                <a:latin typeface="Calibri" panose="020F0502020204030204" pitchFamily="34" charset="0"/>
                <a:cs typeface="Calibri" panose="020F0502020204030204" pitchFamily="34" charset="0"/>
              </a:rPr>
              <a:t> = argmax(e)   |   </a:t>
            </a:r>
            <a:r>
              <a:rPr sz="1350" dirty="0" err="1">
                <a:latin typeface="Calibri" panose="020F0502020204030204" pitchFamily="34" charset="0"/>
                <a:cs typeface="Calibri" panose="020F0502020204030204" pitchFamily="34" charset="0"/>
              </a:rPr>
              <a:t>Keyakinan</a:t>
            </a:r>
            <a:r>
              <a:rPr sz="1350" dirty="0">
                <a:latin typeface="Calibri" panose="020F0502020204030204" pitchFamily="34" charset="0"/>
                <a:cs typeface="Calibri" panose="020F0502020204030204" pitchFamily="34" charset="0"/>
              </a:rPr>
              <a:t> = max(e)   |   Multi-</a:t>
            </a:r>
            <a:r>
              <a:rPr sz="1350" dirty="0" err="1">
                <a:latin typeface="Calibri" panose="020F0502020204030204" pitchFamily="34" charset="0"/>
                <a:cs typeface="Calibri" panose="020F0502020204030204" pitchFamily="34" charset="0"/>
              </a:rPr>
              <a:t>emosi</a:t>
            </a:r>
            <a:r>
              <a:rPr sz="135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350" dirty="0" err="1">
                <a:latin typeface="Calibri" panose="020F0502020204030204" pitchFamily="34" charset="0"/>
                <a:cs typeface="Calibri" panose="020F0502020204030204" pitchFamily="34" charset="0"/>
              </a:rPr>
              <a:t>jika</a:t>
            </a:r>
            <a:r>
              <a:rPr sz="135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350" dirty="0" err="1">
                <a:latin typeface="Calibri" panose="020F0502020204030204" pitchFamily="34" charset="0"/>
                <a:cs typeface="Calibri" panose="020F0502020204030204" pitchFamily="34" charset="0"/>
              </a:rPr>
              <a:t>selisih</a:t>
            </a:r>
            <a:r>
              <a:rPr sz="1350" dirty="0">
                <a:latin typeface="Calibri" panose="020F0502020204030204" pitchFamily="34" charset="0"/>
                <a:cs typeface="Calibri" panose="020F0502020204030204" pitchFamily="34" charset="0"/>
              </a:rPr>
              <a:t> &lt; 0.15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Slide 18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69F58F-CFE5-3501-2DB8-41F852D61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423" y="3182564"/>
            <a:ext cx="5842656" cy="33886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Formulasi ML — Skor Hibrid, Context Layer &amp;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321040" cy="293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3366"/>
                </a:solidFill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1. Label +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keyakinan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(output DL):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label = argmax(P+)   |   confidence = P(label)</a:t>
            </a:r>
          </a:p>
          <a:p>
            <a:pPr>
              <a:spcAft>
                <a:spcPts val="600"/>
              </a:spcAft>
              <a:defRPr sz="1800">
                <a:solidFill>
                  <a:srgbClr val="003366"/>
                </a:solidFill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2. Skor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numerik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hibrid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(0.0 – 1.0):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POSITIF:  score = 0.7 + (confidence × 0.3)   → 0.70 – 1.00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NEGATIF:  score = 0.3 − (confidence × 0.3)   → 0.00 – 0.30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NEUTRAL:  score = 0.5 (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tetap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ourier New"/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3. Political Context Layer: regex {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desak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ganti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pengkhianat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…} → override NEGATIF</a:t>
            </a:r>
          </a:p>
          <a:p>
            <a:pPr lvl="1"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Impak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ketepatan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70% → 85% (+15%) · F1 Negative 0.56 → 0.73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ourier New"/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4. Engagement: total = likes + shares + comments + (views ÷ 100)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5.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AvgSentiment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= (1/N) ×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Σ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sentiment_score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post_i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Slide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Formulasi Prediction — Kerusi DUN &amp; Scenario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321040" cy="229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ourier New"/>
              </a:defRPr>
            </a:pP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Kategori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margin: Ultra ≤199 | Super 200–499 | Marginal 500–999 | Semi 1K–3K | Selamat ≥3K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ourier New"/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Base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pasWinProb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(PAS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pencabar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): Ultra 52% | Super 48% | Marginal 44% | Semi 38% | Safe 28%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Defend (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kerusi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PAS):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pas_prob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= lookup(margin) + 6%  (max 88%)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Winnable: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pas_prob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= max(base, min(58, 46 + (1000 −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majoriti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)/25))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Floor: N03 ≥ 51% · N09 ≥ 50.5%  |  Clamp: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pas_prob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∈ [8%, 92%]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ourier New"/>
              </a:defRPr>
            </a:pP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Senario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: Solo = pas_prob−10  |  +PN = pas_prob+5  |  +MN = pas_prob+8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ourier New"/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Scenario Engine: S1 PN 35% | S2 Solo 20% | S3 PAS-UMNO 15% | S4 Clash 20% | S5 Fragment 10%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Swing target: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TargetSwing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= max(200, ⌊majoriti÷2⌋ + 200)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Slide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Formula Insight &amp; Keputusan War Room — Hari 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32104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3366"/>
                </a:solidFill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Alert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sentimen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per DUN: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neg_pct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= (post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/ mention DUN) × 100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neg_pct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≥ 25% → KRITIKAL  |  ≥ 15% → AMARAN  |  mention≥10 &amp; ≥10% → PANTAU</a:t>
            </a:r>
          </a:p>
          <a:p>
            <a:pPr>
              <a:spcAft>
                <a:spcPts val="600"/>
              </a:spcAft>
              <a:defRPr sz="1800">
                <a:solidFill>
                  <a:srgbClr val="003366"/>
                </a:solidFill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Trigger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automatik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defend +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neg_pct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&gt;20% → jaga base FELDA +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socmed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harian</a:t>
            </a:r>
            <a:endParaRPr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winnable + majoriti≤500 → door-to-door + 2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ceramah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minggu</a:t>
            </a:r>
            <a:endParaRPr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threeCornerRisk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=Tinggi →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elak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pecah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undi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selaraskan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mesej</a:t>
            </a:r>
            <a:endParaRPr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ourier New"/>
              </a:defRPr>
            </a:pP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TopIssues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= sort(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TermScore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, desc)[:8]  |  Briefing = f(neg%,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isu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pasWinProb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, scenario)</a:t>
            </a:r>
          </a:p>
          <a:p>
            <a:pPr lvl="1"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Contoh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: "N25 Paroi: 18%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· kos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hidup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· PAS prob 64% · S1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aktif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Slide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Jaminan Metodologi &amp; Had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321040" cy="2734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3366"/>
                </a:solidFill>
              </a:defRPr>
            </a:pP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Ketepatan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model (validated):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Sentimen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politik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: 70% → 85%  |  F1 Negative: 0.56 → 0.73  |  Emosi: 83%</a:t>
            </a:r>
          </a:p>
          <a:p>
            <a:pPr>
              <a:spcAft>
                <a:spcPts val="600"/>
              </a:spcAft>
              <a:defRPr sz="1800">
                <a:solidFill>
                  <a:srgbClr val="003366"/>
                </a:solidFill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Had yang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perlu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diterangkan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ke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EXCO:</a:t>
            </a:r>
          </a:p>
          <a:p>
            <a:pPr lvl="1"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Bukan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polling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undi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—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tiada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sampel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pengundi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representatif</a:t>
            </a:r>
            <a:endParaRPr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• DL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silap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sarkasme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mitigasi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: context layer +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semakan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manusia</a:t>
            </a:r>
            <a:endParaRPr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• Ramalan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kerusi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= rule-based + PRN 2023,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bukan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Monte Carlo survey</a:t>
            </a:r>
          </a:p>
          <a:p>
            <a:pPr>
              <a:spcAft>
                <a:spcPts val="600"/>
              </a:spcAft>
              <a:defRPr sz="1800">
                <a:solidFill>
                  <a:srgbClr val="003366"/>
                </a:solidFill>
              </a:defRPr>
            </a:pP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Prinsip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operasi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Data → DL/ML → Rules → Human Review → Arahan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Lapangan</a:t>
            </a:r>
            <a:endParaRPr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Auto crawl 2×/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hari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 →  Dashboard cloud  →  WhatsApp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petugas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DUN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Slide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986</TotalTime>
  <Words>1572</Words>
  <Application>Microsoft Macintosh PowerPoint</Application>
  <PresentationFormat>On-screen Show (4:3)</PresentationFormat>
  <Paragraphs>204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Raja Mohd Tariqi Raja Lope Ahmad</cp:lastModifiedBy>
  <cp:revision>4</cp:revision>
  <dcterms:created xsi:type="dcterms:W3CDTF">2013-01-27T09:14:16Z</dcterms:created>
  <dcterms:modified xsi:type="dcterms:W3CDTF">2026-06-13T01:18:04Z</dcterms:modified>
  <cp:category/>
</cp:coreProperties>
</file>