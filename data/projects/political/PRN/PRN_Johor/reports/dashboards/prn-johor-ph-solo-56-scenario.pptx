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PRN Johor 2026</a:t>
            </a:r>
          </a:p>
          <a:p>
            <a:pPr>
              <a:defRPr sz="2600">
                <a:solidFill>
                  <a:srgbClr val="BAE6FD"/>
                </a:solidFill>
              </a:defRPr>
            </a:pPr>
            <a:r>
              <a:t>Senario: PH Bertanding SOLO di Semua 56 Kerusi DUN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Analisis 2 konfigurasi lawan: (A) Muafakat PN+BN 1-vs-1 · (B) PN solo + BN solo 3-penjuru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InsightPulse Analytics · 2026-06-23 00:26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Konteks PRN Johor 2026 &amp; baseline PRN 2022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Andaian senario &amp; metodologi (data-driven, bukan polling SPR)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Senario A — PH solo vs Muafakat PN+BN (1 lawan 1)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Senario B — PH solo vs PN solo + BN solo (3 penjuru)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13 kerusi 'lantai' PH &amp; sebab 3-penjuru tidak untungkan PH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Implikasi strategik (PH &amp; pihak lawan) + nota penting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Konteks PRN Johor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56 kerusi DUN · majoriti untuk bentuk kerajaan: 29 · Mengundi: 11 Julai 2026</a:t>
            </a:r>
          </a:p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•  Baseline PRN Johor (12 Mac 2022): BN 40 · PH 12 · PN 3 · MUDA 1</a:t>
            </a:r>
          </a:p>
          <a:p>
            <a:pPr>
              <a:spcAft>
                <a:spcPts val="800"/>
              </a:spcAft>
              <a:defRPr sz="1400" b="1">
                <a:solidFill>
                  <a:srgbClr val="1A7F5A"/>
                </a:solidFill>
              </a:defRPr>
            </a:pPr>
            <a:r>
              <a:t>•  DISAHKAN (video rasmi Anwar Ibrahim, 22 Jun 2026): PH bertanding SOLO 56 kerusi — DAP 17, baki PKR + Amanah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PH solo bukan pilihan — pihak lawan tak mahu pakatan dengan PH</a:t>
            </a:r>
          </a:p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•  Lawan PH = UMNO/BN DAN PN (bertanding berasingan) → realistik 3 PENJURU</a:t>
            </a:r>
          </a:p>
          <a:p>
            <a:pPr>
              <a:spcAft>
                <a:spcPts val="800"/>
              </a:spcAft>
              <a:defRPr sz="1400" b="1">
                <a:solidFill>
                  <a:srgbClr val="B4780A"/>
                </a:solidFill>
              </a:defRPr>
            </a:pPr>
            <a:r>
              <a:t>•  Bahan ini analitik dalaman — anggaran model, bukan keputusan rasmi SPR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Andaian &amp; Metodologi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Hybrid model: baseline PRN 2022 (majoriti) + DOSM etnik + crawl socmed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Kekuatan pembangkang BERSATU (muafakat) = pasMnWinProb → Senario A (1-vs-1)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Kekuatan PN solo = pasSoloWinProb · BN solo = bnSoloWinProb → Senario B (3-penjuru)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Base PH (1-vs-1) dianggar = 100 − kekuatan muafakat pembangkang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Senario B = plurality 3 penjuru: pemenang = tertinggi antara PH / PN / BN</a:t>
            </a:r>
          </a:p>
          <a:p>
            <a:pPr>
              <a:spcAft>
                <a:spcPts val="800"/>
              </a:spcAft>
              <a:defRPr sz="1400" b="1">
                <a:solidFill>
                  <a:srgbClr val="B4780A"/>
                </a:solidFill>
              </a:defRPr>
            </a:pPr>
            <a:r>
              <a:t>•  Semua peratus = anggaran analitik; sah untuk perbincangan, bukan ramalan muktamad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Senario A — PH Solo vs Muafakat PN+BN (1 lawan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PH menang ~13 kerusi  ·  Muafakat PN+BN ~43 kerusi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Undi pembangkang/Melayu BERSATU di belakang satu calon — paling sukar untuk PH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PH hanya pertahankan kubu bandar / majoriti bukan-Melayu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Muafakat menyapu majoriti besar (43/56) — jauh melepasi ambang 29</a:t>
            </a:r>
          </a:p>
          <a:p>
            <a:pPr>
              <a:spcAft>
                <a:spcPts val="800"/>
              </a:spcAft>
              <a:defRPr sz="1500" b="1">
                <a:solidFill>
                  <a:srgbClr val="C8102E"/>
                </a:solidFill>
              </a:defRPr>
            </a:pPr>
            <a:r>
              <a:t>•  Risiko PH: kalah teruk jika pembangkang berjaya muafakat 1-vs-1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Senario B — PH Solo vs PN Solo + BN Solo (3 Penjuru)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A7F5A"/>
                </a:solidFill>
              </a:defRPr>
            </a:pPr>
            <a:r>
              <a:t>•  ★ KES ASAS REALISTIK — video rasmi: PH lawan BN DAN PN (bertanding berasingan)</a:t>
            </a:r>
          </a:p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•  Pemenang 3-penjuru: PN ~36 · PH ~13 · BN ~7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Pecahan undi berlaku di pihak LAWAN (PN vs BN), bukan memihak PH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PH TIDAK menang tambahan — base Melayu PH terlalu rendah pasca-2022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3-penjuru jadi pertarungan PN lwn BN untuk kerusi Melayu; PH kekal ~13</a:t>
            </a:r>
          </a:p>
          <a:p>
            <a:pPr>
              <a:spcAft>
                <a:spcPts val="800"/>
              </a:spcAft>
              <a:defRPr sz="1400" b="1">
                <a:solidFill>
                  <a:srgbClr val="1A7F5A"/>
                </a:solidFill>
              </a:defRPr>
            </a:pPr>
            <a:r>
              <a:t>•  Insight: split lawan ialah masalah PN-BN, bukan durian runtuh untuk 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Perbandingan Ringkas — 56 Kerusi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97280"/>
                <a:gridCol w="1097280"/>
                <a:gridCol w="2377440"/>
                <a:gridCol w="3200400"/>
              </a:tblGrid>
              <a:tr h="33375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Senario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Muafakat (PN+BN)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Catatan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PRN 2022 (rasmi)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BN dominan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 · Muafakat 1-vs-1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Lawan bersatu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 · 3 penjuru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Lawan berpecah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Kesimpulan: jumlah kerusi PH hampir sama (~13) dalam kedua-dua senario. Perbezaan utama hanya pada PEMBAHAGIAN kerusi pembangkang.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13 Kerusi 'Lantai' PH (Menang Walau Lawan Bersatu)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896112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2377440"/>
                <a:gridCol w="1188720"/>
                <a:gridCol w="1463040"/>
              </a:tblGrid>
              <a:tr h="31742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Daerah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 base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N02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Jementah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Segamat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Tangkak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Tangkak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N12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Bentayan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Muar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Simpang Jeram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N23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Penggaram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Batu Pahat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Mengkibol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Kluang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N41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Puteri Wangsa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Johor Bahru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MUDA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Johor Jaya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Johor Bahru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N45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Stulang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Johor Bahru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Perling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Johor Bahru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N48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Skudai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Johor Bahru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174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Bukit Batu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Kulai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743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N52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Senai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Kulai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Mengapa 3-Penjuru Tidak Untungkan 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Di kerusi Melayu majoriti, base PH (anggaran 1-vs-1) lebih rendah daripada PN solo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Walau lawan berpecah, undi PH masih tidak cukup untuk plurality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Sebaliknya PN paling untung daripada split (warisi undi Melayu konservatif)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 Kerusi 'stretch' PH (paling rapat dalam 3-penjuru) — perlu Madani pulih + split tajam: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383280"/>
          <a:ext cx="10424160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2194560"/>
                <a:gridCol w="1188720"/>
                <a:gridCol w="1188720"/>
                <a:gridCol w="1188720"/>
                <a:gridCol w="1188720"/>
              </a:tblGrid>
              <a:tr h="32105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Daerah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1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N04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Kemelah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Segamat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 14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PN 15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BN 47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gap 33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1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Tenggaroh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Mersing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PN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BN 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gap 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1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N07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Bukit Kepong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Muar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 28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PN 61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BN 16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gap 33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1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Bekok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Segamat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PN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BN 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gap 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1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N30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Paloh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Kluang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 15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PN 13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BN 54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gap 39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1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Pekan Nanas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Pontian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PN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BN 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gap 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1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N19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Yong Peng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Batu Pahat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 15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PN 13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BN 54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gap 39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1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Buloh Kasap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Segamat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PH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PN 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BN 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gap 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Implikasi Strategik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3366"/>
                </a:solidFill>
              </a:defRPr>
            </a:pPr>
            <a:r>
              <a:t>•  UNTUK PH: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t>•  Solo 56 = berisiko tinggi; fokus PERTAHAN ~13 kubu bandar (JB, Kulai, Skudai, Muar bandar)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t>•  Jangan over-extend sumber ke kerusi Melayu majoriti yang sukar 1-vs-1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t>•  Harapan terbaik PH = pembangkang GAGAL muafakat (3-penjuru) + naratif Madani pulih</a:t>
            </a:r>
          </a:p>
          <a:p>
            <a:pPr>
              <a:spcAft>
                <a:spcPts val="800"/>
              </a:spcAft>
              <a:defRPr sz="1300" b="1">
                <a:solidFill>
                  <a:srgbClr val="003366"/>
                </a:solidFill>
              </a:defRPr>
            </a:pPr>
            <a:r>
              <a:t>•  UNTUK PIHAK LAWAN (PN/BN):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t>•  Muafakat 1-vs-1 = pulangan maksimum (~43 kerusi) &amp; elak pecah undi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t>•  Gagal muafakat → PN vs BN saling makan; PN cenderung paling untung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Pecahan Ikut Daerah (Senario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1143000"/>
          <a:ext cx="658368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737360"/>
                <a:gridCol w="1737360"/>
              </a:tblGrid>
              <a:tr h="31851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Daerah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 lantai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Lawan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185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Batu Pahat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185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Iskandar Puteri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5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Johor Bahru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185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Kluang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5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Kota Tinggi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185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Kulai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5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Mersing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185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5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Pontian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185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Segamat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52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Tangkak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Justifikasi Terperinci — 56 DUN Johor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Satu slaid setiap DUN: baseline 2022 · etnik daerah · senario A &amp; B · tindakan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Kubu PH (lantai) ditanda PERTAHAN; kerusi lawan ditanda STRETCH / LAWAN KUAT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Susunan ikut kod DUN (N01–N56)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N01 Buloh Kasap — Segamat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5,377    |    Etnik (daerah): Melayu 56% · Cina 34% · India 8%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52% · BN 48%.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N02 Jementah — Segamat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714    |    Etnik (daerah): Melayu 56% · Cina 34% · India 8%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34% · India 8% · Melayu 56%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N03 Pemanis — Segamat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4,187    |    Etnik (daerah): Melayu 56% · Cina 34% · India 8%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N04 Kemelah — Segamat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1,611    |    Etnik (daerah): Melayu 56% · Cina 34% · India 8%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BN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BN kekal kuat (legasi tempatan) — bukan medan PH.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14% · PN 15% · BN 47%.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N05 Tenang — Segamat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1,736    |    Etnik (daerah): Melayu 56% · Cina 34% · India 8%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10% · PN 56% · BN 44%.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N06 Bekok — Segamat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3,569    |    Etnik (daerah): Melayu 56% · Cina 34% · India 8%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BN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BN kekal kuat (legasi tempatan) — bukan medan PH.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15% · PN 13% · BN 54%.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N07 Bukit Kepong — Muar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PN · majoriti 710    |    Etnik (daerah): Melayu 62% · Cina 36%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62%: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28% · PN 61% · BN 16%.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N08 Bukit Pasir — Muar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198    |    Etnik (daerah): Melayu 62% · Cina 36%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62%: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9% · PN 58% · BN 42%.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N09 Gambir — Tangkak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3,146    |    Etnik (daerah): Melayu 66% · Cina 28% · India 5%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53% · BN 47%.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N10 Tangkak — Tangkak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372    |    Etnik (daerah): Melayu 66% · Cina 28% · India 5%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28% · India 5% · Melayu 66%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N11 Serom — Tangkak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699    |    Etnik (daerah): Melayu 66% · Cina 28% · India 5%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10% · PN 56% · BN 44%.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N12 Bentayan — Muar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7,476    |    Etnik (daerah): Melayu 62% · Cina 36% · India 2%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36% · India 2% · Melayu 62%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N13 Simpang Jeram — Muar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2,399    |    Etnik (daerah): Melayu 62% · Cina 36% · India 2%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36% · India 2% · Melayu 62%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N14 Bukit Naning — Muar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1,535    |    Etnik (daerah): Melayu 62% · Cina 36%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62%: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10% · PN 56% · BN 44%.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N15 Maharani — Muar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PN · majoriti 1,037    |    Etnik (daerah): Melayu 62% · Cina 36%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62%: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18% · PN 81% · BN 8%.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N16 Sungai Balang — Muar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2,293    |    Etnik (daerah): Melayu 62% · Cina 36%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62%: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N17 Semerah — Batu Pahat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4,041    |    Etnik (daerah): Melayu 67% · Cina 30%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67%: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N18 Sri Medan — Batu Pahat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6,274    |    Etnik (daerah): Melayu 67% · Cina 30%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67%: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N19 Yong Peng — Batu Pahat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2,741    |    Etnik (daerah): Melayu 67% · Cina 30%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BN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67%: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BN kekal kuat (legasi tempatan) — bukan medan PH.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15% · PN 13% · BN 54%.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N20 Semarang — Batu Pahat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5,846    |    Etnik (daerah): Melayu 67% · Cina 30%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67%: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N21 Parit Yaani — Batu Pahat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294    |    Etnik (daerah): Melayu 67% · Cina 30%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67%: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9% · PN 56% · BN 44%.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N22 Parit Raja — Batu Pahat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4,219    |    Etnik (daerah): Melayu 67% · Cina 30%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67%: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53% · BN 47%.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N23 Penggaram — Batu Pahat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9,956    |    Etnik (daerah): Melayu 67% · Cina 30% · India 2%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30% · India 2% · Melayu 67%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N24 Senggarang — Batu Pahat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3,912    |    Etnik (daerah): Melayu 67% · Cina 30%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67%: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N25 Rengit — Batu Pahat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1,920    |    Etnik (daerah): Melayu 67% · Cina 30% · India 2%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67%: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10% · PN 56% · BN 44%.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N26 Machap — Kluang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6,543    |    Etnik (daerah): Melayu 58% · Cina 32% · India 9%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58%: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N27 Layang-Layang — Kluang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2,815    |    Etnik (daerah): Melayu 58% · Cina 32% · India 9%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58%: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N28 Mengkibol — Kluang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10,107    |    Etnik (daerah): Melayu 58% · Cina 32% · India 9%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32% · India 9% · Melayu 58%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N29 Mahkota — Kluang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5,166    |    Etnik (daerah): Melayu 58% · Cina 32% · India 9%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58%: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52% · BN 48%.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N30 Paloh — Kluang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3,176    |    Etnik (daerah): Melayu 58% · Cina 32% · India 9%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BN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58%: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BN kekal kuat (legasi tempatan) — bukan medan PH.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15% · PN 13% · BN 54%.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N31 Kahang — Kluang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6,698    |    Etnik (daerah): Melayu 58% · Cina 32% · India 9%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BN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58%: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BN kekal kuat (legasi tempatan) — bukan medan PH.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15% · PN 11% · BN 62%.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N32 Endau — Mersing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PN · majoriti 3,041    |    Etnik (daerah): Melayu 85% · Cina 10% · India 1%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85%: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23% · PN 66% · BN 14%.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N33 Tenggaroh — Mersing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1,356    |    Etnik (daerah): Melayu 85% · Cina 10% · India 1%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BN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85%: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BN kekal kuat (legasi tempatan) — bukan medan PH.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14% · PN 16% · BN 47%.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N34 Panti — Kota Tinggi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5,854    |    Etnik (daerah): Melayu 86% · Cina 9% · India 3%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86%: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N35 Pasir Raja — Kota Tinggi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4,888    |    Etnik (daerah): Melayu 86% · Cina 9% · India 3%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86%: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N36 Sedili — Kota Tinggi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5,679    |    Etnik (daerah): Melayu 86% · Cina 9% · India 3%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86%: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N37 Johor Lama — Kota Tinggi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6,039    |    Etnik (daerah): Melayu 86% · Cina 9% · India 3%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86%: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52% · BN 48%.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N38 Penawar — Kota Tinggi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7,505    |    Etnik (daerah): Melayu 86% · Cina 9% · India 3%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86%: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N39 Tanjung Surat — Kota Tinggi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5,903    |    Etnik (daerah): Melayu 86% · Cina 9% · India 3%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86%: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N40 Tiram — Johor Bahru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5,281    |    Etnik (daerah): Melayu 50% · Cina 38% · India 9%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50%: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52% · BN 48%.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N41 Puteri Wangsa — Johor Bahru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MUDA · majoriti 7,114    |    Etnik (daerah): Melayu 50% · Cina 38% · India 9%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38% · India 9% · Melayu 50%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N42 Johor Jaya — Johor Bahru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1,922    |    Etnik (daerah): Melayu 50% · Cina 38% · India 9%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38% · India 9% · Melayu 50%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N43 Permas — Johor Bahru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7,926    |    Etnik (daerah): Melayu 50% · Cina 38% · India 9%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50%: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52% · BN 48%.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N44 Larkin — Johor Bahru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6,178    |    Etnik (daerah): Melayu 50% · Cina 38% · India 9%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50%: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N45 Stulang — Johor Bahru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2,866    |    Etnik (daerah): Melayu 50% · Cina 38% · India 9%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38% · India 9% · Melayu 50%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N46 Perling — Johor Bahru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3,347    |    Etnik (daerah): Melayu 50% · Cina 38% · India 9%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38% · India 9% · Melayu 50%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N47 Kempas — Johor Bahru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3,514    |    Etnik (daerah): Melayu 50% · Cina 38% · India 9%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50%: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N48 Skudai — Johor Bahru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13,943    |    Etnik (daerah): Melayu 50% · Cina 38% · India 9%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38% · India 9% · Melayu 50%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N49 Kota Iskandar — Iskandar Puteri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4,360    |    Etnik (daerah): Melayu 0% · Cina 0% · India 0%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0%: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53% · BN 47%.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N50 Bukit Permai — Kulai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4,755    |    Etnik (daerah): Melayu 54% · Cina 34% · India 11%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54%: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53% · BN 47%.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N51 Bukit Batu — Kulai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137    |    Etnik (daerah): Melayu 54% · Cina 34% · India 11%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34% · India 11% · Melayu 54%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N52 Senai — Kulai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PH · majoriti 5,921    |    Etnik (daerah): Melayu 54% · Cina 34% · India 11%</a:t>
            </a:r>
          </a:p>
          <a:p>
            <a:pPr>
              <a:defRPr sz="1400" b="1">
                <a:solidFill>
                  <a:srgbClr val="1A7F5A"/>
                </a:solidFill>
              </a:defRPr>
            </a:pPr>
            <a:r>
              <a:t>Senario A (1-vs-1): PH MENANG    ·    Senario B (3-penjuru): PH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Kubu PH: Cina 34% · India 11% · Melayu 54% — base bandar/bukan-Melayu kuat.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Menang walau pembangkang berjaya muafakat 1-lawan-1.</a:t>
            </a:r>
          </a:p>
          <a:p>
            <a:pPr>
              <a:spcAft>
                <a:spcPts val="800"/>
              </a:spcAft>
              <a:defRPr sz="1500" b="1">
                <a:solidFill>
                  <a:srgbClr val="1A7F5A"/>
                </a:solidFill>
              </a:defRPr>
            </a:pPr>
            <a:r>
              <a:t>•  Tindakan: PERTAHAN — jentera padat, jaga keluar mengundi bandar.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N53 Benut — Pontian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5,859    |    Etnik (daerah): Melayu 71% · Cina 27% · India 1%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71%: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N54 Pulai Sebatang — Pontian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6,325    |    Etnik (daerah): Melayu 71% · Cina 27% · India 1%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71%: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52% · BN 48%.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N55 Pekan Nanas — Pontian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4,835    |    Etnik (daerah): Melayu 71% · Cina 27% · India 1%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BN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71%: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BN kekal kuat (legasi tempatan) — bukan medan PH.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15% · PN 13% · BN 54%.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N56 Kukup — Pontian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PRN 2022: BN · majoriti 8,201    |    Etnik (daerah): Melayu 71% · Cina 27% · India 1%</a:t>
            </a:r>
          </a:p>
          <a:p>
            <a:pPr>
              <a:defRPr sz="1400" b="1">
                <a:solidFill>
                  <a:srgbClr val="B4780A"/>
                </a:solidFill>
              </a:defRPr>
            </a:pPr>
            <a:r>
              <a:t>Senario A (1-vs-1): Muafakat menang    ·    Senario B (3-penjuru): PN teratas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Melayu 71%: undi Melayu dominan — sukar untuk PH dalam 1-lawan-1.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3-penjuru: PN paling untung warisi undi Melayu konservatif.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•  Anggaran: PH 11% · PN 54% · BN 46%.</a:t>
            </a:r>
          </a:p>
          <a:p>
            <a:pPr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•  Tindakan: LAWAN KUAT — fokus naratif, jangan over-extend sumber.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01168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Bloc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Anggaran 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1-vs-1 (muafakat)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3-penjuru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kalah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PN solo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teratas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BN solo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Muafakat PN+BN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(berpecah)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Nota Penting &amp; Penafian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PRN Johor 2026 · Analitik Dalaman — Anggaran, bukan keputusan SPR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7F5A"/>
                </a:solidFill>
              </a:defRPr>
            </a:pPr>
            <a:r>
              <a:t>•  DISAHKAN: PH solo 56 — video rasmi Anwar Ibrahim, 22 Jun 2026 (mengundi 11 Julai)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t>•  Angka = anggaran model hybrid (PRN 2022 + DOSM + socmed) — BUKAN keputusan SPR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t>•  Base PH dianggar daripada kekuatan muafakat pembangkang; sensitif kepada gelombang Madani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t>•  Jika sokongan PH pulih lebih kuat daripada andaian, siling PH boleh naik melepasi 13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t>•  BN &amp; PN bertanding berasingan → Senario B (3-penjuru) ialah kes asas realistik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t>•  Konfigurasi calon penuh (penamaan 28 Jun) boleh laras dinamik per-DUN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Terima Kasih</a:t>
            </a:r>
          </a:p>
          <a:p>
            <a:pPr>
              <a:defRPr sz="1600">
                <a:solidFill>
                  <a:srgbClr val="BAE6FD"/>
                </a:solidFill>
              </a:defRPr>
            </a:pPr>
            <a:r>
              <a:t>InsightPulse · Sokong Keputusan dengan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