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1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05840"/>
            <a:ext cx="82296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3366"/>
                </a:solidFill>
              </a:defRPr>
            </a:pPr>
            <a:r>
              <a:rPr dirty="0" err="1"/>
              <a:t>Monarki</a:t>
            </a:r>
            <a:r>
              <a:rPr dirty="0"/>
              <a:t>, Adat &amp; MN N9</a:t>
            </a:r>
            <a:endParaRPr lang="en-US" dirty="0"/>
          </a:p>
          <a:p>
            <a:pPr>
              <a:spcAft>
                <a:spcPts val="800"/>
              </a:spcAft>
              <a:defRPr sz="1900" b="0">
                <a:solidFill>
                  <a:srgbClr val="16A34A"/>
                </a:solidFill>
              </a:defRPr>
            </a:pPr>
            <a:r>
              <a:rPr lang="en-US" dirty="0"/>
              <a:t>Brief </a:t>
            </a:r>
            <a:r>
              <a:rPr lang="en-US" dirty="0" err="1"/>
              <a:t>Strategik</a:t>
            </a:r>
            <a:r>
              <a:rPr lang="en-US" dirty="0"/>
              <a:t> PAS/MN — Insight +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606040"/>
            <a:ext cx="8229600" cy="1737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rPr dirty="0" err="1"/>
              <a:t>Gabungan</a:t>
            </a:r>
            <a:r>
              <a:rPr dirty="0"/>
              <a:t> poll MN + 5 keyword </a:t>
            </a:r>
            <a:r>
              <a:rPr dirty="0" err="1"/>
              <a:t>monarki</a:t>
            </a:r>
            <a:r>
              <a:rPr dirty="0"/>
              <a:t> + model </a:t>
            </a:r>
            <a:r>
              <a:rPr dirty="0" err="1"/>
              <a:t>kerusi</a:t>
            </a:r>
            <a:r>
              <a:rPr dirty="0"/>
              <a:t> N9</a:t>
            </a:r>
          </a:p>
          <a:p>
            <a:pPr>
              <a:spcAft>
                <a:spcPts val="800"/>
              </a:spcAft>
              <a:defRPr sz="1300" b="0">
                <a:solidFill>
                  <a:srgbClr val="64748B"/>
                </a:solidFill>
              </a:defRPr>
            </a:pPr>
            <a:r>
              <a:rPr lang="en-US" dirty="0"/>
              <a:t>Dijana 2026-07-05 02:31 · </a:t>
            </a:r>
            <a:r>
              <a:rPr dirty="0" err="1"/>
              <a:t>Majoriti</a:t>
            </a:r>
            <a:r>
              <a:rPr dirty="0"/>
              <a:t> DUN = 19 · </a:t>
            </a:r>
            <a:r>
              <a:rPr dirty="0" err="1"/>
              <a:t>Sasaran</a:t>
            </a:r>
            <a:r>
              <a:rPr dirty="0"/>
              <a:t> </a:t>
            </a:r>
            <a:r>
              <a:rPr dirty="0" err="1"/>
              <a:t>operasi</a:t>
            </a:r>
            <a:r>
              <a:rPr dirty="0"/>
              <a:t> MN = 20 </a:t>
            </a:r>
            <a:r>
              <a:rPr dirty="0" err="1"/>
              <a:t>kerusi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Nasihat Strategik HQ — Main Isu Adat atau Tidak?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• </a:t>
            </a:r>
            <a:r>
              <a:rPr sz="1500" dirty="0" err="1"/>
              <a:t>Naratif</a:t>
            </a:r>
            <a:r>
              <a:rPr sz="1500" dirty="0"/>
              <a:t> UTAMA </a:t>
            </a:r>
            <a:r>
              <a:rPr sz="1500" dirty="0" err="1"/>
              <a:t>kempen</a:t>
            </a:r>
            <a:r>
              <a:rPr sz="1500" dirty="0"/>
              <a:t> = MN </a:t>
            </a:r>
            <a:r>
              <a:rPr sz="1500" dirty="0" err="1"/>
              <a:t>lawan</a:t>
            </a:r>
            <a:r>
              <a:rPr sz="1500" dirty="0"/>
              <a:t> PH (Poll PM: ~89% </a:t>
            </a:r>
            <a:r>
              <a:rPr sz="1500" dirty="0" err="1"/>
              <a:t>sokong</a:t>
            </a:r>
            <a:r>
              <a:rPr sz="1500" dirty="0"/>
              <a:t>) —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lawan</a:t>
            </a:r>
            <a:r>
              <a:rPr sz="1500" dirty="0"/>
              <a:t> YDPB/</a:t>
            </a:r>
            <a:r>
              <a:rPr sz="1500" dirty="0" err="1"/>
              <a:t>Undang</a:t>
            </a:r>
            <a:r>
              <a:rPr sz="1500" dirty="0"/>
              <a:t>.</a:t>
            </a:r>
          </a:p>
          <a:p>
            <a:pPr>
              <a:spcAft>
                <a:spcPts val="1000"/>
              </a:spcAft>
              <a:defRPr sz="1500" b="1">
                <a:solidFill>
                  <a:srgbClr val="C8102E"/>
                </a:solidFill>
              </a:defRPr>
            </a:pPr>
            <a:r>
              <a:rPr sz="1500" dirty="0"/>
              <a:t>JANGAN </a:t>
            </a:r>
            <a:r>
              <a:rPr sz="1500" dirty="0" err="1"/>
              <a:t>jadikan</a:t>
            </a:r>
            <a:r>
              <a:rPr sz="1500" dirty="0"/>
              <a:t> </a:t>
            </a:r>
            <a:r>
              <a:rPr sz="1500" dirty="0" err="1"/>
              <a:t>krisis</a:t>
            </a:r>
            <a:r>
              <a:rPr sz="1500" dirty="0"/>
              <a:t> </a:t>
            </a:r>
            <a:r>
              <a:rPr sz="1500" dirty="0" err="1"/>
              <a:t>adat</a:t>
            </a:r>
            <a:r>
              <a:rPr sz="1500" dirty="0"/>
              <a:t> </a:t>
            </a:r>
            <a:r>
              <a:rPr sz="1500" dirty="0" err="1"/>
              <a:t>sebagai</a:t>
            </a:r>
            <a:r>
              <a:rPr sz="1500" dirty="0"/>
              <a:t> SENJATA SERANGAN </a:t>
            </a:r>
            <a:r>
              <a:rPr sz="1500" dirty="0" err="1"/>
              <a:t>terbuka</a:t>
            </a:r>
            <a:r>
              <a:rPr sz="1500" dirty="0"/>
              <a:t> </a:t>
            </a:r>
            <a:r>
              <a:rPr sz="1500" dirty="0" err="1"/>
              <a:t>terhadap</a:t>
            </a:r>
            <a:r>
              <a:rPr sz="1500" dirty="0"/>
              <a:t> MB/PH </a:t>
            </a:r>
            <a:r>
              <a:rPr sz="1500" dirty="0" err="1"/>
              <a:t>dalam</a:t>
            </a:r>
            <a:r>
              <a:rPr sz="1500" dirty="0"/>
              <a:t> </a:t>
            </a:r>
            <a:r>
              <a:rPr sz="1500" dirty="0" err="1"/>
              <a:t>ceramah</a:t>
            </a:r>
            <a:r>
              <a:rPr sz="1500" dirty="0"/>
              <a:t>.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 err="1"/>
              <a:t>Sebab</a:t>
            </a:r>
            <a:r>
              <a:rPr sz="1500" dirty="0"/>
              <a:t>: K2–K3 </a:t>
            </a:r>
            <a:r>
              <a:rPr sz="1500" dirty="0" err="1"/>
              <a:t>negatif</a:t>
            </a:r>
            <a:r>
              <a:rPr sz="1500" dirty="0"/>
              <a:t> 52–54% — </a:t>
            </a:r>
            <a:r>
              <a:rPr sz="1500" dirty="0" err="1"/>
              <a:t>audiens</a:t>
            </a:r>
            <a:r>
              <a:rPr sz="1500" dirty="0"/>
              <a:t> </a:t>
            </a:r>
            <a:r>
              <a:rPr sz="1500" dirty="0" err="1"/>
              <a:t>Melayu</a:t>
            </a:r>
            <a:r>
              <a:rPr sz="1500" dirty="0"/>
              <a:t> </a:t>
            </a:r>
            <a:r>
              <a:rPr sz="1500" dirty="0" err="1"/>
              <a:t>marah</a:t>
            </a:r>
            <a:r>
              <a:rPr sz="1500" dirty="0"/>
              <a:t>/confused; MN </a:t>
            </a:r>
            <a:r>
              <a:rPr sz="1500" dirty="0" err="1"/>
              <a:t>risiko</a:t>
            </a:r>
            <a:r>
              <a:rPr sz="1500" dirty="0"/>
              <a:t> </a:t>
            </a:r>
            <a:r>
              <a:rPr sz="1500" dirty="0" err="1"/>
              <a:t>dilihat</a:t>
            </a:r>
            <a:r>
              <a:rPr sz="1500" dirty="0"/>
              <a:t> </a:t>
            </a:r>
            <a:r>
              <a:rPr sz="1500" dirty="0" err="1"/>
              <a:t>mempolitikkan</a:t>
            </a:r>
            <a:r>
              <a:rPr sz="1500" dirty="0"/>
              <a:t> </a:t>
            </a:r>
            <a:r>
              <a:rPr sz="1500" dirty="0" err="1"/>
              <a:t>istana</a:t>
            </a:r>
            <a:r>
              <a:rPr sz="1500" dirty="0"/>
              <a:t>.</a:t>
            </a:r>
          </a:p>
          <a:p>
            <a:pPr>
              <a:spcAft>
                <a:spcPts val="600"/>
              </a:spcAft>
              <a:defRPr sz="1500" b="1">
                <a:solidFill>
                  <a:srgbClr val="16A34A"/>
                </a:solidFill>
              </a:defRPr>
            </a:pPr>
            <a:r>
              <a:rPr sz="1500" dirty="0"/>
              <a:t>BOLEH &amp; PATUT: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• Isu </a:t>
            </a:r>
            <a:r>
              <a:rPr sz="1500" dirty="0" err="1"/>
              <a:t>adat</a:t>
            </a:r>
            <a:r>
              <a:rPr sz="1500" dirty="0"/>
              <a:t> = </a:t>
            </a:r>
            <a:r>
              <a:rPr sz="1500" dirty="0" err="1"/>
              <a:t>naratif</a:t>
            </a:r>
            <a:r>
              <a:rPr sz="1500" dirty="0"/>
              <a:t> SEKUNDER, </a:t>
            </a:r>
            <a:r>
              <a:rPr sz="1500" dirty="0" err="1"/>
              <a:t>defensif</a:t>
            </a:r>
            <a:r>
              <a:rPr sz="1500" dirty="0"/>
              <a:t>: «</a:t>
            </a:r>
            <a:r>
              <a:rPr sz="1500" dirty="0" err="1"/>
              <a:t>hormati</a:t>
            </a:r>
            <a:r>
              <a:rPr sz="1500" dirty="0"/>
              <a:t> proses </a:t>
            </a:r>
            <a:r>
              <a:rPr sz="1500" dirty="0" err="1"/>
              <a:t>adat</a:t>
            </a:r>
            <a:r>
              <a:rPr sz="1500" dirty="0"/>
              <a:t> · </a:t>
            </a:r>
            <a:r>
              <a:rPr sz="1500" dirty="0" err="1"/>
              <a:t>stabil</a:t>
            </a:r>
            <a:r>
              <a:rPr sz="1500" dirty="0"/>
              <a:t> · </a:t>
            </a:r>
            <a:r>
              <a:rPr sz="1500" dirty="0" err="1"/>
              <a:t>jangan</a:t>
            </a:r>
            <a:r>
              <a:rPr sz="1500" dirty="0"/>
              <a:t> </a:t>
            </a:r>
            <a:r>
              <a:rPr sz="1500" dirty="0" err="1"/>
              <a:t>pecah</a:t>
            </a:r>
            <a:r>
              <a:rPr sz="1500" dirty="0"/>
              <a:t> </a:t>
            </a:r>
            <a:r>
              <a:rPr sz="1500" dirty="0" err="1"/>
              <a:t>Melayu</a:t>
            </a:r>
            <a:r>
              <a:rPr sz="1500" dirty="0"/>
              <a:t>».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• Micro-target ~10 DUN </a:t>
            </a:r>
            <a:r>
              <a:rPr sz="1500" dirty="0" err="1"/>
              <a:t>zon</a:t>
            </a:r>
            <a:r>
              <a:rPr sz="1500" dirty="0"/>
              <a:t> </a:t>
            </a:r>
            <a:r>
              <a:rPr sz="1500" dirty="0" err="1"/>
              <a:t>Undang</a:t>
            </a:r>
            <a:r>
              <a:rPr sz="1500" dirty="0"/>
              <a:t> </a:t>
            </a:r>
            <a:r>
              <a:rPr sz="1500" dirty="0" err="1"/>
              <a:t>sahaja</a:t>
            </a:r>
            <a:r>
              <a:rPr sz="1500" dirty="0"/>
              <a:t> — </a:t>
            </a:r>
            <a:r>
              <a:rPr sz="1500" dirty="0" err="1"/>
              <a:t>bukan</a:t>
            </a:r>
            <a:r>
              <a:rPr sz="1500" dirty="0"/>
              <a:t> 32 DUN.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• </a:t>
            </a:r>
            <a:r>
              <a:rPr sz="1500" dirty="0" err="1"/>
              <a:t>Edukasi</a:t>
            </a:r>
            <a:r>
              <a:rPr sz="1500" dirty="0"/>
              <a:t> 1-pager </a:t>
            </a:r>
            <a:r>
              <a:rPr sz="1500" dirty="0" err="1"/>
              <a:t>adat</a:t>
            </a:r>
            <a:r>
              <a:rPr sz="1500" dirty="0"/>
              <a:t> (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debat</a:t>
            </a:r>
            <a:r>
              <a:rPr sz="1500" dirty="0"/>
              <a:t> parti) · </a:t>
            </a:r>
            <a:r>
              <a:rPr sz="1500" dirty="0" err="1"/>
              <a:t>elak</a:t>
            </a:r>
            <a:r>
              <a:rPr sz="1500" dirty="0"/>
              <a:t> quote K3 </a:t>
            </a:r>
            <a:r>
              <a:rPr sz="1500" dirty="0" err="1"/>
              <a:t>negatif</a:t>
            </a:r>
            <a:r>
              <a:rPr sz="1500" dirty="0"/>
              <a:t> di media </a:t>
            </a:r>
            <a:r>
              <a:rPr sz="1500" dirty="0" err="1"/>
              <a:t>sosial</a:t>
            </a:r>
            <a:r>
              <a:rPr sz="1500" dirty="0"/>
              <a:t> </a:t>
            </a:r>
            <a:r>
              <a:rPr sz="1500" dirty="0" err="1"/>
              <a:t>rasmi</a:t>
            </a:r>
            <a:r>
              <a:rPr sz="15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Job 2 — 5 Keyword Monarki/Adat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890607"/>
              </p:ext>
            </p:extLst>
          </p:nvPr>
        </p:nvGraphicFramePr>
        <p:xfrm>
          <a:off x="320040" y="960120"/>
          <a:ext cx="8503920" cy="2167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Rekod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Negatif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Engagement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Monarki luas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29,410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Mukhriz vs Undang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1,040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20,992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Undang 4 vs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2,024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35,050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K4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Adat + 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2,838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78,882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K5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Batch C09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4,562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41.9%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 dirty="0"/>
                        <a:t>421,763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Sasaran Geografi — 32 DUN vs 20 MN vs Zon Undang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977639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3 </a:t>
            </a:r>
            <a:r>
              <a:rPr sz="1500" dirty="0" err="1"/>
              <a:t>lapisan</a:t>
            </a:r>
            <a:r>
              <a:rPr sz="1500" dirty="0"/>
              <a:t> — </a:t>
            </a:r>
            <a:r>
              <a:rPr sz="1500" dirty="0" err="1"/>
              <a:t>isu</a:t>
            </a:r>
            <a:r>
              <a:rPr sz="1500" dirty="0"/>
              <a:t> </a:t>
            </a:r>
            <a:r>
              <a:rPr sz="1500" dirty="0" err="1"/>
              <a:t>adat</a:t>
            </a:r>
            <a:r>
              <a:rPr sz="1500" dirty="0"/>
              <a:t> = RISIKO,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peluang</a:t>
            </a:r>
            <a:r>
              <a:rPr sz="1500" dirty="0"/>
              <a:t> </a:t>
            </a:r>
            <a:r>
              <a:rPr sz="1500" dirty="0" err="1"/>
              <a:t>serangan</a:t>
            </a:r>
            <a:endParaRPr sz="1500" dirty="0"/>
          </a:p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rPr sz="1500" dirty="0"/>
              <a:t>32 DUN (</a:t>
            </a:r>
            <a:r>
              <a:rPr sz="1500" dirty="0" err="1"/>
              <a:t>seluruh</a:t>
            </a:r>
            <a:r>
              <a:rPr sz="1500" dirty="0"/>
              <a:t> N9)</a:t>
            </a:r>
          </a:p>
          <a:p>
            <a:pPr>
              <a:spcAft>
                <a:spcPts val="2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Monitor </a:t>
            </a:r>
            <a:r>
              <a:rPr sz="1500" dirty="0" err="1"/>
              <a:t>sahaja</a:t>
            </a:r>
            <a:r>
              <a:rPr sz="1500" dirty="0"/>
              <a:t> · JANGAN </a:t>
            </a:r>
            <a:r>
              <a:rPr sz="1500" dirty="0" err="1"/>
              <a:t>siar</a:t>
            </a:r>
            <a:r>
              <a:rPr sz="1500" dirty="0"/>
              <a:t> </a:t>
            </a:r>
            <a:r>
              <a:rPr sz="1500" dirty="0" err="1"/>
              <a:t>isu</a:t>
            </a:r>
            <a:r>
              <a:rPr sz="1500" dirty="0"/>
              <a:t> </a:t>
            </a:r>
            <a:r>
              <a:rPr sz="1500" dirty="0" err="1"/>
              <a:t>adat</a:t>
            </a:r>
            <a:r>
              <a:rPr sz="1500" dirty="0"/>
              <a:t> negeri-wide.</a:t>
            </a:r>
          </a:p>
          <a:p>
            <a:pPr>
              <a:spcAft>
                <a:spcPts val="600"/>
              </a:spcAft>
              <a:defRPr sz="900" b="0">
                <a:solidFill>
                  <a:srgbClr val="64748B"/>
                </a:solidFill>
              </a:defRPr>
            </a:pPr>
            <a:r>
              <a:rPr sz="1500" dirty="0"/>
              <a:t>→ Elak </a:t>
            </a:r>
            <a:r>
              <a:rPr sz="1500" dirty="0" err="1"/>
              <a:t>jadikan</a:t>
            </a:r>
            <a:r>
              <a:rPr sz="1500" dirty="0"/>
              <a:t> </a:t>
            </a:r>
            <a:r>
              <a:rPr sz="1500" dirty="0" err="1"/>
              <a:t>krisis</a:t>
            </a:r>
            <a:r>
              <a:rPr sz="1500" dirty="0"/>
              <a:t> </a:t>
            </a:r>
            <a:r>
              <a:rPr sz="1500" dirty="0" err="1"/>
              <a:t>istana</a:t>
            </a:r>
            <a:r>
              <a:rPr sz="1500" dirty="0"/>
              <a:t> </a:t>
            </a:r>
            <a:r>
              <a:rPr sz="1500" dirty="0" err="1"/>
              <a:t>mesej</a:t>
            </a:r>
            <a:r>
              <a:rPr sz="1500" dirty="0"/>
              <a:t> </a:t>
            </a:r>
            <a:r>
              <a:rPr sz="1500" dirty="0" err="1"/>
              <a:t>ceramah</a:t>
            </a:r>
            <a:r>
              <a:rPr sz="1500" dirty="0"/>
              <a:t> </a:t>
            </a:r>
            <a:r>
              <a:rPr sz="1500" dirty="0" err="1"/>
              <a:t>seluruh</a:t>
            </a:r>
            <a:r>
              <a:rPr sz="1500" dirty="0"/>
              <a:t> negeri.</a:t>
            </a:r>
          </a:p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rPr sz="1500" dirty="0"/>
              <a:t>20 </a:t>
            </a:r>
            <a:r>
              <a:rPr sz="1500" dirty="0" err="1"/>
              <a:t>kerusi</a:t>
            </a:r>
            <a:r>
              <a:rPr sz="1500" dirty="0"/>
              <a:t> MN</a:t>
            </a:r>
          </a:p>
          <a:p>
            <a:pPr>
              <a:spcAft>
                <a:spcPts val="2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 err="1"/>
              <a:t>Operasi</a:t>
            </a:r>
            <a:r>
              <a:rPr sz="1500" dirty="0"/>
              <a:t> MN standard · alert </a:t>
            </a:r>
            <a:r>
              <a:rPr sz="1500" dirty="0" err="1"/>
              <a:t>monarki</a:t>
            </a:r>
            <a:r>
              <a:rPr sz="1500" dirty="0"/>
              <a:t> · 20 DUN (PN+BN&gt;PH 2023).</a:t>
            </a:r>
          </a:p>
          <a:p>
            <a:pPr>
              <a:spcAft>
                <a:spcPts val="600"/>
              </a:spcAft>
              <a:defRPr sz="900" b="0">
                <a:solidFill>
                  <a:srgbClr val="64748B"/>
                </a:solidFill>
              </a:defRPr>
            </a:pPr>
            <a:r>
              <a:rPr sz="1500" dirty="0"/>
              <a:t>→ Kempen: MN </a:t>
            </a:r>
            <a:r>
              <a:rPr sz="1500" dirty="0" err="1"/>
              <a:t>lawan</a:t>
            </a:r>
            <a:r>
              <a:rPr sz="1500" dirty="0"/>
              <a:t> PH (~89.4%) · alert ≠ </a:t>
            </a:r>
            <a:r>
              <a:rPr sz="1500" dirty="0" err="1"/>
              <a:t>serang</a:t>
            </a:r>
            <a:r>
              <a:rPr sz="1500" dirty="0"/>
              <a:t> MB via </a:t>
            </a:r>
            <a:r>
              <a:rPr sz="1500" dirty="0" err="1"/>
              <a:t>adat</a:t>
            </a:r>
            <a:r>
              <a:rPr sz="1500" dirty="0"/>
              <a:t>.</a:t>
            </a:r>
          </a:p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</a:defRPr>
            </a:pPr>
            <a:r>
              <a:rPr sz="1500" dirty="0"/>
              <a:t>~10 DUN </a:t>
            </a:r>
            <a:r>
              <a:rPr sz="1500" dirty="0" err="1"/>
              <a:t>zon</a:t>
            </a:r>
            <a:r>
              <a:rPr sz="1500" dirty="0"/>
              <a:t> </a:t>
            </a:r>
            <a:r>
              <a:rPr sz="1500" dirty="0" err="1"/>
              <a:t>Undang</a:t>
            </a:r>
            <a:endParaRPr sz="1500" dirty="0"/>
          </a:p>
          <a:p>
            <a:pPr>
              <a:spcAft>
                <a:spcPts val="2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Micro-target · 9 overlap MN20 · soft comms.</a:t>
            </a:r>
          </a:p>
          <a:p>
            <a:pPr>
              <a:spcAft>
                <a:spcPts val="600"/>
              </a:spcAft>
              <a:defRPr sz="900" b="0">
                <a:solidFill>
                  <a:srgbClr val="64748B"/>
                </a:solidFill>
              </a:defRPr>
            </a:pPr>
            <a:r>
              <a:rPr sz="1500" dirty="0"/>
              <a:t>→ </a:t>
            </a:r>
            <a:r>
              <a:rPr sz="1500" dirty="0" err="1"/>
              <a:t>Jelebu</a:t>
            </a:r>
            <a:r>
              <a:rPr sz="1500" dirty="0"/>
              <a:t> · </a:t>
            </a:r>
            <a:r>
              <a:rPr sz="1500" dirty="0" err="1"/>
              <a:t>Johol</a:t>
            </a:r>
            <a:r>
              <a:rPr sz="1500" dirty="0"/>
              <a:t> · </a:t>
            </a:r>
            <a:r>
              <a:rPr sz="1500" dirty="0" err="1"/>
              <a:t>Rembau</a:t>
            </a:r>
            <a:r>
              <a:rPr sz="1500" dirty="0"/>
              <a:t> · </a:t>
            </a:r>
            <a:r>
              <a:rPr sz="1500" dirty="0" err="1"/>
              <a:t>Tampin</a:t>
            </a:r>
            <a:r>
              <a:rPr sz="1500" dirty="0"/>
              <a:t> — </a:t>
            </a:r>
            <a:r>
              <a:rPr sz="1500" dirty="0" err="1"/>
              <a:t>hormat</a:t>
            </a:r>
            <a:r>
              <a:rPr sz="1500" dirty="0"/>
              <a:t> Tuanku,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lawan</a:t>
            </a:r>
            <a:r>
              <a:rPr sz="1500" dirty="0"/>
              <a:t> </a:t>
            </a:r>
            <a:r>
              <a:rPr sz="1500" dirty="0" err="1"/>
              <a:t>istana</a:t>
            </a:r>
            <a:r>
              <a:rPr sz="15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60120"/>
            <a:ext cx="406908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Satu garis </a:t>
            </a:r>
            <a:r>
              <a:rPr sz="1500" dirty="0" err="1"/>
              <a:t>mesej</a:t>
            </a:r>
            <a:endParaRPr sz="1500" dirty="0"/>
          </a:p>
          <a:p>
            <a:pPr>
              <a:spcAft>
                <a:spcPts val="300"/>
              </a:spcAft>
              <a:defRPr sz="1100" b="1">
                <a:solidFill>
                  <a:srgbClr val="16A34A"/>
                </a:solidFill>
              </a:defRPr>
            </a:pPr>
            <a:r>
              <a:rPr sz="1500" dirty="0"/>
              <a:t>DO ✓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  • «MN </a:t>
            </a:r>
            <a:r>
              <a:rPr sz="1500" dirty="0" err="1"/>
              <a:t>lawan</a:t>
            </a:r>
            <a:r>
              <a:rPr sz="1500" dirty="0"/>
              <a:t> PH» — poll ~89.4% </a:t>
            </a:r>
            <a:r>
              <a:rPr sz="1500" dirty="0" err="1"/>
              <a:t>sokong</a:t>
            </a:r>
            <a:endParaRPr sz="1500" dirty="0"/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  • «</a:t>
            </a:r>
            <a:r>
              <a:rPr sz="1500" dirty="0" err="1"/>
              <a:t>Hormati</a:t>
            </a:r>
            <a:r>
              <a:rPr sz="1500" dirty="0"/>
              <a:t> </a:t>
            </a:r>
            <a:r>
              <a:rPr sz="1500" dirty="0" err="1"/>
              <a:t>adat</a:t>
            </a:r>
            <a:r>
              <a:rPr sz="1500" dirty="0"/>
              <a:t>» — soft, 10 DUN </a:t>
            </a:r>
            <a:r>
              <a:rPr sz="1500" dirty="0" err="1"/>
              <a:t>Undang</a:t>
            </a:r>
            <a:r>
              <a:rPr sz="1500" dirty="0"/>
              <a:t> </a:t>
            </a:r>
            <a:r>
              <a:rPr sz="1500" dirty="0" err="1"/>
              <a:t>sahaja</a:t>
            </a:r>
            <a:endParaRPr sz="1500" dirty="0"/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  • </a:t>
            </a:r>
            <a:r>
              <a:rPr sz="1500" dirty="0" err="1"/>
              <a:t>Pertahan</a:t>
            </a:r>
            <a:r>
              <a:rPr sz="1500" dirty="0"/>
              <a:t> N05 (+843 tipis) — MN </a:t>
            </a:r>
            <a:r>
              <a:rPr sz="1500" dirty="0" err="1"/>
              <a:t>murni</a:t>
            </a:r>
            <a:endParaRPr sz="1500" dirty="0"/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  • </a:t>
            </a:r>
            <a:r>
              <a:rPr sz="1500" dirty="0" err="1"/>
              <a:t>Edukasi</a:t>
            </a:r>
            <a:r>
              <a:rPr sz="1500" dirty="0"/>
              <a:t> </a:t>
            </a:r>
            <a:r>
              <a:rPr sz="1500" dirty="0" err="1"/>
              <a:t>adat</a:t>
            </a:r>
            <a:r>
              <a:rPr sz="1500" dirty="0"/>
              <a:t> —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debat</a:t>
            </a:r>
            <a:r>
              <a:rPr sz="1500" dirty="0"/>
              <a:t> parti</a:t>
            </a:r>
          </a:p>
          <a:p>
            <a:pPr>
              <a:spcAft>
                <a:spcPts val="600"/>
              </a:spcAft>
              <a:defRPr sz="1100" b="1">
                <a:solidFill>
                  <a:srgbClr val="C8102E"/>
                </a:solidFill>
              </a:defRPr>
            </a:pPr>
            <a:r>
              <a:rPr sz="1500" dirty="0"/>
              <a:t>DON'T ✗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  • </a:t>
            </a:r>
            <a:r>
              <a:rPr sz="1500" dirty="0" err="1"/>
              <a:t>Serang</a:t>
            </a:r>
            <a:r>
              <a:rPr sz="1500" dirty="0"/>
              <a:t> MB guna «</a:t>
            </a:r>
            <a:r>
              <a:rPr sz="1500" dirty="0" err="1"/>
              <a:t>penderhaka</a:t>
            </a:r>
            <a:r>
              <a:rPr sz="1500" dirty="0"/>
              <a:t> </a:t>
            </a:r>
            <a:r>
              <a:rPr sz="1500" dirty="0" err="1"/>
              <a:t>Undang</a:t>
            </a:r>
            <a:r>
              <a:rPr sz="1500" dirty="0"/>
              <a:t>»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  • Siar </a:t>
            </a:r>
            <a:r>
              <a:rPr sz="1500" dirty="0" err="1"/>
              <a:t>isu</a:t>
            </a:r>
            <a:r>
              <a:rPr sz="1500" dirty="0"/>
              <a:t> </a:t>
            </a:r>
            <a:r>
              <a:rPr sz="1500" dirty="0" err="1"/>
              <a:t>adat</a:t>
            </a:r>
            <a:r>
              <a:rPr sz="1500" dirty="0"/>
              <a:t> </a:t>
            </a:r>
            <a:r>
              <a:rPr sz="1500" dirty="0" err="1"/>
              <a:t>ke</a:t>
            </a:r>
            <a:r>
              <a:rPr sz="1500" dirty="0"/>
              <a:t> 32 DUN</a:t>
            </a:r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  • </a:t>
            </a:r>
            <a:r>
              <a:rPr sz="1500" dirty="0" err="1"/>
              <a:t>Politikkan</a:t>
            </a:r>
            <a:r>
              <a:rPr sz="1500" dirty="0"/>
              <a:t> </a:t>
            </a:r>
            <a:r>
              <a:rPr sz="1500" dirty="0" err="1"/>
              <a:t>istana</a:t>
            </a:r>
            <a:r>
              <a:rPr sz="1500" dirty="0"/>
              <a:t> di </a:t>
            </a:r>
            <a:r>
              <a:rPr sz="1500" dirty="0" err="1"/>
              <a:t>ceramah</a:t>
            </a:r>
            <a:endParaRPr sz="1500" dirty="0"/>
          </a:p>
          <a:p>
            <a:pPr>
              <a:spcAft>
                <a:spcPts val="300"/>
              </a:spcAft>
              <a:defRPr sz="1000" b="0">
                <a:solidFill>
                  <a:srgbClr val="1E293B"/>
                </a:solidFill>
              </a:defRPr>
            </a:pPr>
            <a:r>
              <a:rPr sz="1500" dirty="0"/>
              <a:t>  • Over-claim </a:t>
            </a:r>
            <a:r>
              <a:rPr sz="1500" dirty="0" err="1"/>
              <a:t>menang</a:t>
            </a:r>
            <a:r>
              <a:rPr sz="1500" dirty="0"/>
              <a:t> </a:t>
            </a:r>
            <a:r>
              <a:rPr sz="1500" dirty="0" err="1"/>
              <a:t>dari</a:t>
            </a:r>
            <a:r>
              <a:rPr sz="1500" dirty="0"/>
              <a:t> poll </a:t>
            </a:r>
            <a:r>
              <a:rPr sz="1500" dirty="0" err="1"/>
              <a:t>sahaja</a:t>
            </a:r>
            <a:endParaRPr sz="1500" dirty="0"/>
          </a:p>
        </p:txBody>
      </p:sp>
      <p:sp>
        <p:nvSpPr>
          <p:cNvPr id="6" name="TextBox 5"/>
          <p:cNvSpPr txBox="1"/>
          <p:nvPr/>
        </p:nvSpPr>
        <p:spPr>
          <a:xfrm>
            <a:off x="411480" y="5623560"/>
            <a:ext cx="82296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D97706"/>
                </a:solidFill>
              </a:defRPr>
            </a:pPr>
            <a:r>
              <a:rPr sz="1500" dirty="0"/>
              <a:t>BOTTOM LINE: </a:t>
            </a:r>
            <a:r>
              <a:rPr sz="1500" dirty="0" err="1"/>
              <a:t>Naratif</a:t>
            </a:r>
            <a:r>
              <a:rPr sz="1500" dirty="0"/>
              <a:t> UTAMA = poll MN (89.4%) · Isu </a:t>
            </a:r>
            <a:r>
              <a:rPr sz="1500" dirty="0" err="1"/>
              <a:t>adat</a:t>
            </a:r>
            <a:r>
              <a:rPr sz="1500" dirty="0"/>
              <a:t> = </a:t>
            </a:r>
            <a:r>
              <a:rPr sz="1500" dirty="0" err="1"/>
              <a:t>defensif</a:t>
            </a:r>
            <a:r>
              <a:rPr sz="1500" dirty="0"/>
              <a:t> + micro 10 DUN —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serangan</a:t>
            </a:r>
            <a:r>
              <a:rPr sz="1500" dirty="0"/>
              <a:t> negeri-wide.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Kerusi Sensitif Adat — Apa Buat? (ML + Lapangan)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1417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3366"/>
                </a:solidFill>
              </a:defRPr>
            </a:pPr>
            <a:r>
              <a:rPr sz="1500" dirty="0"/>
              <a:t>Apa </a:t>
            </a:r>
            <a:r>
              <a:rPr sz="1500" dirty="0" err="1"/>
              <a:t>maksud</a:t>
            </a:r>
            <a:r>
              <a:rPr sz="1500" dirty="0"/>
              <a:t> slide </a:t>
            </a:r>
            <a:r>
              <a:rPr sz="1500" dirty="0" err="1"/>
              <a:t>ini</a:t>
            </a:r>
            <a:r>
              <a:rPr sz="1500" dirty="0"/>
              <a:t>?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rPr sz="1500" dirty="0"/>
              <a:t>• Model ML = </a:t>
            </a:r>
            <a:r>
              <a:rPr sz="1500" dirty="0" err="1"/>
              <a:t>ramalan</a:t>
            </a:r>
            <a:r>
              <a:rPr sz="1500" dirty="0"/>
              <a:t> </a:t>
            </a:r>
            <a:r>
              <a:rPr sz="1500" dirty="0" err="1"/>
              <a:t>kerusi</a:t>
            </a:r>
            <a:r>
              <a:rPr sz="1500" dirty="0"/>
              <a:t> </a:t>
            </a:r>
            <a:r>
              <a:rPr sz="1500" dirty="0" err="1"/>
              <a:t>dari</a:t>
            </a:r>
            <a:r>
              <a:rPr sz="1500" dirty="0"/>
              <a:t> data SPR + </a:t>
            </a:r>
            <a:r>
              <a:rPr sz="1500" dirty="0" err="1"/>
              <a:t>demografi</a:t>
            </a:r>
            <a:r>
              <a:rPr sz="1500" dirty="0"/>
              <a:t> + </a:t>
            </a:r>
            <a:r>
              <a:rPr sz="1500" dirty="0" err="1"/>
              <a:t>socmed</a:t>
            </a:r>
            <a:r>
              <a:rPr sz="1500" dirty="0"/>
              <a:t> — BUKAN </a:t>
            </a:r>
            <a:r>
              <a:rPr sz="1500" dirty="0" err="1"/>
              <a:t>undi</a:t>
            </a:r>
            <a:r>
              <a:rPr sz="1500" dirty="0"/>
              <a:t> </a:t>
            </a:r>
            <a:r>
              <a:rPr sz="1500" dirty="0" err="1"/>
              <a:t>rasmi</a:t>
            </a:r>
            <a:r>
              <a:rPr sz="1500" dirty="0"/>
              <a:t>.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rPr sz="1500" dirty="0"/>
              <a:t>• MN </a:t>
            </a:r>
            <a:r>
              <a:rPr sz="1500" dirty="0" err="1"/>
              <a:t>dijangka</a:t>
            </a:r>
            <a:r>
              <a:rPr sz="1500" dirty="0"/>
              <a:t> ~22.9 </a:t>
            </a:r>
            <a:r>
              <a:rPr sz="1500" dirty="0" err="1"/>
              <a:t>kerusi</a:t>
            </a:r>
            <a:r>
              <a:rPr sz="1500" dirty="0"/>
              <a:t> (</a:t>
            </a:r>
            <a:r>
              <a:rPr sz="1500" dirty="0" err="1"/>
              <a:t>majoriti</a:t>
            </a:r>
            <a:r>
              <a:rPr sz="1500" dirty="0"/>
              <a:t> = 19) — </a:t>
            </a:r>
            <a:r>
              <a:rPr sz="1500" dirty="0" err="1"/>
              <a:t>isu</a:t>
            </a:r>
            <a:r>
              <a:rPr sz="1500" dirty="0"/>
              <a:t> </a:t>
            </a:r>
            <a:r>
              <a:rPr sz="1500" dirty="0" err="1"/>
              <a:t>adat</a:t>
            </a:r>
            <a:r>
              <a:rPr sz="1500" dirty="0"/>
              <a:t> TIDAK auto </a:t>
            </a:r>
            <a:r>
              <a:rPr sz="1500" dirty="0" err="1"/>
              <a:t>menambah</a:t>
            </a:r>
            <a:r>
              <a:rPr sz="1500" dirty="0"/>
              <a:t> </a:t>
            </a:r>
            <a:r>
              <a:rPr sz="1500" dirty="0" err="1"/>
              <a:t>kerusi</a:t>
            </a:r>
            <a:r>
              <a:rPr sz="1500" dirty="0"/>
              <a:t>.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rPr sz="1500" dirty="0"/>
              <a:t>• Isu </a:t>
            </a:r>
            <a:r>
              <a:rPr sz="1500" dirty="0" err="1"/>
              <a:t>adat</a:t>
            </a:r>
            <a:r>
              <a:rPr sz="1500" dirty="0"/>
              <a:t> = AMARAN: </a:t>
            </a:r>
            <a:r>
              <a:rPr sz="1500" dirty="0" err="1"/>
              <a:t>kalau</a:t>
            </a:r>
            <a:r>
              <a:rPr sz="1500" dirty="0"/>
              <a:t> mishandle, </a:t>
            </a:r>
            <a:r>
              <a:rPr sz="1500" dirty="0" err="1"/>
              <a:t>boleh</a:t>
            </a:r>
            <a:r>
              <a:rPr sz="1500" dirty="0"/>
              <a:t> RUGI </a:t>
            </a:r>
            <a:r>
              <a:rPr sz="1500" dirty="0" err="1"/>
              <a:t>kerusi</a:t>
            </a:r>
            <a:r>
              <a:rPr sz="1500" dirty="0"/>
              <a:t> tipis —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peluang</a:t>
            </a:r>
            <a:r>
              <a:rPr sz="1500" dirty="0"/>
              <a:t> </a:t>
            </a:r>
            <a:r>
              <a:rPr sz="1500" dirty="0" err="1"/>
              <a:t>serang</a:t>
            </a:r>
            <a:r>
              <a:rPr sz="1500" dirty="0"/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68855"/>
              </p:ext>
            </p:extLst>
          </p:nvPr>
        </p:nvGraphicFramePr>
        <p:xfrm>
          <a:off x="365760" y="2322687"/>
          <a:ext cx="8412480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350"/>
                        <a:t>Kerusi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350"/>
                        <a:t>Risiko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350"/>
                        <a:t>Tindakan HQ / Ketua DUN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 dirty="0"/>
                        <a:t>N05 </a:t>
                      </a:r>
                      <a:r>
                        <a:rPr sz="1350" dirty="0" err="1"/>
                        <a:t>Serting</a:t>
                      </a:r>
                      <a:endParaRPr sz="13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8102E"/>
                          </a:solidFill>
                        </a:defRPr>
                      </a:pPr>
                      <a:r>
                        <a:rPr sz="1350"/>
                        <a:t>🔴 TERTINGGI</a:t>
                      </a:r>
                    </a:p>
                    <a:p>
                      <a:pPr>
                        <a:defRPr sz="900">
                          <a:solidFill>
                            <a:srgbClr val="C8102E"/>
                          </a:solidFill>
                        </a:defRPr>
                      </a:pPr>
                      <a:r>
                        <a:rPr sz="1350"/>
                        <a:t>Menang tipis +843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/>
                        <a:t>JANGAN sentuh isu adat</a:t>
                      </a:r>
                    </a:p>
                    <a:p>
                      <a:pPr>
                        <a:defRPr sz="900"/>
                      </a:pPr>
                      <a:r>
                        <a:rPr sz="1350"/>
                        <a:t>Kempen MN murni · pertahan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/>
                        <a:t>N19 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rPr sz="1350"/>
                        <a:t>🟠 TINGGI</a:t>
                      </a:r>
                    </a:p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rPr sz="1350"/>
                        <a:t>Zon Undang · ML 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/>
                        <a:t>Monitor socmed 2× sehari</a:t>
                      </a:r>
                    </a:p>
                    <a:p>
                      <a:pPr>
                        <a:defRPr sz="900"/>
                      </a:pPr>
                      <a:r>
                        <a:rPr sz="1350"/>
                        <a:t>Soft touch · elak provokasi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/>
                        <a:t>N03, N25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rPr sz="1350"/>
                        <a:t>🟡 SEDANG</a:t>
                      </a:r>
                    </a:p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rPr sz="1350"/>
                        <a:t>Istana neutral-pos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/>
                        <a:t>Jangan buat isu</a:t>
                      </a:r>
                    </a:p>
                    <a:p>
                      <a:pPr>
                        <a:defRPr sz="900"/>
                      </a:pPr>
                      <a:r>
                        <a:rPr sz="1350"/>
                        <a:t>Teruskan perkhidmatan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/>
                        <a:t>N14 Ampangan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rPr sz="1350"/>
                        <a:t>🟠 MB zone · ML 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/>
                        <a:t>JANGAN serang via adat</a:t>
                      </a:r>
                    </a:p>
                    <a:p>
                      <a:pPr>
                        <a:defRPr sz="900"/>
                      </a:pPr>
                      <a:r>
                        <a:rPr sz="1350"/>
                        <a:t>Fokus flip muafakat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/>
                        <a:t>N01, N10, N33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97706"/>
                          </a:solidFill>
                        </a:defRPr>
                      </a:pPr>
                      <a:r>
                        <a:rPr sz="1350"/>
                        <a:t>🟡 Kubu 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350" dirty="0"/>
                        <a:t>Counter </a:t>
                      </a:r>
                      <a:r>
                        <a:rPr sz="1350" dirty="0" err="1"/>
                        <a:t>perkhidmatan</a:t>
                      </a:r>
                      <a:endParaRPr sz="1350" dirty="0"/>
                    </a:p>
                    <a:p>
                      <a:pPr>
                        <a:defRPr sz="900"/>
                      </a:pPr>
                      <a:r>
                        <a:rPr sz="1350" dirty="0" err="1"/>
                        <a:t>Bukan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debat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adat</a:t>
                      </a:r>
                      <a:endParaRPr sz="13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10901"/>
            <a:ext cx="82296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6A34A"/>
                </a:solidFill>
              </a:defRPr>
            </a:pPr>
            <a:r>
              <a:rPr sz="1500" dirty="0"/>
              <a:t>RINGKAS: Isu </a:t>
            </a:r>
            <a:r>
              <a:rPr sz="1500" dirty="0" err="1"/>
              <a:t>adat</a:t>
            </a:r>
            <a:r>
              <a:rPr sz="1500" dirty="0"/>
              <a:t> = jaga </a:t>
            </a:r>
            <a:r>
              <a:rPr sz="1500" dirty="0" err="1"/>
              <a:t>kerusi</a:t>
            </a:r>
            <a:r>
              <a:rPr sz="1500" dirty="0"/>
              <a:t> tipis (N05) + </a:t>
            </a:r>
            <a:r>
              <a:rPr sz="1500" dirty="0" err="1"/>
              <a:t>pantau</a:t>
            </a:r>
            <a:r>
              <a:rPr sz="1500" dirty="0"/>
              <a:t> 10 DUN </a:t>
            </a:r>
            <a:r>
              <a:rPr sz="1500" dirty="0" err="1"/>
              <a:t>Undang</a:t>
            </a:r>
            <a:r>
              <a:rPr sz="1500" dirty="0"/>
              <a:t> —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serangan</a:t>
            </a:r>
            <a:r>
              <a:rPr sz="1500" dirty="0"/>
              <a:t> negeri-wide.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Matriks DUN Zon Undang — Main / Monitor / Jangan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306023"/>
              </p:ext>
            </p:extLst>
          </p:nvPr>
        </p:nvGraphicFramePr>
        <p:xfrm>
          <a:off x="320040" y="960120"/>
          <a:ext cx="8503920" cy="5100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0015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100"/>
                        <a:t>DUN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100"/>
                        <a:t>Nama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100"/>
                        <a:t>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100"/>
                        <a:t>MN20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100"/>
                        <a:t>pasWinProb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100"/>
                        <a:t>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100"/>
                        <a:t>Cadangan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Sungai Lui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51.0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SOFT · edukasi adat · hormat YDPB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Serting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SOFT · edukasi adat · hormat YDPB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MONITOR · jangan over-play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Pilah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JANGAN main isu adat (luar MN20)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MONITOR · soft adat · elak serang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Paroi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Sungai Ujong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MONITOR · jangan over-play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Chembong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MONITOR · jangan over-play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Rantau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MONITOR · jangan over-play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Gemas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Tampin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MONITOR · jangan over-play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01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N35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Gemencheh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Tampin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/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100" dirty="0"/>
                        <a:t>MONITOR · </a:t>
                      </a:r>
                      <a:r>
                        <a:rPr sz="1100" dirty="0" err="1"/>
                        <a:t>jangan</a:t>
                      </a:r>
                      <a:r>
                        <a:rPr sz="1100" dirty="0"/>
                        <a:t> over-play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Gabungan Naratif — Poll MN + Monarki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A34A"/>
                </a:solidFill>
              </a:defRPr>
            </a:pPr>
            <a:r>
              <a:rPr sz="1500" dirty="0"/>
              <a:t>DO ✓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  • «PRN N9: MN </a:t>
            </a:r>
            <a:r>
              <a:rPr sz="1500" dirty="0" err="1"/>
              <a:t>lawan</a:t>
            </a:r>
            <a:r>
              <a:rPr sz="1500" dirty="0"/>
              <a:t> PH — 89.4% </a:t>
            </a:r>
            <a:r>
              <a:rPr sz="1500" dirty="0" err="1"/>
              <a:t>sokong</a:t>
            </a:r>
            <a:r>
              <a:rPr sz="1500" dirty="0"/>
              <a:t> digital (Poll PM)»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  • «</a:t>
            </a:r>
            <a:r>
              <a:rPr sz="1500" dirty="0" err="1"/>
              <a:t>Hormati</a:t>
            </a:r>
            <a:r>
              <a:rPr sz="1500" dirty="0"/>
              <a:t> Tuanku &amp; proses </a:t>
            </a:r>
            <a:r>
              <a:rPr sz="1500" dirty="0" err="1"/>
              <a:t>adat</a:t>
            </a:r>
            <a:r>
              <a:rPr sz="1500" dirty="0"/>
              <a:t> — </a:t>
            </a:r>
            <a:r>
              <a:rPr sz="1500" dirty="0" err="1"/>
              <a:t>fokus</a:t>
            </a:r>
            <a:r>
              <a:rPr sz="1500" dirty="0"/>
              <a:t> </a:t>
            </a:r>
            <a:r>
              <a:rPr sz="1500" dirty="0" err="1"/>
              <a:t>kebajikan</a:t>
            </a:r>
            <a:r>
              <a:rPr sz="1500" dirty="0"/>
              <a:t> rakyat»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  • «Elak </a:t>
            </a:r>
            <a:r>
              <a:rPr sz="1500" dirty="0" err="1"/>
              <a:t>pecah</a:t>
            </a:r>
            <a:r>
              <a:rPr sz="1500" dirty="0"/>
              <a:t> </a:t>
            </a:r>
            <a:r>
              <a:rPr sz="1500" dirty="0" err="1"/>
              <a:t>undi</a:t>
            </a:r>
            <a:r>
              <a:rPr sz="1500" dirty="0"/>
              <a:t> </a:t>
            </a:r>
            <a:r>
              <a:rPr sz="1500" dirty="0" err="1"/>
              <a:t>Melayu</a:t>
            </a:r>
            <a:r>
              <a:rPr sz="1500" dirty="0"/>
              <a:t> — </a:t>
            </a:r>
            <a:r>
              <a:rPr sz="1500" dirty="0" err="1"/>
              <a:t>pilih</a:t>
            </a:r>
            <a:r>
              <a:rPr sz="1500" dirty="0"/>
              <a:t> </a:t>
            </a:r>
            <a:r>
              <a:rPr sz="1500" dirty="0" err="1"/>
              <a:t>kerjasama</a:t>
            </a:r>
            <a:r>
              <a:rPr sz="1500" dirty="0"/>
              <a:t>»</a:t>
            </a:r>
          </a:p>
          <a:p>
            <a:pPr>
              <a:spcAft>
                <a:spcPts val="600"/>
              </a:spcAft>
              <a:defRPr sz="1400" b="1">
                <a:solidFill>
                  <a:srgbClr val="C8102E"/>
                </a:solidFill>
              </a:defRPr>
            </a:pPr>
            <a:r>
              <a:rPr sz="1500" dirty="0"/>
              <a:t>DON'T ✗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  • </a:t>
            </a:r>
            <a:r>
              <a:rPr sz="1500" dirty="0" err="1"/>
              <a:t>Serang</a:t>
            </a:r>
            <a:r>
              <a:rPr sz="1500" dirty="0"/>
              <a:t> MB/PH guna «</a:t>
            </a:r>
            <a:r>
              <a:rPr sz="1500" dirty="0" err="1"/>
              <a:t>penderhaka</a:t>
            </a:r>
            <a:r>
              <a:rPr sz="1500" dirty="0"/>
              <a:t> </a:t>
            </a:r>
            <a:r>
              <a:rPr sz="1500" dirty="0" err="1"/>
              <a:t>Undang</a:t>
            </a:r>
            <a:r>
              <a:rPr sz="1500" dirty="0"/>
              <a:t>» di </a:t>
            </a:r>
            <a:r>
              <a:rPr sz="1500" dirty="0" err="1"/>
              <a:t>ceramah</a:t>
            </a:r>
            <a:endParaRPr sz="1500" dirty="0"/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  • Share meme/video K3 </a:t>
            </a:r>
            <a:r>
              <a:rPr sz="1500" dirty="0" err="1"/>
              <a:t>negatif</a:t>
            </a:r>
            <a:r>
              <a:rPr sz="1500" dirty="0"/>
              <a:t> </a:t>
            </a:r>
            <a:r>
              <a:rPr sz="1500" dirty="0" err="1"/>
              <a:t>tanpa</a:t>
            </a:r>
            <a:r>
              <a:rPr sz="1500" dirty="0"/>
              <a:t> </a:t>
            </a:r>
            <a:r>
              <a:rPr sz="1500" dirty="0" err="1"/>
              <a:t>konteks</a:t>
            </a:r>
            <a:endParaRPr sz="1500" dirty="0"/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  • </a:t>
            </a:r>
            <a:r>
              <a:rPr sz="1500" dirty="0" err="1"/>
              <a:t>Politikkan</a:t>
            </a:r>
            <a:r>
              <a:rPr sz="1500" dirty="0"/>
              <a:t> </a:t>
            </a:r>
            <a:r>
              <a:rPr sz="1500" dirty="0" err="1"/>
              <a:t>istana</a:t>
            </a:r>
            <a:r>
              <a:rPr sz="1500" dirty="0"/>
              <a:t> di </a:t>
            </a:r>
            <a:r>
              <a:rPr sz="1500" dirty="0" err="1"/>
              <a:t>kubu</a:t>
            </a:r>
            <a:r>
              <a:rPr sz="1500" dirty="0"/>
              <a:t> DAP (N01/N10/N33)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  • Over-claim «</a:t>
            </a:r>
            <a:r>
              <a:rPr sz="1500" dirty="0" err="1"/>
              <a:t>menang</a:t>
            </a:r>
            <a:r>
              <a:rPr sz="1500" dirty="0"/>
              <a:t>» </a:t>
            </a:r>
            <a:r>
              <a:rPr sz="1500" dirty="0" err="1"/>
              <a:t>dari</a:t>
            </a:r>
            <a:r>
              <a:rPr sz="1500" dirty="0"/>
              <a:t> poll PM </a:t>
            </a:r>
            <a:r>
              <a:rPr sz="1500" dirty="0" err="1"/>
              <a:t>sahaja</a:t>
            </a:r>
            <a:endParaRPr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Segera — 7 Hari (P1)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Brief ketua 20 kerusi MN: garis «poll MN + hormat adat» — doc 1 muka surat WhatsApp.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HQ · hari ini · Action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Monitor K2/K3/K5 daily — spike &gt;60% negatif → alert P1 Action Center (10 DUN Undang).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Digital war room · 2× sehari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Siap 1-pager fakta adat N9 (Undang 4, DKU, peranan YDPB) — edukasi bukan serangan.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+ legal adat · 48 jam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Echo poll PM (~89% sokong MN) di group kempen — pisahkan dari debat istana.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Media PAS N9 · Jumaat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Momentum — 2–4 Minggu (P2)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Merge CSV K1–K5 + poll + ML → dashboard war room monarki (dedupe overlap).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InsightPulse · script merge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Cula lapangan 10 DUN Undang — banding signal digital vs ground (N05, N19 priority).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HQ N9 · mingguan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Update pasWinProb model dengan socmed_neg monarki per DUN (retrain ML).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Data team · minggu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Sedia rebut K4 (adat+DAP) — 5 fakta, elak sentuh sensitif agama.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· doc ringkas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Mesej Disyorkan — Copy Paste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Utama (poll + MN)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"PRN N9: </a:t>
            </a:r>
            <a:r>
              <a:rPr sz="1500" dirty="0" err="1"/>
              <a:t>Sokong</a:t>
            </a:r>
            <a:r>
              <a:rPr sz="1500" dirty="0"/>
              <a:t> MN </a:t>
            </a:r>
            <a:r>
              <a:rPr sz="1500" dirty="0" err="1"/>
              <a:t>lawan</a:t>
            </a:r>
            <a:r>
              <a:rPr sz="1500" dirty="0"/>
              <a:t> PH. Poll digital ~89.4% </a:t>
            </a:r>
            <a:r>
              <a:rPr sz="1500" dirty="0" err="1"/>
              <a:t>sokong</a:t>
            </a:r>
            <a:r>
              <a:rPr sz="1500" dirty="0"/>
              <a:t> — </a:t>
            </a:r>
            <a:r>
              <a:rPr sz="1500" dirty="0" err="1"/>
              <a:t>elak</a:t>
            </a:r>
            <a:r>
              <a:rPr sz="1500" dirty="0"/>
              <a:t> </a:t>
            </a:r>
            <a:r>
              <a:rPr sz="1500" dirty="0" err="1"/>
              <a:t>pecah</a:t>
            </a:r>
            <a:r>
              <a:rPr sz="1500" dirty="0"/>
              <a:t> </a:t>
            </a:r>
            <a:r>
              <a:rPr sz="1500" dirty="0" err="1"/>
              <a:t>undi</a:t>
            </a:r>
            <a:r>
              <a:rPr sz="1500" dirty="0"/>
              <a:t> </a:t>
            </a:r>
            <a:r>
              <a:rPr sz="1500" dirty="0" err="1"/>
              <a:t>Melayu</a:t>
            </a:r>
            <a:r>
              <a:rPr sz="1500" dirty="0"/>
              <a:t>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Adat (soft)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"N9 </a:t>
            </a:r>
            <a:r>
              <a:rPr sz="1500" dirty="0" err="1"/>
              <a:t>kuat</a:t>
            </a:r>
            <a:r>
              <a:rPr sz="1500" dirty="0"/>
              <a:t> </a:t>
            </a:r>
            <a:r>
              <a:rPr sz="1500" dirty="0" err="1"/>
              <a:t>tradisi</a:t>
            </a:r>
            <a:r>
              <a:rPr sz="1500" dirty="0"/>
              <a:t> </a:t>
            </a:r>
            <a:r>
              <a:rPr sz="1500" dirty="0" err="1"/>
              <a:t>adat</a:t>
            </a:r>
            <a:r>
              <a:rPr sz="1500" dirty="0"/>
              <a:t> — </a:t>
            </a:r>
            <a:r>
              <a:rPr sz="1500" dirty="0" err="1"/>
              <a:t>hormati</a:t>
            </a:r>
            <a:r>
              <a:rPr sz="1500" dirty="0"/>
              <a:t> Tuanku &amp; </a:t>
            </a:r>
            <a:r>
              <a:rPr sz="1500" dirty="0" err="1"/>
              <a:t>Undang</a:t>
            </a:r>
            <a:r>
              <a:rPr sz="1500" dirty="0"/>
              <a:t>. Fokus </a:t>
            </a:r>
            <a:r>
              <a:rPr sz="1500" dirty="0" err="1"/>
              <a:t>perkhidmatan</a:t>
            </a:r>
            <a:r>
              <a:rPr sz="1500" dirty="0"/>
              <a:t>,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provokasi</a:t>
            </a:r>
            <a:r>
              <a:rPr sz="1500" dirty="0"/>
              <a:t>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Ceramah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"Lawan DAP/PH — </a:t>
            </a:r>
            <a:r>
              <a:rPr sz="1500" dirty="0" err="1"/>
              <a:t>bukan</a:t>
            </a:r>
            <a:r>
              <a:rPr sz="1500" dirty="0"/>
              <a:t> </a:t>
            </a:r>
            <a:r>
              <a:rPr sz="1500" dirty="0" err="1"/>
              <a:t>lawan</a:t>
            </a:r>
            <a:r>
              <a:rPr sz="1500" dirty="0"/>
              <a:t> </a:t>
            </a:r>
            <a:r>
              <a:rPr sz="1500" dirty="0" err="1"/>
              <a:t>istana</a:t>
            </a:r>
            <a:r>
              <a:rPr sz="1500" dirty="0"/>
              <a:t>. MN demi </a:t>
            </a:r>
            <a:r>
              <a:rPr sz="1500" dirty="0" err="1"/>
              <a:t>stabil</a:t>
            </a:r>
            <a:r>
              <a:rPr sz="1500" dirty="0"/>
              <a:t> dan </a:t>
            </a:r>
            <a:r>
              <a:rPr sz="1500" dirty="0" err="1"/>
              <a:t>kebajihan</a:t>
            </a:r>
            <a:r>
              <a:rPr sz="1500" dirty="0"/>
              <a:t>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Footnote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"Signal digital </a:t>
            </a:r>
            <a:r>
              <a:rPr sz="1500" dirty="0" err="1"/>
              <a:t>InsightPulse</a:t>
            </a:r>
            <a:r>
              <a:rPr sz="1500" dirty="0"/>
              <a:t> — </a:t>
            </a:r>
            <a:r>
              <a:rPr sz="1500" dirty="0" err="1"/>
              <a:t>bukan</a:t>
            </a:r>
            <a:r>
              <a:rPr sz="1500" dirty="0"/>
              <a:t> polling SPR. </a:t>
            </a:r>
            <a:r>
              <a:rPr sz="1500" dirty="0" err="1"/>
              <a:t>Sahkan</a:t>
            </a:r>
            <a:r>
              <a:rPr sz="1500" dirty="0"/>
              <a:t> </a:t>
            </a:r>
            <a:r>
              <a:rPr sz="1500" dirty="0" err="1"/>
              <a:t>dengan</a:t>
            </a:r>
            <a:r>
              <a:rPr sz="1500" dirty="0"/>
              <a:t> </a:t>
            </a:r>
            <a:r>
              <a:rPr sz="1500" dirty="0" err="1"/>
              <a:t>cula</a:t>
            </a:r>
            <a:r>
              <a:rPr sz="1500" dirty="0"/>
              <a:t> </a:t>
            </a:r>
            <a:r>
              <a:rPr sz="1500" dirty="0" err="1"/>
              <a:t>lapangan</a:t>
            </a:r>
            <a:r>
              <a:rPr sz="1500" dirty="0"/>
              <a:t>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Risiko &amp;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rPr sz="1500" dirty="0" err="1"/>
              <a:t>Politikkan</a:t>
            </a:r>
            <a:r>
              <a:rPr sz="1500" dirty="0"/>
              <a:t> </a:t>
            </a:r>
            <a:r>
              <a:rPr sz="1500" dirty="0" err="1"/>
              <a:t>istana</a:t>
            </a:r>
            <a:r>
              <a:rPr sz="1500" dirty="0"/>
              <a:t> (K3 54% neg)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→ Brief DUN · P1 doc · </a:t>
            </a:r>
            <a:r>
              <a:rPr sz="1500" dirty="0" err="1"/>
              <a:t>sanksi</a:t>
            </a:r>
            <a:r>
              <a:rPr sz="1500" dirty="0"/>
              <a:t> </a:t>
            </a:r>
            <a:r>
              <a:rPr sz="1500" dirty="0" err="1"/>
              <a:t>mesej</a:t>
            </a:r>
            <a:r>
              <a:rPr sz="1500" dirty="0"/>
              <a:t> </a:t>
            </a:r>
            <a:r>
              <a:rPr sz="1500" dirty="0" err="1"/>
              <a:t>provokatif</a:t>
            </a:r>
            <a:endParaRPr sz="1500" dirty="0"/>
          </a:p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rPr sz="1500" dirty="0"/>
              <a:t>Over-rely poll 89.4% </a:t>
            </a:r>
            <a:r>
              <a:rPr sz="1500" dirty="0" err="1"/>
              <a:t>tanpa</a:t>
            </a:r>
            <a:r>
              <a:rPr sz="1500" dirty="0"/>
              <a:t> </a:t>
            </a:r>
            <a:r>
              <a:rPr sz="1500" dirty="0" err="1"/>
              <a:t>lapangan</a:t>
            </a:r>
            <a:endParaRPr sz="1500" dirty="0"/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→ Cula + footnote </a:t>
            </a:r>
            <a:r>
              <a:rPr sz="1500" dirty="0" err="1"/>
              <a:t>sentiasa</a:t>
            </a:r>
            <a:r>
              <a:rPr sz="1500" dirty="0"/>
              <a:t> · </a:t>
            </a:r>
            <a:r>
              <a:rPr sz="1500" dirty="0" err="1"/>
              <a:t>jangan</a:t>
            </a:r>
            <a:r>
              <a:rPr sz="1500" dirty="0"/>
              <a:t> claim </a:t>
            </a:r>
            <a:r>
              <a:rPr sz="1500" dirty="0" err="1"/>
              <a:t>menang</a:t>
            </a:r>
            <a:endParaRPr sz="1500" dirty="0"/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rPr sz="1500" dirty="0"/>
              <a:t>Main </a:t>
            </a:r>
            <a:r>
              <a:rPr sz="1500" dirty="0" err="1"/>
              <a:t>adat</a:t>
            </a:r>
            <a:r>
              <a:rPr sz="1500" dirty="0"/>
              <a:t> di 32 DUN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→ </a:t>
            </a:r>
            <a:r>
              <a:rPr sz="1500" dirty="0" err="1"/>
              <a:t>Hadkan</a:t>
            </a:r>
            <a:r>
              <a:rPr sz="1500" dirty="0"/>
              <a:t> 10 DUN </a:t>
            </a:r>
            <a:r>
              <a:rPr sz="1500" dirty="0" err="1"/>
              <a:t>Undang</a:t>
            </a:r>
            <a:r>
              <a:rPr sz="1500" dirty="0"/>
              <a:t> · 20 MN </a:t>
            </a:r>
            <a:r>
              <a:rPr sz="1500" dirty="0" err="1"/>
              <a:t>operasi</a:t>
            </a:r>
            <a:r>
              <a:rPr sz="1500" dirty="0"/>
              <a:t> standard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rPr sz="1500" dirty="0"/>
              <a:t>PH frame «MN anti-</a:t>
            </a:r>
            <a:r>
              <a:rPr sz="1500" dirty="0" err="1"/>
              <a:t>Melayu</a:t>
            </a:r>
            <a:r>
              <a:rPr sz="1500" dirty="0"/>
              <a:t>/</a:t>
            </a:r>
            <a:r>
              <a:rPr sz="1500" dirty="0" err="1"/>
              <a:t>adat</a:t>
            </a:r>
            <a:r>
              <a:rPr sz="1500" dirty="0"/>
              <a:t>»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→ Edu</a:t>
            </a:r>
            <a:r>
              <a:rPr lang="en-US" sz="1500" dirty="0"/>
              <a:t>cate</a:t>
            </a:r>
            <a:r>
              <a:rPr sz="1500" dirty="0"/>
              <a:t> + neutral tone · </a:t>
            </a:r>
            <a:r>
              <a:rPr sz="1500" dirty="0" err="1"/>
              <a:t>jangan</a:t>
            </a:r>
            <a:r>
              <a:rPr sz="1500" dirty="0"/>
              <a:t> feed K3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 err="1"/>
              <a:t>InsightPulse</a:t>
            </a:r>
            <a:r>
              <a:rPr dirty="0"/>
              <a:t> · PAS/MN N9 · </a:t>
            </a:r>
            <a:r>
              <a:rPr dirty="0" err="1"/>
              <a:t>Bukan</a:t>
            </a:r>
            <a:r>
              <a:rPr dirty="0"/>
              <a:t> polling SPR · </a:t>
            </a:r>
            <a:r>
              <a:rPr dirty="0" err="1"/>
              <a:t>Sahkan</a:t>
            </a:r>
            <a:r>
              <a:rPr dirty="0"/>
              <a:t> </a:t>
            </a:r>
            <a:r>
              <a:rPr dirty="0" err="1"/>
              <a:t>lapangan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1234</Words>
  <Application>Microsoft Macintosh PowerPoint</Application>
  <PresentationFormat>On-screen Show (4:3)</PresentationFormat>
  <Paragraphs>231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Mohd Tariqi Raja Lope Ahmad</cp:lastModifiedBy>
  <cp:revision>5</cp:revision>
  <dcterms:created xsi:type="dcterms:W3CDTF">2013-01-27T09:14:16Z</dcterms:created>
  <dcterms:modified xsi:type="dcterms:W3CDTF">2026-07-04T18:39:52Z</dcterms:modified>
  <cp:category/>
</cp:coreProperties>
</file>