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8229600" cy="12801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Aft>
                <a:spcPts val="800"/>
              </a:spcAft>
              <a:defRPr sz="3400" b="1">
                <a:solidFill>
                  <a:srgbClr val="003366"/>
                </a:solidFill>
              </a:defRPr>
            </a:pPr>
            <a:r>
              <a:t>Pengundi Malaysia · Poll FB N9</a:t>
            </a:r>
          </a:p>
          <a:p>
            <a:pPr>
              <a:spcAft>
                <a:spcPts val="800"/>
              </a:spcAft>
              <a:defRPr sz="2000" b="0">
                <a:solidFill>
                  <a:srgbClr val="16A34A"/>
                </a:solidFill>
              </a:defRPr>
            </a:pPr>
            <a:r>
              <a:t>Insight Operasi &amp; Cadangan Tindakan — UMNO+PAS vs PH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651760"/>
            <a:ext cx="8229600" cy="1463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1E293B"/>
                </a:solidFill>
              </a:defRPr>
            </a:pPr>
            <a:r>
              <a:t>Engagement post: 1,882 (👍 1,051 · 💬 781 · ↗ 50)</a:t>
            </a:r>
          </a:p>
          <a:p>
            <a:pPr>
              <a:spcAft>
                <a:spcPts val="800"/>
              </a:spcAft>
              <a:defRPr sz="1400" b="0">
                <a:solidFill>
                  <a:srgbClr val="64748B"/>
                </a:solidFill>
              </a:defRPr>
            </a:pPr>
            <a:r>
              <a:t>531 komen di crawl · 560 engagement komen (InsightPulse)</a:t>
            </a:r>
          </a:p>
          <a:p>
            <a:pPr>
              <a:spcAft>
                <a:spcPts val="800"/>
              </a:spcAft>
              <a:defRPr sz="1300" b="0">
                <a:solidFill>
                  <a:srgbClr val="64748B"/>
                </a:solidFill>
              </a:defRPr>
            </a:pPr>
            <a:r>
              <a:t>Post URL Batch · InsightPulse Social Listening · Bukan polling SPR</a:t>
            </a:r>
          </a:p>
          <a:p>
            <a:pPr>
              <a:spcAft>
                <a:spcPts val="800"/>
              </a:spcAft>
              <a:defRPr sz="1200" b="0">
                <a:solidFill>
                  <a:srgbClr val="64748B"/>
                </a:solidFill>
              </a:defRPr>
            </a:pPr>
            <a:r>
              <a:t>Dijana: 2026-07-05 00:30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InsightPulse · Pengundi Malaysia Poll N9 · Bukan polling SPR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832104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Cara Baca Laporan Ini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8229600" cy="5029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Aft>
                <a:spcPts val="1000"/>
              </a:spcAft>
              <a:defRPr sz="1400" b="0">
                <a:solidFill>
                  <a:srgbClr val="1E293B"/>
                </a:solidFill>
              </a:defRPr>
            </a:pPr>
            <a:r>
              <a:t>• Sumber: 1 post FB «Pengundi Malaysia» — engagement post 1,882 (like 1,051 + komen 781 + share 50).</a:t>
            </a:r>
          </a:p>
          <a:p>
            <a:pPr>
              <a:spcAft>
                <a:spcPts val="1000"/>
              </a:spcAft>
              <a:defRPr sz="1400" b="0">
                <a:solidFill>
                  <a:srgbClr val="1E293B"/>
                </a:solidFill>
              </a:defRPr>
            </a:pPr>
            <a:r>
              <a:t>• Poll A/B via komen — 781 komen di FB, 531 captured ≈68%.</a:t>
            </a:r>
          </a:p>
          <a:p>
            <a:pPr>
              <a:spcAft>
                <a:spcPts val="1000"/>
              </a:spcAft>
              <a:defRPr sz="1400" b="0">
                <a:solidFill>
                  <a:srgbClr val="1E293B"/>
                </a:solidFill>
              </a:defRPr>
            </a:pPr>
            <a:r>
              <a:t>• Soalan: Sokong kerjasama UMNO &amp; PAS lawan Pakatan Harapan di PRN Negeri Sembilan?</a:t>
            </a:r>
          </a:p>
          <a:p>
            <a:pPr>
              <a:spcAft>
                <a:spcPts val="1000"/>
              </a:spcAft>
              <a:defRPr sz="1400" b="0">
                <a:solidFill>
                  <a:srgbClr val="1E293B"/>
                </a:solidFill>
              </a:defRPr>
            </a:pPr>
            <a:r>
              <a:t>• Klasifikasi: (A) Sokong eksplisit · (A-soft) implisit pro-MN · (B) Tidak Sokong · Other = debat/nuansa.</a:t>
            </a:r>
          </a:p>
          <a:p>
            <a:pPr>
              <a:spcAft>
                <a:spcPts val="1000"/>
              </a:spcAft>
              <a:defRPr sz="1400" b="0">
                <a:solidFill>
                  <a:srgbClr val="1E293B"/>
                </a:solidFill>
              </a:defRPr>
            </a:pPr>
            <a:r>
              <a:t>• Angka undi: 89.3% Sokong vs 10.7% Tolak (komen yang jelas ambil pihak, n=233).</a:t>
            </a:r>
          </a:p>
          <a:p>
            <a:pPr>
              <a:spcAft>
                <a:spcPts val="1000"/>
              </a:spcAft>
              <a:defRPr sz="1400" b="0">
                <a:solidFill>
                  <a:srgbClr val="1E293B"/>
                </a:solidFill>
              </a:defRPr>
            </a:pPr>
            <a:r>
              <a:t>• Sentimen &amp; emosi = nuansa nada (boleh sokong coalisi tapi nada anti-DAP/PH).</a:t>
            </a:r>
          </a:p>
          <a:p>
            <a:pPr>
              <a:spcAft>
                <a:spcPts val="1000"/>
              </a:spcAft>
              <a:defRPr sz="1400" b="0">
                <a:solidFill>
                  <a:srgbClr val="1E293B"/>
                </a:solidFill>
              </a:defRPr>
            </a:pPr>
            <a:r>
              <a:t>• Demografi = proxy bahasa (BM/Cina/India/Urban) — bukan profil FB rasmi.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InsightPulse · Pengundi Malaysia Poll N9 · Bukan polling SPR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832104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Ringkasan Eksekutif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960120"/>
            <a:ext cx="1965960" cy="96012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1069848"/>
            <a:ext cx="173736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Aft>
                <a:spcPts val="200"/>
              </a:spcAft>
              <a:defRPr sz="2600" b="1">
                <a:solidFill>
                  <a:srgbClr val="003366"/>
                </a:solidFill>
              </a:defRPr>
            </a:pPr>
            <a:r>
              <a:t>1,882</a:t>
            </a:r>
          </a:p>
          <a:p>
            <a:pPr>
              <a:spcAft>
                <a:spcPts val="0"/>
              </a:spcAft>
              <a:defRPr sz="1000" b="0">
                <a:solidFill>
                  <a:srgbClr val="64748B"/>
                </a:solidFill>
              </a:defRPr>
            </a:pPr>
            <a:r>
              <a:t>Engagement Post</a:t>
            </a:r>
          </a:p>
        </p:txBody>
      </p:sp>
      <p:sp>
        <p:nvSpPr>
          <p:cNvPr id="6" name="Rectangle 5"/>
          <p:cNvSpPr/>
          <p:nvPr/>
        </p:nvSpPr>
        <p:spPr>
          <a:xfrm>
            <a:off x="2423160" y="960120"/>
            <a:ext cx="1965960" cy="96012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532888" y="1069848"/>
            <a:ext cx="173736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Aft>
                <a:spcPts val="200"/>
              </a:spcAft>
              <a:defRPr sz="2600" b="1">
                <a:solidFill>
                  <a:srgbClr val="003366"/>
                </a:solidFill>
              </a:defRPr>
            </a:pPr>
            <a:r>
              <a:t>531</a:t>
            </a:r>
          </a:p>
          <a:p>
            <a:pPr>
              <a:spcAft>
                <a:spcPts val="0"/>
              </a:spcAft>
              <a:defRPr sz="1000" b="0">
                <a:solidFill>
                  <a:srgbClr val="64748B"/>
                </a:solidFill>
              </a:defRPr>
            </a:pPr>
            <a:r>
              <a:t>Komen Crawl</a:t>
            </a:r>
          </a:p>
        </p:txBody>
      </p:sp>
      <p:sp>
        <p:nvSpPr>
          <p:cNvPr id="8" name="Rectangle 7"/>
          <p:cNvSpPr/>
          <p:nvPr/>
        </p:nvSpPr>
        <p:spPr>
          <a:xfrm>
            <a:off x="4480560" y="960120"/>
            <a:ext cx="1965960" cy="96012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90288" y="1069848"/>
            <a:ext cx="173736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Aft>
                <a:spcPts val="200"/>
              </a:spcAft>
              <a:defRPr sz="2600" b="1">
                <a:solidFill>
                  <a:srgbClr val="16A34A"/>
                </a:solidFill>
              </a:defRPr>
            </a:pPr>
            <a:r>
              <a:t>89.3%</a:t>
            </a:r>
          </a:p>
          <a:p>
            <a:pPr>
              <a:spcAft>
                <a:spcPts val="0"/>
              </a:spcAft>
              <a:defRPr sz="1000" b="0">
                <a:solidFill>
                  <a:srgbClr val="64748B"/>
                </a:solidFill>
              </a:defRPr>
            </a:pPr>
            <a:r>
              <a:t>Sokong (A)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37960" y="960120"/>
            <a:ext cx="1965960" cy="96012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47688" y="1069848"/>
            <a:ext cx="173736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Aft>
                <a:spcPts val="200"/>
              </a:spcAft>
              <a:defRPr sz="2600" b="1">
                <a:solidFill>
                  <a:srgbClr val="C8102E"/>
                </a:solidFill>
              </a:defRPr>
            </a:pPr>
            <a:r>
              <a:t>10.7%</a:t>
            </a:r>
          </a:p>
          <a:p>
            <a:pPr>
              <a:spcAft>
                <a:spcPts val="0"/>
              </a:spcAft>
              <a:defRPr sz="1000" b="0">
                <a:solidFill>
                  <a:srgbClr val="64748B"/>
                </a:solidFill>
              </a:defRPr>
            </a:pPr>
            <a:r>
              <a:t>Tidak Sokong (B)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2148840"/>
            <a:ext cx="8229600" cy="3840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1E293B"/>
                </a:solidFill>
              </a:defRPr>
            </a:pPr>
            <a:r>
              <a:t>• Post viral: 1,882 engagement FB (1,051 like · 781 komen · 50 share) — reach tinggi untuk N9.</a:t>
            </a:r>
          </a:p>
          <a:p>
            <a:pPr>
              <a:spcAft>
                <a:spcPts val="700"/>
              </a:spcAft>
              <a:defRPr sz="1300" b="0">
                <a:solidFill>
                  <a:srgbClr val="1E293B"/>
                </a:solidFill>
              </a:defRPr>
            </a:pPr>
            <a:r>
              <a:t>• Sokong UMNO+PAS lawan PH: ~89.3% vs 10.7% tolak (komen jelas, n=233) — naratif MN condong kuat.</a:t>
            </a:r>
          </a:p>
          <a:p>
            <a:pPr>
              <a:spcAft>
                <a:spcPts val="700"/>
              </a:spcAft>
              <a:defRPr sz="1300" b="0">
                <a:solidFill>
                  <a:srgbClr val="1E293B"/>
                </a:solidFill>
              </a:defRPr>
            </a:pPr>
            <a:r>
              <a:t>• 56.1% komen = debat/nuansa (contoh: sokong tapi tolak gabung UMNO) — jangan over-claim kemenangan.</a:t>
            </a:r>
          </a:p>
          <a:p>
            <a:pPr>
              <a:spcAft>
                <a:spcPts val="700"/>
              </a:spcAft>
              <a:defRPr sz="1300" b="0">
                <a:solidFill>
                  <a:srgbClr val="1E293B"/>
                </a:solidFill>
              </a:defRPr>
            </a:pPr>
            <a:r>
              <a:t>• Sentimen: 222 neg (42%) · 191 pos · 118 neutral — sokong coalisi, nada sering anti-DAP/PH.</a:t>
            </a:r>
          </a:p>
          <a:p>
            <a:pPr>
              <a:spcAft>
                <a:spcPts val="700"/>
              </a:spcAft>
              <a:defRPr sz="1300" b="0">
                <a:solidFill>
                  <a:srgbClr val="1E293B"/>
                </a:solidFill>
              </a:defRPr>
            </a:pPr>
            <a:r>
              <a:t>• Emosi dominan: Love 284 (53%) — frame penyatuan ummah/Melayu.</a:t>
            </a:r>
          </a:p>
          <a:p>
            <a:pPr>
              <a:spcAft>
                <a:spcPts val="700"/>
              </a:spcAft>
              <a:defRPr sz="1300" b="0">
                <a:solidFill>
                  <a:srgbClr val="1E293B"/>
                </a:solidFill>
              </a:defRPr>
            </a:pPr>
            <a:r>
              <a:t>• Audiens: Melayu/Bumiputera 335 (63%) — selaras sasaran MN N9.</a:t>
            </a:r>
          </a:p>
          <a:p>
            <a:pPr>
              <a:spcAft>
                <a:spcPts val="700"/>
              </a:spcAft>
              <a:defRPr sz="1300" b="0">
                <a:solidFill>
                  <a:srgbClr val="1E293B"/>
                </a:solidFill>
              </a:defRPr>
            </a:pPr>
            <a:r>
              <a:t>• Implikasi: naratif «lawan DAP/PH» resonan; elak over-celebrate — galvanize debat → jawapan A.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InsightPulse · Pengundi Malaysia Poll N9 · Bukan polling SPR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832104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Soalan Poll A/B — 531 Komen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914400"/>
            <a:ext cx="4023360" cy="22860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003366"/>
                </a:solidFill>
              </a:defRPr>
            </a:pPr>
            <a:r>
              <a:t>Pecahan undi (komen)</a:t>
            </a:r>
          </a:p>
          <a:p>
            <a:pPr>
              <a:spcAft>
                <a:spcPts val="400"/>
              </a:spcAft>
              <a:defRPr sz="1300" b="0">
                <a:solidFill>
                  <a:srgbClr val="1E293B"/>
                </a:solidFill>
              </a:defRPr>
            </a:pPr>
            <a:r>
              <a:t>(A) Sokong eksplisit: 163 (30.7%)</a:t>
            </a:r>
          </a:p>
          <a:p>
            <a:pPr>
              <a:spcAft>
                <a:spcPts val="400"/>
              </a:spcAft>
              <a:defRPr sz="1300" b="0">
                <a:solidFill>
                  <a:srgbClr val="1E293B"/>
                </a:solidFill>
              </a:defRPr>
            </a:pPr>
            <a:r>
              <a:t>(A) Sokong implisit: 45 (8.5%)</a:t>
            </a:r>
          </a:p>
          <a:p>
            <a:pPr>
              <a:spcAft>
                <a:spcPts val="400"/>
              </a:spcAft>
              <a:defRPr sz="1300" b="0">
                <a:solidFill>
                  <a:srgbClr val="1E293B"/>
                </a:solidFill>
              </a:defRPr>
            </a:pPr>
            <a:r>
              <a:t>(B) Tidak Sokong: 25 (4.7%)</a:t>
            </a:r>
          </a:p>
          <a:p>
            <a:pPr>
              <a:spcAft>
                <a:spcPts val="400"/>
              </a:spcAft>
              <a:defRPr sz="1300" b="0">
                <a:solidFill>
                  <a:srgbClr val="1E293B"/>
                </a:solidFill>
              </a:defRPr>
            </a:pPr>
            <a:r>
              <a:t>Debat / other: 298 (56.1%)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0" y="914400"/>
            <a:ext cx="4114800" cy="22860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16A34A"/>
                </a:solidFill>
              </a:defRPr>
            </a:pPr>
            <a:r>
              <a:t>Komen jelas ambil pihak</a:t>
            </a:r>
          </a:p>
          <a:p>
            <a:pPr>
              <a:spcAft>
                <a:spcPts val="600"/>
              </a:spcAft>
              <a:defRPr sz="1600" b="1">
                <a:solidFill>
                  <a:srgbClr val="16A34A"/>
                </a:solidFill>
              </a:defRPr>
            </a:pPr>
            <a:r>
              <a:t>Sokong (A): 208 (89.3%)</a:t>
            </a:r>
          </a:p>
          <a:p>
            <a:pPr>
              <a:spcAft>
                <a:spcPts val="600"/>
              </a:spcAft>
              <a:defRPr sz="1600" b="1">
                <a:solidFill>
                  <a:srgbClr val="C8102E"/>
                </a:solidFill>
              </a:defRPr>
            </a:pPr>
            <a:r>
              <a:t>Tidak Sokong (B): 25 (10.7%)</a:t>
            </a:r>
          </a:p>
          <a:p>
            <a:pPr>
              <a:spcAft>
                <a:spcPts val="600"/>
              </a:spcAft>
              <a:defRPr sz="1300" b="1">
                <a:solidFill>
                  <a:srgbClr val="003366"/>
                </a:solidFill>
              </a:defRPr>
            </a:pPr>
            <a:r>
              <a:t>Engagement post: 1,882 (👍1,051 💬781 ↗50)</a:t>
            </a:r>
          </a:p>
          <a:p>
            <a:pPr>
              <a:spcAft>
                <a:spcPts val="800"/>
              </a:spcAft>
              <a:defRPr sz="1200" b="0">
                <a:solidFill>
                  <a:srgbClr val="64748B"/>
                </a:solidFill>
              </a:defRPr>
            </a:pPr>
            <a:r>
              <a:t>Crawl 531/781 komen (68%)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3200400"/>
            <a:ext cx="8229600" cy="29260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16A34A"/>
                </a:solidFill>
              </a:defRPr>
            </a:pPr>
            <a:r>
              <a:t>Maksud operasi</a:t>
            </a:r>
          </a:p>
          <a:p>
            <a:pPr>
              <a:spcAft>
                <a:spcPts val="800"/>
              </a:spcAft>
              <a:defRPr sz="1400" b="0">
                <a:solidFill>
                  <a:srgbClr val="1E293B"/>
                </a:solidFill>
              </a:defRPr>
            </a:pPr>
            <a:r>
              <a:t>Page umum pro-MN — bukan sampling representatif seluruh N9. Gunakan sebagai signal digital, bukan angka undi rasmi.</a:t>
            </a:r>
          </a:p>
          <a:p>
            <a:pPr>
              <a:spcAft>
                <a:spcPts val="800"/>
              </a:spcAft>
              <a:defRPr sz="1400" b="0">
                <a:solidFill>
                  <a:srgbClr val="1E293B"/>
                </a:solidFill>
              </a:defRPr>
            </a:pPr>
            <a:r>
              <a:t>Ramai (56.1%) tidak jawab A/B terus — mereka DEBAT (anti-DAP, pro-Melayu, skeptikal UMNO). Tugas: tukar debat → sokong MN dengan mesej ringkas.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InsightPulse · Pengundi Malaysia Poll N9 · Bukan polling SPR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832104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Sentimen &amp; Emosi — Nuansa Naratif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960120"/>
            <a:ext cx="3931920" cy="21031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003366"/>
                </a:solidFill>
              </a:defRPr>
            </a:pPr>
            <a:r>
              <a:t>Sentimen komen</a:t>
            </a:r>
          </a:p>
          <a:p>
            <a:pPr>
              <a:spcAft>
                <a:spcPts val="400"/>
              </a:spcAft>
              <a:defRPr sz="1300" b="0">
                <a:solidFill>
                  <a:srgbClr val="1E293B"/>
                </a:solidFill>
              </a:defRPr>
            </a:pPr>
            <a:r>
              <a:t>Negative: 222 (41.8%)</a:t>
            </a:r>
          </a:p>
          <a:p>
            <a:pPr>
              <a:spcAft>
                <a:spcPts val="400"/>
              </a:spcAft>
              <a:defRPr sz="1300" b="0">
                <a:solidFill>
                  <a:srgbClr val="1E293B"/>
                </a:solidFill>
              </a:defRPr>
            </a:pPr>
            <a:r>
              <a:t>Positive: 191 (36.0%)</a:t>
            </a:r>
          </a:p>
          <a:p>
            <a:pPr>
              <a:spcAft>
                <a:spcPts val="400"/>
              </a:spcAft>
              <a:defRPr sz="1300" b="0">
                <a:solidFill>
                  <a:srgbClr val="1E293B"/>
                </a:solidFill>
              </a:defRPr>
            </a:pPr>
            <a:r>
              <a:t>Neutral: 118 (22.2%)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0" y="960120"/>
            <a:ext cx="4114800" cy="21031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003366"/>
                </a:solidFill>
              </a:defRPr>
            </a:pPr>
            <a:r>
              <a:t>Emosi dominan</a:t>
            </a:r>
          </a:p>
          <a:p>
            <a:pPr>
              <a:spcAft>
                <a:spcPts val="400"/>
              </a:spcAft>
              <a:defRPr sz="1300" b="0">
                <a:solidFill>
                  <a:srgbClr val="1E293B"/>
                </a:solidFill>
              </a:defRPr>
            </a:pPr>
            <a:r>
              <a:t>love: 284 (53.5%)</a:t>
            </a:r>
          </a:p>
          <a:p>
            <a:pPr>
              <a:spcAft>
                <a:spcPts val="400"/>
              </a:spcAft>
              <a:defRPr sz="1300" b="0">
                <a:solidFill>
                  <a:srgbClr val="1E293B"/>
                </a:solidFill>
              </a:defRPr>
            </a:pPr>
            <a:r>
              <a:t>no_clear_emotion: 176 (33.1%)</a:t>
            </a:r>
          </a:p>
          <a:p>
            <a:pPr>
              <a:spcAft>
                <a:spcPts val="400"/>
              </a:spcAft>
              <a:defRPr sz="1300" b="0">
                <a:solidFill>
                  <a:srgbClr val="1E293B"/>
                </a:solidFill>
              </a:defRPr>
            </a:pPr>
            <a:r>
              <a:t>anger: 20 (3.8%)</a:t>
            </a:r>
          </a:p>
          <a:p>
            <a:pPr>
              <a:spcAft>
                <a:spcPts val="400"/>
              </a:spcAft>
              <a:defRPr sz="1300" b="0">
                <a:solidFill>
                  <a:srgbClr val="1E293B"/>
                </a:solidFill>
              </a:defRPr>
            </a:pPr>
            <a:r>
              <a:t>surprise: 15 (2.8%)</a:t>
            </a:r>
          </a:p>
          <a:p>
            <a:pPr>
              <a:spcAft>
                <a:spcPts val="400"/>
              </a:spcAft>
              <a:defRPr sz="1300" b="0">
                <a:solidFill>
                  <a:srgbClr val="1E293B"/>
                </a:solidFill>
              </a:defRPr>
            </a:pPr>
            <a:r>
              <a:t>fear: 15 (2.8%)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3108960"/>
            <a:ext cx="8229600" cy="32004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D97706"/>
                </a:solidFill>
              </a:defRPr>
            </a:pPr>
            <a:r>
              <a:t>Insight</a:t>
            </a:r>
          </a:p>
          <a:p>
            <a:pPr>
              <a:spcAft>
                <a:spcPts val="800"/>
              </a:spcAft>
              <a:defRPr sz="1400" b="0">
                <a:solidFill>
                  <a:srgbClr val="1E293B"/>
                </a:solidFill>
              </a:defRPr>
            </a:pPr>
            <a:r>
              <a:t>Negatif tinggi ≠ tolak coalisi — kebanyakan negatif = hina DAP/PH/Aminuddin, bukan tolak PAS+UMNO.</a:t>
            </a:r>
          </a:p>
          <a:p>
            <a:pPr>
              <a:spcAft>
                <a:spcPts val="800"/>
              </a:spcAft>
              <a:defRPr sz="1400" b="0">
                <a:solidFill>
                  <a:srgbClr val="1E293B"/>
                </a:solidFill>
              </a:defRPr>
            </a:pPr>
            <a:r>
              <a:t>Love 53% = frame emosi «penyatuan ummah/Melayu» — guna dalam mesej kempen, bukan debat agama kasar.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InsightPulse · Pengundi Malaysia Poll N9 · Bukan polling SPR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832104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Demografi Audiens (Proxy Bahasa)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20040" y="960120"/>
          <a:ext cx="8503920" cy="22311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25980"/>
                <a:gridCol w="2125980"/>
                <a:gridCol w="2125980"/>
                <a:gridCol w="2125980"/>
              </a:tblGrid>
              <a:tr h="371856">
                <a:tc>
                  <a:txBody>
                    <a:bodyPr/>
                    <a:lstStyle/>
                    <a:p>
                      <a:pPr>
                        <a:defRPr b="1" sz="900"/>
                      </a:pPr>
                      <a:r>
                        <a:t>Kumpulan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900"/>
                      </a:pPr>
                      <a:r>
                        <a:t>Komen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900"/>
                      </a:pPr>
                      <a:r>
                        <a:t>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900"/>
                      </a:pPr>
                      <a:r>
                        <a:t>Sokong/Tolak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371856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Malay/Bumiputera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335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63.1%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A 89% / B 11%</a:t>
                      </a:r>
                    </a:p>
                  </a:txBody>
                  <a:tcPr/>
                </a:tc>
              </a:tr>
              <a:tr h="371856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Unknown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25.6%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A 90% / B 10%</a:t>
                      </a:r>
                    </a:p>
                  </a:txBody>
                  <a:tcPr/>
                </a:tc>
              </a:tr>
              <a:tr h="371856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Mixed/Urban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8.7%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—</a:t>
                      </a:r>
                    </a:p>
                  </a:txBody>
                  <a:tcPr/>
                </a:tc>
              </a:tr>
              <a:tr h="371856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Chinese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2.1%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—</a:t>
                      </a:r>
                    </a:p>
                  </a:txBody>
                  <a:tcPr/>
                </a:tc>
              </a:tr>
              <a:tr h="371856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Indian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0.6%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—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InsightPulse · Pengundi Malaysia Poll N9 · Bukan polling SPR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832104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Top 10 Komen — Engagement Tertinggi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20040" y="960120"/>
          <a:ext cx="8503920" cy="37856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25980"/>
                <a:gridCol w="2125980"/>
                <a:gridCol w="2125980"/>
                <a:gridCol w="2125980"/>
              </a:tblGrid>
              <a:tr h="344146">
                <a:tc>
                  <a:txBody>
                    <a:bodyPr/>
                    <a:lstStyle/>
                    <a:p>
                      <a:pPr>
                        <a:defRPr b="1" sz="800"/>
                      </a:pPr>
                      <a:r>
                        <a:t>Eng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800"/>
                      </a:pPr>
                      <a:r>
                        <a:t>Undi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800"/>
                      </a:pPr>
                      <a:r>
                        <a:t>Sentimen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800"/>
                      </a:pPr>
                      <a:r>
                        <a:t>Komen (ringkas)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344146"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65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A*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negative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AAAA.... Sokong Umno PAS sbb melayu Islam. Pastikan Kerajaan negeri NS</a:t>
                      </a:r>
                    </a:p>
                  </a:txBody>
                  <a:tcPr/>
                </a:tc>
              </a:tr>
              <a:tr h="344146"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A*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neutral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Kita tolak mudhorat lebih besar ..Asal calon PH kalah..</a:t>
                      </a:r>
                    </a:p>
                  </a:txBody>
                  <a:tcPr/>
                </a:tc>
              </a:tr>
              <a:tr h="344146"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63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A*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neutral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Bersatulah orang Melayu</a:t>
                      </a:r>
                    </a:p>
                  </a:txBody>
                  <a:tcPr/>
                </a:tc>
              </a:tr>
              <a:tr h="344146"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57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A*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negative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Aku sokong semua yang lawan 👊 DAP</a:t>
                      </a:r>
                    </a:p>
                  </a:txBody>
                  <a:tcPr/>
                </a:tc>
              </a:tr>
              <a:tr h="344146"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41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positive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Apa sahaja, yg penting kerajaan tanpa bangsa DAP!  Mulakan negeri2 Pus</a:t>
                      </a:r>
                    </a:p>
                  </a:txBody>
                  <a:tcPr/>
                </a:tc>
              </a:tr>
              <a:tr h="344146"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negative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Bersatu lah wahai bangsa ku agar Tanah pusaka nenek moyang ini tetap d</a:t>
                      </a:r>
                    </a:p>
                  </a:txBody>
                  <a:tcPr/>
                </a:tc>
              </a:tr>
              <a:tr h="344146"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neutral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A sokong bn bergabung dgn pas, tolak parti harapan yg tinggal harapan.</a:t>
                      </a:r>
                    </a:p>
                  </a:txBody>
                  <a:tcPr/>
                </a:tc>
              </a:tr>
              <a:tr h="344146"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neutral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Sgt sokong demi jatuhkan dap</a:t>
                      </a:r>
                    </a:p>
                  </a:txBody>
                  <a:tcPr/>
                </a:tc>
              </a:tr>
              <a:tr h="344146"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negative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Saya sokong yg A  kembali lah bersatu demi islm dan melayu Msia.Seprti</a:t>
                      </a:r>
                    </a:p>
                  </a:txBody>
                  <a:tcPr/>
                </a:tc>
              </a:tr>
              <a:tr h="344156"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neutral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A / Demi Penyatuan Ummah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InsightPulse · Pengundi Malaysia Poll N9 · Bukan polling SPR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832104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Tindakan Segera — 7 Hari (P1)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960120"/>
            <a:ext cx="685800" cy="292608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84048" y="996696"/>
            <a:ext cx="640080" cy="25603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Aft>
                <a:spcPts val="0"/>
              </a:spcAft>
              <a:defRPr sz="1000" b="1">
                <a:solidFill>
                  <a:srgbClr val="FFFFFF"/>
                </a:solidFill>
              </a:defRPr>
            </a:pPr>
            <a:r>
              <a:t>P1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960120"/>
            <a:ext cx="5394960" cy="5029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Aft>
                <a:spcPts val="200"/>
              </a:spcAft>
              <a:defRPr sz="1300" b="1">
                <a:solidFill>
                  <a:srgbClr val="1E293B"/>
                </a:solidFill>
              </a:defRPr>
            </a:pPr>
            <a:r>
              <a:t>Monitor post Pengundi Malaysia — balas komen B/tolak &amp; tanya semula: «A Sokong atau B Tidak Sokong?»</a:t>
            </a:r>
          </a:p>
          <a:p>
            <a:pPr>
              <a:spcAft>
                <a:spcPts val="0"/>
              </a:spcAft>
              <a:defRPr sz="1000" b="0">
                <a:solidFill>
                  <a:srgbClr val="64748B"/>
                </a:solidFill>
              </a:defRPr>
            </a:pPr>
            <a:r>
              <a:t>Admin digital + 2 sukarelawan · 2× sehari · KPI: 20 balasan berstruktur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527048"/>
            <a:ext cx="685800" cy="292608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84048" y="1563624"/>
            <a:ext cx="640080" cy="25603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Aft>
                <a:spcPts val="0"/>
              </a:spcAft>
              <a:defRPr sz="1000" b="1">
                <a:solidFill>
                  <a:srgbClr val="FFFFFF"/>
                </a:solidFill>
              </a:defRPr>
            </a:pPr>
            <a:r>
              <a:t>P1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527048"/>
            <a:ext cx="5394960" cy="5029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Aft>
                <a:spcPts val="200"/>
              </a:spcAft>
              <a:defRPr sz="1300" b="1">
                <a:solidFill>
                  <a:srgbClr val="1E293B"/>
                </a:solidFill>
              </a:defRPr>
            </a:pPr>
            <a:r>
              <a:t>Siarkan infographic 1-slide: MN lawan PH · elak pecah undi Melayu · data poll ~89% sokong (komen jelas).</a:t>
            </a:r>
          </a:p>
          <a:p>
            <a:pPr>
              <a:spcAft>
                <a:spcPts val="0"/>
              </a:spcAft>
              <a:defRPr sz="1000" b="0">
                <a:solidFill>
                  <a:srgbClr val="64748B"/>
                </a:solidFill>
              </a:defRPr>
            </a:pPr>
            <a:r>
              <a:t>Media PAS N9 · share ke group WhatsApp kempen · Jumaat petang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093976"/>
            <a:ext cx="685800" cy="292608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84048" y="2130552"/>
            <a:ext cx="640080" cy="25603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Aft>
                <a:spcPts val="0"/>
              </a:spcAft>
              <a:defRPr sz="1000" b="1">
                <a:solidFill>
                  <a:srgbClr val="FFFFFF"/>
                </a:solidFill>
              </a:defRPr>
            </a:pPr>
            <a:r>
              <a:t>P1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2093976"/>
            <a:ext cx="5394960" cy="5029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Aft>
                <a:spcPts val="200"/>
              </a:spcAft>
              <a:defRPr sz="1300" b="1">
                <a:solidFill>
                  <a:srgbClr val="1E293B"/>
                </a:solidFill>
              </a:defRPr>
            </a:pPr>
            <a:r>
              <a:t>Echo naratif «lawan DAP/PH» di ceramah/konten — guna frasa top komen (Melayu Islam, tolak pengaruh DAP).</a:t>
            </a:r>
          </a:p>
          <a:p>
            <a:pPr>
              <a:spcAft>
                <a:spcPts val="0"/>
              </a:spcAft>
              <a:defRPr sz="1000" b="0">
                <a:solidFill>
                  <a:srgbClr val="64748B"/>
                </a:solidFill>
              </a:defRPr>
            </a:pPr>
            <a:r>
              <a:t>Comms N9 · brief semua ketua DUN · hari ini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2660904"/>
            <a:ext cx="685800" cy="292608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84048" y="2697480"/>
            <a:ext cx="640080" cy="25603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Aft>
                <a:spcPts val="0"/>
              </a:spcAft>
              <a:defRPr sz="1000" b="1">
                <a:solidFill>
                  <a:srgbClr val="FFFFFF"/>
                </a:solidFill>
              </a:defRPr>
            </a:pPr>
            <a:r>
              <a:t>P1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2660904"/>
            <a:ext cx="5394960" cy="5029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Aft>
                <a:spcPts val="200"/>
              </a:spcAft>
              <a:defRPr sz="1300" b="1">
                <a:solidFill>
                  <a:srgbClr val="1E293B"/>
                </a:solidFill>
              </a:defRPr>
            </a:pPr>
            <a:r>
              <a:t>Masukkan signal poll ke War Room Pulse Digital → Action Center (kerusi MN priority).</a:t>
            </a:r>
          </a:p>
          <a:p>
            <a:pPr>
              <a:spcAft>
                <a:spcPts val="0"/>
              </a:spcAft>
              <a:defRPr sz="1000" b="0">
                <a:solidFill>
                  <a:srgbClr val="64748B"/>
                </a:solidFill>
              </a:defRPr>
            </a:pPr>
            <a:r>
              <a:t>HQ digital · update dashboard · sebelum war room mingguan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InsightPulse · Pengundi Malaysia Poll N9 · Bukan polling SPR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832104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Tindakan Momentum — 2–4 Minggu (P2)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960120"/>
            <a:ext cx="685800" cy="29260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84048" y="996696"/>
            <a:ext cx="640080" cy="25603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Aft>
                <a:spcPts val="0"/>
              </a:spcAft>
              <a:defRPr sz="1000" b="1">
                <a:solidFill>
                  <a:srgbClr val="FFFFFF"/>
                </a:solidFill>
              </a:defRPr>
            </a:pPr>
            <a:r>
              <a:t>P2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960120"/>
            <a:ext cx="5394960" cy="5029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Aft>
                <a:spcPts val="200"/>
              </a:spcAft>
              <a:defRPr sz="1300" b="1">
                <a:solidFill>
                  <a:srgbClr val="1E293B"/>
                </a:solidFill>
              </a:defRPr>
            </a:pPr>
            <a:r>
              <a:t>Ulang poll format serupa di page lain (PAS Rembau, Chembong, dll.) — banding A/B across DUN.</a:t>
            </a:r>
          </a:p>
          <a:p>
            <a:pPr>
              <a:spcAft>
                <a:spcPts val="0"/>
              </a:spcAft>
              <a:defRPr sz="1000" b="0">
                <a:solidFill>
                  <a:srgbClr val="64748B"/>
                </a:solidFill>
              </a:defRPr>
            </a:pPr>
            <a:r>
              <a:t>Digital team · Post URL Batch InsightPulse · 1 post/minggu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527048"/>
            <a:ext cx="685800" cy="29260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84048" y="1563624"/>
            <a:ext cx="640080" cy="25603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Aft>
                <a:spcPts val="0"/>
              </a:spcAft>
              <a:defRPr sz="1000" b="1">
                <a:solidFill>
                  <a:srgbClr val="FFFFFF"/>
                </a:solidFill>
              </a:defRPr>
            </a:pPr>
            <a:r>
              <a:t>P2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527048"/>
            <a:ext cx="5394960" cy="5029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Aft>
                <a:spcPts val="200"/>
              </a:spcAft>
              <a:defRPr sz="1300" b="1">
                <a:solidFill>
                  <a:srgbClr val="1E293B"/>
                </a:solidFill>
              </a:defRPr>
            </a:pPr>
            <a:r>
              <a:t>Sedia 5 fakta rebut Pro-PH/debat skeptikal (BN solo, gila jawatan) — doc 1 muka surat.</a:t>
            </a:r>
          </a:p>
          <a:p>
            <a:pPr>
              <a:spcAft>
                <a:spcPts val="0"/>
              </a:spcAft>
              <a:defRPr sz="1000" b="0">
                <a:solidFill>
                  <a:srgbClr val="64748B"/>
                </a:solidFill>
              </a:defRPr>
            </a:pPr>
            <a:r>
              <a:t>Comms + narrative lead · minggu 2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093976"/>
            <a:ext cx="685800" cy="29260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84048" y="2130552"/>
            <a:ext cx="640080" cy="25603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Aft>
                <a:spcPts val="0"/>
              </a:spcAft>
              <a:defRPr sz="1000" b="1">
                <a:solidFill>
                  <a:srgbClr val="FFFFFF"/>
                </a:solidFill>
              </a:defRPr>
            </a:pPr>
            <a:r>
              <a:t>P2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2093976"/>
            <a:ext cx="5394960" cy="5029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Aft>
                <a:spcPts val="200"/>
              </a:spcAft>
              <a:defRPr sz="1300" b="1">
                <a:solidFill>
                  <a:srgbClr val="1E293B"/>
                </a:solidFill>
              </a:defRPr>
            </a:pPr>
            <a:r>
              <a:t>Jalankan Kerja 2 crawl: krisis adat/monarki N9 (Tuanku Muhriz vs Undang 4) — keyword search.</a:t>
            </a:r>
          </a:p>
          <a:p>
            <a:pPr>
              <a:spcAft>
                <a:spcPts val="0"/>
              </a:spcAft>
              <a:defRPr sz="1000" b="0">
                <a:solidFill>
                  <a:srgbClr val="64748B"/>
                </a:solidFill>
              </a:defRPr>
            </a:pPr>
            <a:r>
              <a:t>InsightPulse · query C09 · Facebook + X + News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2660904"/>
            <a:ext cx="685800" cy="29260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84048" y="2697480"/>
            <a:ext cx="640080" cy="25603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Aft>
                <a:spcPts val="0"/>
              </a:spcAft>
              <a:defRPr sz="1000" b="1">
                <a:solidFill>
                  <a:srgbClr val="FFFFFF"/>
                </a:solidFill>
              </a:defRPr>
            </a:pPr>
            <a:r>
              <a:t>P2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2660904"/>
            <a:ext cx="5394960" cy="5029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Aft>
                <a:spcPts val="200"/>
              </a:spcAft>
              <a:defRPr sz="1300" b="1">
                <a:solidFill>
                  <a:srgbClr val="1E293B"/>
                </a:solidFill>
              </a:defRPr>
            </a:pPr>
            <a:r>
              <a:t>Banding poll digital vs cula lapangan (Modul #7 War Room) — validasi signal vs ground truth.</a:t>
            </a:r>
          </a:p>
          <a:p>
            <a:pPr>
              <a:spcAft>
                <a:spcPts val="0"/>
              </a:spcAft>
              <a:defRPr sz="1000" b="0">
                <a:solidFill>
                  <a:srgbClr val="64748B"/>
                </a:solidFill>
              </a:defRPr>
            </a:pPr>
            <a:r>
              <a:t>HQ N9 · mingguan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InsightPulse · Pengundi Malaysia Poll N9 · Bukan polling SPR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832104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Mesej Disyorkan — Ringkas &amp; Boleh Copy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960120"/>
            <a:ext cx="8229600" cy="53035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003366"/>
                </a:solidFill>
              </a:defRPr>
            </a:pPr>
            <a:r>
              <a:t>Balas komen debat</a:t>
            </a:r>
          </a:p>
          <a:p>
            <a:pPr>
              <a:spcAft>
                <a:spcPts val="1000"/>
              </a:spcAft>
              <a:defRPr sz="1200" b="0">
                <a:solidFill>
                  <a:srgbClr val="1E293B"/>
                </a:solidFill>
              </a:defRPr>
            </a:pPr>
            <a:r>
              <a:t>"Terima kasih. PRN N9: PH kalah = matlamat bersama. Sokong A — UMNO+PAS elak pecah undi Melayu. 💚"</a:t>
            </a:r>
          </a:p>
          <a:p>
            <a:pPr>
              <a:spcAft>
                <a:spcPts val="400"/>
              </a:spcAft>
              <a:defRPr sz="1300" b="1">
                <a:solidFill>
                  <a:srgbClr val="003366"/>
                </a:solidFill>
              </a:defRPr>
            </a:pPr>
            <a:r>
              <a:t>Post susulan</a:t>
            </a:r>
          </a:p>
          <a:p>
            <a:pPr>
              <a:spcAft>
                <a:spcPts val="1000"/>
              </a:spcAft>
              <a:defRPr sz="1200" b="0">
                <a:solidFill>
                  <a:srgbClr val="1E293B"/>
                </a:solidFill>
              </a:defRPr>
            </a:pPr>
            <a:r>
              <a:t>"Poll Pengundi Malaysia: ~89.3% sokong MN lawan PH. Bukan masa pecah — fokus lawan DAP."</a:t>
            </a:r>
          </a:p>
          <a:p>
            <a:pPr>
              <a:spcAft>
                <a:spcPts val="400"/>
              </a:spcAft>
              <a:defRPr sz="1300" b="1">
                <a:solidFill>
                  <a:srgbClr val="003366"/>
                </a:solidFill>
              </a:defRPr>
            </a:pPr>
            <a:r>
              <a:t>Frame emosi</a:t>
            </a:r>
          </a:p>
          <a:p>
            <a:pPr>
              <a:spcAft>
                <a:spcPts val="1000"/>
              </a:spcAft>
              <a:defRPr sz="1200" b="0">
                <a:solidFill>
                  <a:srgbClr val="1E293B"/>
                </a:solidFill>
              </a:defRPr>
            </a:pPr>
            <a:r>
              <a:t>"Demi penyatuan ummah &amp; tanah pusaka — pilih kerjasama, tolak pengaruh DAP."</a:t>
            </a:r>
          </a:p>
          <a:p>
            <a:pPr>
              <a:spcAft>
                <a:spcPts val="400"/>
              </a:spcAft>
              <a:defRPr sz="1300" b="1">
                <a:solidFill>
                  <a:srgbClr val="003366"/>
                </a:solidFill>
              </a:defRPr>
            </a:pPr>
            <a:r>
              <a:t>Elak</a:t>
            </a:r>
          </a:p>
          <a:p>
            <a:pPr>
              <a:spcAft>
                <a:spcPts val="1000"/>
              </a:spcAft>
              <a:defRPr sz="1200" b="0">
                <a:solidFill>
                  <a:srgbClr val="1E293B"/>
                </a:solidFill>
              </a:defRPr>
            </a:pPr>
            <a:r>
              <a:t>"Jangan over-claim «menang» — galvanize debat → jawab A atau B. Footnote: bukan polling SPR."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InsightPulse · Pengundi Malaysia Poll N9 · Bukan polling SPR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832104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Risiko &amp; Mitigasi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960120"/>
            <a:ext cx="8229600" cy="53035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C8102E"/>
                </a:solidFill>
              </a:defRPr>
            </a:pPr>
            <a:r>
              <a:t>Sokong 89.3% ≠ undi di urn</a:t>
            </a:r>
          </a:p>
          <a:p>
            <a:pPr>
              <a:spcAft>
                <a:spcPts val="1000"/>
              </a:spcAft>
              <a:defRPr sz="1300" b="0">
                <a:solidFill>
                  <a:srgbClr val="1E293B"/>
                </a:solidFill>
              </a:defRPr>
            </a:pPr>
            <a:r>
              <a:t>→ Galvanize: debat → event/cula · tanda sokongan di lapangan</a:t>
            </a:r>
          </a:p>
          <a:p>
            <a:pPr>
              <a:spcAft>
                <a:spcPts val="400"/>
              </a:spcAft>
              <a:defRPr sz="1400" b="1">
                <a:solidFill>
                  <a:srgbClr val="C8102E"/>
                </a:solidFill>
              </a:defRPr>
            </a:pPr>
            <a:r>
              <a:t>56.1% debat/nuansa</a:t>
            </a:r>
          </a:p>
          <a:p>
            <a:pPr>
              <a:spcAft>
                <a:spcPts val="1000"/>
              </a:spcAft>
              <a:defRPr sz="1300" b="0">
                <a:solidFill>
                  <a:srgbClr val="1E293B"/>
                </a:solidFill>
              </a:defRPr>
            </a:pPr>
            <a:r>
              <a:t>→ Follow-up: «A atau B?» · jangan label «atas pagar»</a:t>
            </a:r>
          </a:p>
          <a:p>
            <a:pPr>
              <a:spcAft>
                <a:spcPts val="400"/>
              </a:spcAft>
              <a:defRPr sz="1400" b="1">
                <a:solidFill>
                  <a:srgbClr val="D97706"/>
                </a:solidFill>
              </a:defRPr>
            </a:pPr>
            <a:r>
              <a:t>Audiens page umum — bias pro-MN</a:t>
            </a:r>
          </a:p>
          <a:p>
            <a:pPr>
              <a:spcAft>
                <a:spcPts val="1000"/>
              </a:spcAft>
              <a:defRPr sz="1300" b="0">
                <a:solidFill>
                  <a:srgbClr val="1E293B"/>
                </a:solidFill>
              </a:defRPr>
            </a:pPr>
            <a:r>
              <a:t>→ Footnote sentiasa: signal digital, bukan sampling N9 penuh</a:t>
            </a:r>
          </a:p>
          <a:p>
            <a:pPr>
              <a:spcAft>
                <a:spcPts val="400"/>
              </a:spcAft>
              <a:defRPr sz="1400" b="1">
                <a:solidFill>
                  <a:srgbClr val="D97706"/>
                </a:solidFill>
              </a:defRPr>
            </a:pPr>
            <a:r>
              <a:t>Nada negatif 42% — risiko salah baca</a:t>
            </a:r>
          </a:p>
          <a:p>
            <a:pPr>
              <a:spcAft>
                <a:spcPts val="1000"/>
              </a:spcAft>
              <a:defRPr sz="1300" b="0">
                <a:solidFill>
                  <a:srgbClr val="1E293B"/>
                </a:solidFill>
              </a:defRPr>
            </a:pPr>
            <a:r>
              <a:t>→ Negatif = anti-DAP/PH, bukan anti-coalisi — jangan ubah mesej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InsightPulse · Pengundi Malaysia Poll N9 · Bukan polling SPR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