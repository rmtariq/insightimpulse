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Apps embedding ≥1 agent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58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Enterprises with ≥1 in production</c:v>
                </c:pt>
              </c:strCache>
            </c:strRef>
          </c:tx>
          <c:spPr>
            <a:solidFill>
              <a:srgbClr val="A84B2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19</c:v>
                </c:pt>
                <c:pt idx="2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Multi-agent (3+) orchestration</c:v>
                </c:pt>
              </c:strCache>
            </c:strRef>
          </c:tx>
          <c:spPr>
            <a:solidFill>
              <a:srgbClr val="6E52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6</c:v>
                </c:pt>
                <c:pt idx="2">
                  <c:v>22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D8D2C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Agentic program spend (typical first year)</c:v>
                </c:pt>
              </c:strCache>
            </c:strRef>
          </c:tx>
          <c:spPr>
            <a:solidFill>
              <a:srgbClr val="20808D">
                <a:alpha val="9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080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4B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74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445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52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LLM inference &amp; APIs</c:v>
                  </c:pt>
                  <c:pt idx="1">
                    <c:v>Engineering &amp; integration</c:v>
                  </c:pt>
                  <c:pt idx="2">
                    <c:v>Data &amp; retrieval</c:v>
                  </c:pt>
                  <c:pt idx="3">
                    <c:v>Evals, observability, security</c:v>
                  </c:pt>
                  <c:pt idx="4">
                    <c:v>Change management &amp; training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28</c:v>
                </c:pt>
                <c:pt idx="2">
                  <c:v>14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D8D2C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ockchain-council.org/agentic-ai/agentic-ai-in-2026-how-autonomous-ai-is-changing-business/" TargetMode="External"/><Relationship Id="rId2" Type="http://schemas.openxmlformats.org/officeDocument/2006/relationships/hyperlink" Target="https://www.magicsuite.ai/blog-articles/agentic-ai-use-cases-enterprise-202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paul-okhrem.com/enterprise-ai-agents-statistics-2026/" TargetMode="External"/><Relationship Id="rId2" Type="http://schemas.openxmlformats.org/officeDocument/2006/relationships/hyperlink" Target="https://www.digitalapplied.com/blog/state-of-ai-agents-2026-200-data-points" TargetMode="External"/><Relationship Id="rId3" Type="http://schemas.openxmlformats.org/officeDocument/2006/relationships/hyperlink" Target="https://www.digitalapplied.com/blog/ai-agent-adoption-2026-enterprise-data-point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igitalapplied.com/blog/ai-agent-adoption-2026-enterprise-data-points" TargetMode="External"/><Relationship Id="rId3" Type="http://schemas.openxmlformats.org/officeDocument/2006/relationships/hyperlink" Target="https://www.digitalapplied.com/blog/ai-agent-adoption-2026-enterprise-data-points" TargetMode="External"/><Relationship Id="rId1" Type="http://schemas.openxmlformats.org/officeDocument/2006/relationships/chart" Target="/ppt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chaheadcorp.com/blog/top-use-cases-of-agentic-ai-in-2026-across-industries/" TargetMode="External"/><Relationship Id="rId2" Type="http://schemas.openxmlformats.org/officeDocument/2006/relationships/hyperlink" Target="https://www.magicsuite.ai/blog-articles/agentic-ai-use-cases-enterprise-2026" TargetMode="External"/><Relationship Id="rId3" Type="http://schemas.openxmlformats.org/officeDocument/2006/relationships/hyperlink" Target="https://www.agentcrew.com.au/blog/11-game-changing-ai-agent-use-cases-transforming-organizations-in-2026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agicsuite.ai/blog-articles/agentic-ai-use-cases-enterprise-2026" TargetMode="External"/><Relationship Id="rId2" Type="http://schemas.openxmlformats.org/officeDocument/2006/relationships/hyperlink" Target="https://www.agentcrew.com.au/blog/11-game-changing-ai-agent-use-cases-transforming-organizations-in-2026" TargetMode="External"/><Relationship Id="rId3" Type="http://schemas.openxmlformats.org/officeDocument/2006/relationships/hyperlink" Target="https://www.techaheadcorp.com/blog/top-use-cases-of-agentic-ai-in-2026-across-industries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html/2508.10146v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html/2508.10146v1" TargetMode="External"/><Relationship Id="rId2" Type="http://schemas.openxmlformats.org/officeDocument/2006/relationships/hyperlink" Target="https://www.datacamp.com/tutorial/crewai-vs-langgraph-vs-autogen" TargetMode="External"/><Relationship Id="rId3" Type="http://schemas.openxmlformats.org/officeDocument/2006/relationships/hyperlink" Target="https://www.linkedin.com/pulse/best-agentic-ai-frameworks-2025-langgraph-autogen-crewai-ambatwar-kilt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paul-okhrem.com/enterprise-ai-agents-statistics-2026/" TargetMode="External"/><Relationship Id="rId2" Type="http://schemas.openxmlformats.org/officeDocument/2006/relationships/hyperlink" Target="https://www.digitalapplied.com/blog/ai-agent-adoption-2026-enterprise-data-point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·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Agentic for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 Transformation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assistive chat to autonomous execution — frameworks, use cases, and a transformation roadmap for the enterprise.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Raja Mohd Tariqi  ·  Independent AI / Data Consultant  ·  Petaling Jaya, 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agentic shift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865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2026 is the inflection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734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vs. assistants vs. RPA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signals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spend, and the credibility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High-impact use cases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471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agents are delivering ROI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architecture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340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tools, memory, guardrails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554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compared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9440" y="1865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CrewAI, AutoGen, ADK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423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Maturity model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2734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from pilot to autonomous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291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4944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&amp; risk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40% of agent projects fail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1605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4944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&amp; readiness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49440" y="4471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Workforce, skills, and operating 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5029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4944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investment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0" y="5340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plan, KPIs, regional lens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AGENTIC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answering prompts to owning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gave organizations a smarter typist.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gives them a digital workforce that perceives, plans, acts, and learns.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Goal-directed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pursue outcomes, not single replies.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Tool-using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3703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 APIs, query data, and execute transactions.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Multi-step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4389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plan, branch, retry, and recover from errors.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074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5074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coordinate via an orchestrator.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 →  AGENTIC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9212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prompt / reply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21240" y="2468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goal pursuit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context window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2124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+ episodic memory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83880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plug-ins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2124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 &amp; API execution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4114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4114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selects next step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92124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plans next step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83880" y="4663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21240" y="4663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Recovers, retries, escalates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5212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unit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5212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per user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921240" y="5212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per workflow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1996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Blockchain Council — Agentic AI 2026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 Sloan / Sinan Aral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DEFINITIONS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vs. assistants vs. RPA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AUTOMATION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RPA / Workflow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scripts on structured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UI or schema changes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reasoning, zero adaptation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invoice posting, screen scraping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GENERATIVE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057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Prompt-in, response-out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limited to one exchange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optional, human is the orchestrator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4754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drafting, summarization, Q&amp;A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15544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A2330"/>
          </a:solidFill>
          <a:ln w="9525">
            <a:solidFill>
              <a:srgbClr val="1A23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GOAL PURSUIT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2057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41248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→ acts → observes → re-plans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and tool execution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possible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4754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8680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end-to-end workflow ownership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 SIGNALS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is the inflection — not the peak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apps shipped in Q1 2026 embed at least one AI agent (up from 33% in 2024)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874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2628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have at least one AI agent in production today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874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36676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actively scaling agentic AI in any business function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14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8580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agentic AI projects are at risk of cancellation by 2027 — governance and ROI gaps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93192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114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$450B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2628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agentic AI share of enterprise app revenue by 2035 (Gartner best case)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93192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114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43%+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836676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for the agentic AI market through 2030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1996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CIO 2026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 State of AI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Applied 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 SIGNALS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embedding outpaces production deployment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71323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55448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A233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GAP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 vs 31%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embed agents far faster than enterprises operationalize them.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0" y="39319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2026's enterprise software spend — and most of the disappointment — sits in that 49-point gap.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1996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via Digital Applied 2026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S&amp;P Global Market Intelligence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VALUE LEVERS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ROI actually shows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30–90% faster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Resolution, screening, reconciliation — measured in hours, not days.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LEVERAGE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3–5% productivity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2628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deployments; 10%+ growth uplift at multi-agent scale.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6676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+25% FCR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First-contact resolution lift from grounded retrieval and policy-enforced reasoning.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389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24×7 autonomous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volume absorbed without staffing.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COST-TO-SERVE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4389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30–50% reduction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2628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claims, and back-office workflows.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93192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TIME-TO-VALUE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4389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6 month payback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36676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TEI on agentic deployments.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1996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Forrester TEI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AgentCrew 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agents are already delivering measurable ROI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2668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outcome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47120" cy="566928"/>
          </a:xfrm>
          <a:prstGeom prst="rect">
            <a:avLst/>
          </a:prstGeom>
          <a:solidFill>
            <a:srgbClr val="FBF9F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659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9659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case lifecycle: triage → resolve → refund → callback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26680" y="19659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inquiries handled autonomously · $325M productivity (ServiceNow)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5603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triage, runbook execution, observability with approvals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25603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scaled-agent adoption of any enterprise function (McKinsey)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11247120" cy="566928"/>
          </a:xfrm>
          <a:prstGeom prst="rect">
            <a:avLst/>
          </a:prstGeom>
          <a:solidFill>
            <a:srgbClr val="FBF9F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1546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agents, PR review, CI orchestration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3154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faster code shipping (TELUS / Claude agents)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749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compliance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7490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Reconciliation, anomaly detection, evidence bundles for audit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26680" y="37490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documented productivity gains in financial services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11247120" cy="566928"/>
          </a:xfrm>
          <a:prstGeom prst="rect">
            <a:avLst/>
          </a:prstGeom>
          <a:solidFill>
            <a:srgbClr val="FBF9F4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343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talent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4343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Sourcing, screening, structured interview packs, onboarding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26680" y="43434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faster screening · 2× candidate conversion (Fountain)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9377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9377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maintenance: sensor → diagnosis → work order → parts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26680" y="4937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less unplanned downtime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532120"/>
            <a:ext cx="11247120" cy="566928"/>
          </a:xfrm>
          <a:prstGeom prst="rect">
            <a:avLst/>
          </a:prstGeom>
          <a:solidFill>
            <a:srgbClr val="FBF9F4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532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55321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documentation, scheduling, prior-authorization workflows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26680" y="55321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growth, lowest current penetration (14% production)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1996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MagicSuite — Enterprise Use Cases 2026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AgentCrew Top 11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TechAhead Industry Use Cases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REFERENCE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layers every production agent system needs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6002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embedded copilots, voice, workflow inboxes — where humans engage and approve.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A2330"/>
          </a:solidFill>
          <a:ln w="9525">
            <a:solidFill>
              <a:srgbClr val="1A23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4688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router, supervisor agent. Delegates to domain agents and consolidates results.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3337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per function (support, finance, ops) with scoped tools and permissions.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06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4206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APIs, RAG, code execution, browser. Memory (short-term, episodic, semantic).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0749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74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50749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vector &amp; graph stores, identity, observability, policy, evals, cost controls.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1600200"/>
            <a:ext cx="2743200" cy="4617720"/>
          </a:xfrm>
          <a:prstGeom prst="roundRect">
            <a:avLst>
              <a:gd name="adj" fmla="val 2667"/>
            </a:avLst>
          </a:prstGeom>
          <a:solidFill>
            <a:srgbClr val="B5532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&amp; Control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 &amp; RBAC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Approval policies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PII / data residency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Evals &amp; red-teaming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5212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FinOps &amp; rate limits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is the new microservices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0" y="169164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A2330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377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 / Router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retrieve, summarize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2514600"/>
            <a:ext cx="3977640" cy="777240"/>
          </a:xfrm>
          <a:prstGeom prst="line">
            <a:avLst/>
          </a:prstGeom>
          <a:noFill/>
          <a:ln w="12700">
            <a:solidFill>
              <a:srgbClr val="9AA1A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520440" y="32918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APIs, 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1325880" cy="777240"/>
          </a:xfrm>
          <a:prstGeom prst="line">
            <a:avLst/>
          </a:prstGeom>
          <a:noFill/>
          <a:ln w="12700">
            <a:solidFill>
              <a:srgbClr val="9AA1A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72200" y="32918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PII, approvals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514600"/>
            <a:ext cx="1325880" cy="777240"/>
          </a:xfrm>
          <a:prstGeom prst="line">
            <a:avLst/>
          </a:prstGeom>
          <a:noFill/>
          <a:ln w="12700">
            <a:solidFill>
              <a:srgbClr val="9AA1A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823960" y="32918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/ critic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Evaluate, retry, escalate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2514600"/>
            <a:ext cx="3977640" cy="777240"/>
          </a:xfrm>
          <a:prstGeom prst="line">
            <a:avLst/>
          </a:prstGeom>
          <a:noFill/>
          <a:ln w="12700">
            <a:solidFill>
              <a:srgbClr val="9AA1A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" y="46177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1A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CAPABILITIES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074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80360" y="5074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5074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/ graph DB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60920" y="5074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0" y="5074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1996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 — Agentic Frameworks Review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FRAMEWORKS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LangGraph, CrewAI, AutoGen, ADK — when to use which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4864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durable workflows; fine-grained control.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pipelines with audit and recovery.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Klarna, Elastic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55448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CREWS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520440" y="2560320"/>
            <a:ext cx="54864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2044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iteration; enterprise control plane available.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20440" y="4206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with clear roles, low-code authoring.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5257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044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deployments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AutoGen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400800" y="2560320"/>
            <a:ext cx="54864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chat with code execution; research-grade flex.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0" y="4206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R&amp;D, prototyping, human-in-the-loop research.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5257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Azure AI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98280" y="155448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811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SDK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8116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ADK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9281160" y="2560320"/>
            <a:ext cx="54864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28116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deployment, SLAs, security compliance.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81160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281160" y="4206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GCP-aligned organizations needing turnkey ops.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81160" y="5257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28116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enterprises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1996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 2508.10146 — Framework Review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DataCamp Comparison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Deep Dive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MATURITY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stages from pilot to autonomous enterprise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1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inside apps; humans drive every step.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orgs 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52344" y="16459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1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35224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agents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35224" y="2880360"/>
            <a:ext cx="45720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5224" y="3017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 agents own discrete tasks with approvals.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35224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in production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47488" y="16459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 w="9525">
            <a:solidFill>
              <a:srgbClr val="1A23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230368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agents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30368" y="2880360"/>
            <a:ext cx="45720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3017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ownership of a workflow with policy guardrails.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30368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scaling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42632" y="16459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1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525512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25512" y="2880360"/>
            <a:ext cx="45720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3017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specialists across functions; shared memory.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25512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(3+ agents)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37776" y="16459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0656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1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820656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ops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20656" y="2880360"/>
            <a:ext cx="45720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0656" y="3017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 operating model; humans set goals and review exceptions.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20656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Increasing autonomy, integration, and governance complexity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GOVERNANCE &amp;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40% of agent projects fail by 2027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A23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BY 2027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agentic AI projects are projected to be canceled — governance gaps, unclear ROI, and runaway costs.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21% of organizations have a mature governance model for autonomous agents.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blocker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cite data quality as the #1 blocker. Agents amplify upstream errors.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2440" y="155448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Unclear ROI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6988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failure cause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2011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without P&amp;L hooks; no agreed metric or baseline.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063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overrun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 spend growth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520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grows 7× YoY; no FinOps or per-agent budgets.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3063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6988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mature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75320" y="3520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handling, audit trails, and human approval gates frequently missing.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57200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4663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have owner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5029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resistance, undefined roles, no AI literacy program.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440" y="457200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469880" y="4663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threat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75320" y="5029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exposes APIs and credentials; prompt injection is real.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1996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Hype Cycle for Agentic AI</a:t>
            </a:r>
            <a:pPr indent="0" marL="0">
              <a:buNone/>
            </a:pPr>
            <a:r>
              <a:rPr lang="en-US" sz="8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Applied 2026 Data Points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governance stack that scales with autonomy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&amp; ethics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Acceptable-use, data residency, model cards, fairness reviews, regulator alignment.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373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08660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classification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21488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agents by autonomy × blast radius. Tier-3 actions require human approval.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1732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6576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its own identity, scoped tools, secrets vault, expiring tokens.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2461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8660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evals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36576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 evals, online evals, drift detection, red-teaming, jailbreak suites.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548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41732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step: prompt, tool call, output, cost, latency, user override.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61772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7548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08660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51663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budgets, rate limits, model routing for cost-quality balance.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CHANGE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Transforming people and process, not just tech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do not replace teams. They reshape what teams do.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of agentic transformation is not the model — it is the operating model. Roles shift from doing the work to designing, supervising, and improving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first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gets baseline training on what agents can and cannot do.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Co-design, don't impose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owners build alongside engineers; bottom-up beats top-down.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outcomes, not activity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agent KPIs to P&amp;L, not to prompt counts.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577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 owner per 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5577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leading orgs have a named 'agent owner' — make it explicit.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5544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EVOLUTION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Agent supervisor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27249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41080" y="2724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Agent designer / evaluator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32552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41080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Tool &amp; integration builder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41080" y="37856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Policy author for autonomy tiers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4315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41080" y="4315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Outcome owner across human-agent teams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29400" y="4846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4108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Agent Product Manager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5376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41080" y="5376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Head of AI Trust &amp; Evals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READINESS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must be true before you scale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Clean, accessible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Document, API, and event data discoverable with consistent schemas and lineage.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Composable APIs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of record exposes read/write APIs that an agent can call safely.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secrets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identities, scoped tokens, vault, and per-action authorization.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" y="4572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983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tracing for prompts, tools, costs, and user overrides.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886200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26280" y="4572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harness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983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datasets, regression suites, drift monitors before any production rollout.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66760" y="4572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UX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4983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inboxes where humans approve, edit, and reject agent actions.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90-DAY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pragmatic path to first agentic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0–30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 &amp; decide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10 workflows by volume, repetitiveness, and ROI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1–2 high-value, low-blast-radius candidates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389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metric, baseline, and human-in-loop policy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5166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evaluation harness and observability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15544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554480"/>
            <a:ext cx="3657600" cy="50292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validate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26280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agent with scoped tools and approvals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2628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shadow mode against historical cases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26280" y="4389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4389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prompts, tools, and guardrails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26280" y="5166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red-teaming and compliance review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15544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554480"/>
            <a:ext cx="3657600" cy="50292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&amp; instrument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366760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one team; track cycle time, accuracy, cost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6676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FinOps; set per-agent budgets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66760" y="4389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0" y="4389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playbook, owner, escalation path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66760" y="5166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scale, iterate, or kill — with evidence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budget actually goes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45920"/>
            <a:ext cx="4114800" cy="4389120"/>
          </a:xfrm>
          <a:prstGeom prst="roundRect">
            <a:avLst>
              <a:gd name="adj" fmla="val 1778"/>
            </a:avLst>
          </a:prstGeom>
          <a:solidFill>
            <a:srgbClr val="1A233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2148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 are the cheap part.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0" y="3291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cents of every dollar go to engineering, evals, data, and change management — not to the model itself.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4937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 the iceberg under the water line.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080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allocation — actuals vary by industry, scale, and existing platform maturity.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KPIs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measure — agent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97480" cy="45720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reduction (%)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108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Cost-to-serve (Δ$)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case lift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846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First-contact resolution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155448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554480"/>
            <a:ext cx="2697480" cy="45720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240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accuracy vs. golden 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3108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31920" y="3108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 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39776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3192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drift score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4846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31920" y="4846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55448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554480"/>
            <a:ext cx="2697480" cy="457200"/>
          </a:xfrm>
          <a:prstGeom prst="rect">
            <a:avLst/>
          </a:prstGeom>
          <a:solidFill>
            <a:srgbClr val="1B474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240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12280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108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12280" y="3108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data leak events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39776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1228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completeness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846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12280" y="4846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pass rate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98280" y="155448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98280" y="1554480"/>
            <a:ext cx="2697480" cy="457200"/>
          </a:xfrm>
          <a:prstGeom prst="rect">
            <a:avLst/>
          </a:prstGeom>
          <a:solidFill>
            <a:srgbClr val="6E522B"/>
          </a:solidFill>
          <a:ln/>
        </p:spPr>
      </p:sp>
      <p:sp>
        <p:nvSpPr>
          <p:cNvPr id="39" name="Text 37"/>
          <p:cNvSpPr/>
          <p:nvPr/>
        </p:nvSpPr>
        <p:spPr>
          <a:xfrm>
            <a:off x="92811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281160" y="2240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5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692640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per resolved task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281160" y="3108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5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692640" y="3108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outcome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81160" y="39776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5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69264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P95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81160" y="4846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5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692640" y="4846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 budget vs. cap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REGIONAL LENS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in the Malaysia &amp; ASEAN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ASEAN organizations face a different starting point — and a different opportunity.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91440" cy="64008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68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&amp; locale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Melayu, Tamil, Mandarin, and code-switched data demand local fine-tuning and evaluation sets.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91440" cy="64008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sovereignty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657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and regulated industries require on-prem or sovereign cloud deployment options.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91440" cy="64008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 depth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526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engineering base, scarce agent / eval specialists — build internal academies.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91440" cy="64008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074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 reality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5394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Tender-led adoption favors fixed-scope pilots; structure proposals around 90-day proof points.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HIGH-FIT SECTORS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Q&amp;A, case routing, document processing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29400" y="27706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takaful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2770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KYC, claims, fraud triage, compliance evidence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29400" y="3392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&amp; utilities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32520" y="33924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support deflection, field-ops dispatch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29400" y="40142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32520" y="40142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prior-auth, clinical documentation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29400" y="4636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32520" y="46360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agents, curriculum localization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29400" y="5257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operations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32520" y="5257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ops, finance back-office, HR onboarding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decisions every leader must make in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 agents as a workforce, not a feature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them like teams — with owners, KPIs, budgets, and reviews.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54480" y="2468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workflows, not technologies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24688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rotate every 18 months; workflow ROI compounds.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33375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 in evals before scale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3337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improve — or govern — what you cannot measure.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062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4206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 by autonomy tier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4206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human approval to blast radius; not every action needs review.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BF9F4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5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554480" y="5074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operating model alongside the tech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0" y="50749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skills, and incentives are the rate-limiting step.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for Organization Transformation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65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B553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FOR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whether to deploy agents —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which workflows justify the operating overhead.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480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leaders of the next decade will be the organizations that turn agents into accountable members of their workforce — measured, governed, and improving every quarter.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2743200" cy="0"/>
          </a:xfrm>
          <a:prstGeom prst="line">
            <a:avLst/>
          </a:prstGeom>
          <a:noFill/>
          <a:ln w="19050">
            <a:solidFill>
              <a:srgbClr val="B55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Mohd Tariqi Raja Lope Ahmad  ·  AI / Data Consultant  ·  Petaling Jaya, MY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2026-06-18T04:41:25Z</dcterms:created>
  <dcterms:modified xsi:type="dcterms:W3CDTF">2026-06-18T04:41:25Z</dcterms:modified>
</cp:coreProperties>
</file>