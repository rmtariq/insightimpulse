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914400"/>
          </a:xfrm>
          <a:prstGeom prst="rect">
            <a:avLst/>
          </a:prstGeom>
          <a:noFill/>
        </p:spPr>
        <p:txBody>
          <a:bodyPr wrap="none">
            <a:spAutoFit/>
          </a:bodyPr>
          <a:lstStyle/>
          <a:p>
            <a:pPr algn="ctr">
              <a:defRPr sz="4400" b="1">
                <a:solidFill>
                  <a:srgbClr val="FFFFFF"/>
                </a:solidFill>
              </a:defRPr>
            </a:pPr>
            <a:r>
              <a:t>InsightPulse Analytics Report</a:t>
            </a:r>
          </a:p>
        </p:txBody>
      </p:sp>
      <p:sp>
        <p:nvSpPr>
          <p:cNvPr id="4" name="TextBox 3"/>
          <p:cNvSpPr txBox="1"/>
          <p:nvPr/>
        </p:nvSpPr>
        <p:spPr>
          <a:xfrm>
            <a:off x="914400" y="3200400"/>
            <a:ext cx="7315200" cy="731520"/>
          </a:xfrm>
          <a:prstGeom prst="rect">
            <a:avLst/>
          </a:prstGeom>
          <a:noFill/>
        </p:spPr>
        <p:txBody>
          <a:bodyPr wrap="none">
            <a:spAutoFit/>
          </a:bodyPr>
          <a:lstStyle/>
          <a:p>
            <a:pPr algn="ctr">
              <a:defRPr sz="3200">
                <a:solidFill>
                  <a:srgbClr val="FFFFFF"/>
                </a:solidFill>
              </a:defRPr>
            </a:pPr>
            <a:r>
              <a:t>PRN Johor OR "pilihan raya Johor" OR "undi Johor" OR "Johor election" OR "Johor polls" OR "undi BN" OR "undi PAS" OR "undi PKR" OR "undi DAP" OR "vote BN" OR "vote PAS" OR "vote DAP" OR "Onn Hafiz" OR "gelombang hijau" OR "undecided Johor" OR "Indian vote Johor" OR "MIC Johor"</a:t>
            </a:r>
          </a:p>
        </p:txBody>
      </p:sp>
      <p:sp>
        <p:nvSpPr>
          <p:cNvPr id="5" name="TextBox 4"/>
          <p:cNvSpPr txBox="1"/>
          <p:nvPr/>
        </p:nvSpPr>
        <p:spPr>
          <a:xfrm>
            <a:off x="914400" y="4114800"/>
            <a:ext cx="7315200" cy="457200"/>
          </a:xfrm>
          <a:prstGeom prst="rect">
            <a:avLst/>
          </a:prstGeom>
          <a:noFill/>
        </p:spPr>
        <p:txBody>
          <a:bodyPr wrap="none">
            <a:spAutoFit/>
          </a:bodyPr>
          <a:lstStyle/>
          <a:p>
            <a:pPr algn="ctr">
              <a:defRPr sz="1800">
                <a:solidFill>
                  <a:srgbClr val="FFFFFF"/>
                </a:solidFill>
              </a:defRPr>
            </a:pPr>
            <a:r>
              <a:t>June 05,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Total Data Points: 378</a:t>
            </a:r>
          </a:p>
          <a:p>
            <a:pPr/>
            <a:r>
              <a:t>Analysis Type: Social Listening</a:t>
            </a:r>
          </a:p>
          <a:p>
            <a:pPr/>
            <a:r>
              <a:t>Positive Sentiment: 16.4%</a:t>
            </a:r>
          </a:p>
          <a:p>
            <a:pPr/>
            <a:r>
              <a:t>Neutral Sentiment: 48.9%</a:t>
            </a:r>
          </a:p>
          <a:p>
            <a:pPr/>
            <a:r>
              <a:t>Negative Sentiment: 34.7%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Sentiment Analysis</a:t>
            </a:r>
          </a:p>
        </p:txBody>
      </p:sp>
      <p:sp>
        <p:nvSpPr>
          <p:cNvPr id="3" name="Content Placeholder 2"/>
          <p:cNvSpPr>
            <a:spLocks noGrp="1"/>
          </p:cNvSpPr>
          <p:nvPr>
            <p:ph idx="1"/>
          </p:nvPr>
        </p:nvSpPr>
        <p:spPr/>
        <p:txBody>
          <a:bodyPr/>
          <a:lstStyle/>
          <a:p>
            <a:r>
              <a:t>Overall Verdict: ⚠️ NEGATIVE - Notable negative sentiment</a:t>
            </a:r>
          </a:p>
          <a:p>
            <a:pPr lvl="1"/>
            <a:r>
              <a:t>Positive: 16.4% (61 posts)</a:t>
            </a:r>
          </a:p>
          <a:p>
            <a:pPr lvl="1"/>
            <a:r>
              <a:t>Neutral: 48.9% (184 posts)</a:t>
            </a:r>
          </a:p>
          <a:p>
            <a:pPr lvl="1"/>
            <a:r>
              <a:t>Negative: 34.7% (131 posts)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Platform Breakdown</a:t>
            </a:r>
          </a:p>
        </p:txBody>
      </p:sp>
      <p:sp>
        <p:nvSpPr>
          <p:cNvPr id="3" name="Content Placeholder 2"/>
          <p:cNvSpPr>
            <a:spLocks noGrp="1"/>
          </p:cNvSpPr>
          <p:nvPr>
            <p:ph idx="1"/>
          </p:nvPr>
        </p:nvSpPr>
        <p:spPr/>
        <p:txBody>
          <a:bodyPr/>
          <a:lstStyle/>
          <a:p>
            <a:r>
              <a:t>Performance by Platform:</a:t>
            </a:r>
          </a:p>
          <a:p>
            <a:pPr lvl="1"/>
            <a:r>
              <a:t>X: 378 posts (Avg Sentiment: 0.42)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lstStyle/>
          <a:p>
            <a:r>
              <a:t>Analyzed 378 data points across 1 platforms</a:t>
            </a:r>
          </a:p>
          <a:p>
            <a:pPr/>
            <a:r>
              <a:t>Statistical confidence: Limited (45%)</a:t>
            </a:r>
          </a:p>
          <a:p>
            <a:pPr/>
            <a:r>
              <a:t>Overall sentiment: Neutral (±±15-25%)</a:t>
            </a:r>
          </a:p>
          <a:p>
            <a:pPr/>
            <a:r>
              <a:t>Total engagement: 41,480 interactions</a:t>
            </a:r>
          </a:p>
          <a:p>
            <a:pPr/>
            <a:r>
              <a:t>Top trending topics identified: 5 topics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t>Monitor negative sentiment trends closely</a:t>
            </a:r>
          </a:p>
          <a:p>
            <a:r>
              <a:t>Engage with positive brand advocates</a:t>
            </a:r>
          </a:p>
          <a:p>
            <a:r>
              <a:t>Address customer concerns promptly</a:t>
            </a:r>
          </a:p>
          <a:p>
            <a:r>
              <a:t>Amplify positive testimonials</a:t>
            </a:r>
          </a:p>
          <a:p>
            <a:r>
              <a:t>Track emerging topics and trends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 Items</a:t>
            </a:r>
          </a:p>
        </p:txBody>
      </p:sp>
      <p:sp>
        <p:nvSpPr>
          <p:cNvPr id="3" name="Content Placeholder 2"/>
          <p:cNvSpPr>
            <a:spLocks noGrp="1"/>
          </p:cNvSpPr>
          <p:nvPr>
            <p:ph idx="1"/>
          </p:nvPr>
        </p:nvSpPr>
        <p:spPr/>
        <p:txBody>
          <a:bodyPr/>
          <a:lstStyle/>
          <a:p>
            <a:r>
              <a:t>Immediate (24-48 hours):</a:t>
            </a:r>
          </a:p>
          <a:p>
            <a:pPr lvl="1"/>
            <a:r>
              <a:t>Review all negative posts and comments</a:t>
            </a:r>
          </a:p>
          <a:p>
            <a:pPr lvl="1"/>
            <a:r>
              <a:t>Prepare response to critical issues</a:t>
            </a:r>
          </a:p>
          <a:p>
            <a:pPr/>
            <a:r>
              <a:t>Short-term (1-2 weeks):</a:t>
            </a:r>
          </a:p>
          <a:p>
            <a:pPr lvl="1"/>
            <a:r>
              <a:t>Implement communication plan</a:t>
            </a:r>
          </a:p>
          <a:p>
            <a:pPr lvl="1"/>
            <a:r>
              <a:t>Monitor sentiment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