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667E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286000"/>
            <a:ext cx="7315200" cy="914400"/>
          </a:xfrm>
          <a:prstGeom prst="rect">
            <a:avLst/>
          </a:prstGeom>
          <a:noFill/>
        </p:spPr>
        <p:txBody>
          <a:bodyPr wrap="none">
            <a:spAutoFit/>
          </a:bodyPr>
          <a:lstStyle/>
          <a:p>
            <a:pPr algn="ctr">
              <a:defRPr sz="4400" b="1">
                <a:solidFill>
                  <a:srgbClr val="FFFFFF"/>
                </a:solidFill>
              </a:defRPr>
            </a:pPr>
            <a:r>
              <a:t>InsightPulse Analytics Report</a:t>
            </a:r>
          </a:p>
        </p:txBody>
      </p:sp>
      <p:sp>
        <p:nvSpPr>
          <p:cNvPr id="4" name="TextBox 3"/>
          <p:cNvSpPr txBox="1"/>
          <p:nvPr/>
        </p:nvSpPr>
        <p:spPr>
          <a:xfrm>
            <a:off x="914400" y="3200400"/>
            <a:ext cx="7315200" cy="731520"/>
          </a:xfrm>
          <a:prstGeom prst="rect">
            <a:avLst/>
          </a:prstGeom>
          <a:noFill/>
        </p:spPr>
        <p:txBody>
          <a:bodyPr wrap="none">
            <a:spAutoFit/>
          </a:bodyPr>
          <a:lstStyle/>
          <a:p>
            <a:pPr algn="ctr">
              <a:defRPr sz="3200">
                <a:solidFill>
                  <a:srgbClr val="FFFFFF"/>
                </a:solidFill>
              </a:defRPr>
            </a:pPr>
            <a:r>
              <a:t>("Muafakat Nasional" OR "MN 2.0" OR "MN20" OR "PAS UMNO" OR "UMNO PAS" OR "马来人团结" OR "巫统伊党" OR "伊党巫统") AND ("Johor" OR "PRN Johor" OR "柔佛") AND ("sokong" OR "tolak" OR "setuju" OR "support" OR "oppose" OR "agree" OR "赞成" OR "反对" OR "支持")</a:t>
            </a:r>
          </a:p>
        </p:txBody>
      </p:sp>
      <p:sp>
        <p:nvSpPr>
          <p:cNvPr id="5" name="TextBox 4"/>
          <p:cNvSpPr txBox="1"/>
          <p:nvPr/>
        </p:nvSpPr>
        <p:spPr>
          <a:xfrm>
            <a:off x="914400" y="4114800"/>
            <a:ext cx="7315200" cy="457200"/>
          </a:xfrm>
          <a:prstGeom prst="rect">
            <a:avLst/>
          </a:prstGeom>
          <a:noFill/>
        </p:spPr>
        <p:txBody>
          <a:bodyPr wrap="none">
            <a:spAutoFit/>
          </a:bodyPr>
          <a:lstStyle/>
          <a:p>
            <a:pPr algn="ctr">
              <a:defRPr sz="1800">
                <a:solidFill>
                  <a:srgbClr val="FFFFFF"/>
                </a:solidFill>
              </a:defRPr>
            </a:pPr>
            <a:r>
              <a:t>June 06,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Executive Summary</a:t>
            </a:r>
          </a:p>
        </p:txBody>
      </p:sp>
      <p:sp>
        <p:nvSpPr>
          <p:cNvPr id="3" name="Content Placeholder 2"/>
          <p:cNvSpPr>
            <a:spLocks noGrp="1"/>
          </p:cNvSpPr>
          <p:nvPr>
            <p:ph idx="1"/>
          </p:nvPr>
        </p:nvSpPr>
        <p:spPr/>
        <p:txBody>
          <a:bodyPr/>
          <a:lstStyle/>
          <a:p>
            <a:r>
              <a:t>Total Data Points: 15</a:t>
            </a:r>
          </a:p>
          <a:p>
            <a:pPr/>
            <a:r>
              <a:t>Analysis Type: Social Listening</a:t>
            </a:r>
          </a:p>
          <a:p>
            <a:pPr/>
            <a:r>
              <a:t>Positive Sentiment: 0.0%</a:t>
            </a:r>
          </a:p>
          <a:p>
            <a:pPr/>
            <a:r>
              <a:t>Neutral Sentiment: 86.7%</a:t>
            </a:r>
          </a:p>
          <a:p>
            <a:pPr/>
            <a:r>
              <a:t>Negative Sentiment: 13.3%</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Sentiment Analysis</a:t>
            </a:r>
          </a:p>
        </p:txBody>
      </p:sp>
      <p:sp>
        <p:nvSpPr>
          <p:cNvPr id="3" name="Content Placeholder 2"/>
          <p:cNvSpPr>
            <a:spLocks noGrp="1"/>
          </p:cNvSpPr>
          <p:nvPr>
            <p:ph idx="1"/>
          </p:nvPr>
        </p:nvSpPr>
        <p:spPr/>
        <p:txBody>
          <a:bodyPr/>
          <a:lstStyle/>
          <a:p>
            <a:r>
              <a:t>Overall Verdict: ➖ NEUTRAL - Mixed sentiment</a:t>
            </a:r>
          </a:p>
          <a:p>
            <a:pPr lvl="1"/>
            <a:r>
              <a:t>Positive: 0.0% (0 posts)</a:t>
            </a:r>
          </a:p>
          <a:p>
            <a:pPr lvl="1"/>
            <a:r>
              <a:t>Neutral: 86.7% (13 posts)</a:t>
            </a:r>
          </a:p>
          <a:p>
            <a:pPr lvl="1"/>
            <a:r>
              <a:t>Negative: 13.3% (1 posts)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Platform Breakdown</a:t>
            </a:r>
          </a:p>
        </p:txBody>
      </p:sp>
      <p:sp>
        <p:nvSpPr>
          <p:cNvPr id="3" name="Content Placeholder 2"/>
          <p:cNvSpPr>
            <a:spLocks noGrp="1"/>
          </p:cNvSpPr>
          <p:nvPr>
            <p:ph idx="1"/>
          </p:nvPr>
        </p:nvSpPr>
        <p:spPr/>
        <p:txBody>
          <a:bodyPr/>
          <a:lstStyle/>
          <a:p>
            <a:r>
              <a:t>Performance by Platform:</a:t>
            </a:r>
          </a:p>
          <a:p>
            <a:pPr lvl="1"/>
            <a:r>
              <a:t>X: 15 posts (Avg Sentiment: 0.43)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Insights</a:t>
            </a:r>
          </a:p>
        </p:txBody>
      </p:sp>
      <p:sp>
        <p:nvSpPr>
          <p:cNvPr id="3" name="Content Placeholder 2"/>
          <p:cNvSpPr>
            <a:spLocks noGrp="1"/>
          </p:cNvSpPr>
          <p:nvPr>
            <p:ph idx="1"/>
          </p:nvPr>
        </p:nvSpPr>
        <p:spPr/>
        <p:txBody>
          <a:bodyPr/>
          <a:lstStyle/>
          <a:p>
            <a:r>
              <a:t>Analyzed 15 data points across 1 platforms</a:t>
            </a:r>
          </a:p>
          <a:p>
            <a:pPr/>
            <a:r>
              <a:t>Statistical confidence: Limited (45%)</a:t>
            </a:r>
          </a:p>
          <a:p>
            <a:pPr/>
            <a:r>
              <a:t>Overall sentiment: Neutral (±±15-25%)</a:t>
            </a:r>
          </a:p>
          <a:p>
            <a:pPr/>
            <a:r>
              <a:t>Total engagement: 6 interactions</a:t>
            </a:r>
          </a:p>
          <a:p>
            <a:pPr/>
            <a:r>
              <a:t>Top trending topics identified: 5 topics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Recommendations</a:t>
            </a:r>
          </a:p>
        </p:txBody>
      </p:sp>
      <p:sp>
        <p:nvSpPr>
          <p:cNvPr id="3" name="Content Placeholder 2"/>
          <p:cNvSpPr>
            <a:spLocks noGrp="1"/>
          </p:cNvSpPr>
          <p:nvPr>
            <p:ph idx="1"/>
          </p:nvPr>
        </p:nvSpPr>
        <p:spPr/>
        <p:txBody>
          <a:bodyPr/>
          <a:lstStyle/>
          <a:p>
            <a:r>
              <a:t>Monitor negative sentiment trends closely</a:t>
            </a:r>
          </a:p>
          <a:p>
            <a:r>
              <a:t>Engage with positive brand advocates</a:t>
            </a:r>
          </a:p>
          <a:p>
            <a:r>
              <a:t>Address customer concerns promptly</a:t>
            </a:r>
          </a:p>
          <a:p>
            <a:r>
              <a:t>Amplify positive testimonials</a:t>
            </a:r>
          </a:p>
          <a:p>
            <a:r>
              <a:t>Track emerging topics and trends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Action Items</a:t>
            </a:r>
          </a:p>
        </p:txBody>
      </p:sp>
      <p:sp>
        <p:nvSpPr>
          <p:cNvPr id="3" name="Content Placeholder 2"/>
          <p:cNvSpPr>
            <a:spLocks noGrp="1"/>
          </p:cNvSpPr>
          <p:nvPr>
            <p:ph idx="1"/>
          </p:nvPr>
        </p:nvSpPr>
        <p:spPr/>
        <p:txBody>
          <a:bodyPr/>
          <a:lstStyle/>
          <a:p>
            <a:r>
              <a:t>Immediate (24-48 hours):</a:t>
            </a:r>
          </a:p>
          <a:p>
            <a:pPr lvl="1"/>
            <a:r>
              <a:t>Review all negative posts and comments</a:t>
            </a:r>
          </a:p>
          <a:p>
            <a:pPr lvl="1"/>
            <a:r>
              <a:t>Prepare response to critical issues</a:t>
            </a:r>
          </a:p>
          <a:p>
            <a:pPr/>
            <a:r>
              <a:t>Short-term (1-2 weeks):</a:t>
            </a:r>
          </a:p>
          <a:p>
            <a:pPr lvl="1"/>
            <a:r>
              <a:t>Implement communication plan</a:t>
            </a:r>
          </a:p>
          <a:p>
            <a:pPr lvl="1"/>
            <a:r>
              <a:t>Monitor sentiment changes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