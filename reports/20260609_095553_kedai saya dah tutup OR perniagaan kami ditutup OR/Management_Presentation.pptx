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914400"/>
          </a:xfrm>
          <a:prstGeom prst="rect">
            <a:avLst/>
          </a:prstGeom>
          <a:noFill/>
        </p:spPr>
        <p:txBody>
          <a:bodyPr wrap="none">
            <a:spAutoFit/>
          </a:bodyPr>
          <a:lstStyle/>
          <a:p>
            <a:pPr algn="ctr">
              <a:defRPr sz="4400" b="1">
                <a:solidFill>
                  <a:srgbClr val="FFFFFF"/>
                </a:solidFill>
              </a:defRPr>
            </a:pPr>
            <a:r>
              <a:t>InsightPulse Analytics Report</a:t>
            </a:r>
          </a:p>
        </p:txBody>
      </p:sp>
      <p:sp>
        <p:nvSpPr>
          <p:cNvPr id="4" name="TextBox 3"/>
          <p:cNvSpPr txBox="1"/>
          <p:nvPr/>
        </p:nvSpPr>
        <p:spPr>
          <a:xfrm>
            <a:off x="914400" y="3200400"/>
            <a:ext cx="7315200" cy="731520"/>
          </a:xfrm>
          <a:prstGeom prst="rect">
            <a:avLst/>
          </a:prstGeom>
          <a:noFill/>
        </p:spPr>
        <p:txBody>
          <a:bodyPr wrap="none">
            <a:spAutoFit/>
          </a:bodyPr>
          <a:lstStyle/>
          <a:p>
            <a:pPr algn="ctr">
              <a:defRPr sz="3200">
                <a:solidFill>
                  <a:srgbClr val="FFFFFF"/>
                </a:solidFill>
              </a:defRPr>
            </a:pPr>
            <a:r>
              <a:t>kedai saya dah tutup OR perniagaan kami ditutup OR closing down sale terakhir OR last day berniaga OR sedih terpaksa tutup kedai OR goodbye kedai kami OR akhir operasi kedai OR restoran kami kena tutup</a:t>
            </a:r>
          </a:p>
        </p:txBody>
      </p:sp>
      <p:sp>
        <p:nvSpPr>
          <p:cNvPr id="5" name="TextBox 4"/>
          <p:cNvSpPr txBox="1"/>
          <p:nvPr/>
        </p:nvSpPr>
        <p:spPr>
          <a:xfrm>
            <a:off x="914400" y="4114800"/>
            <a:ext cx="7315200" cy="457200"/>
          </a:xfrm>
          <a:prstGeom prst="rect">
            <a:avLst/>
          </a:prstGeom>
          <a:noFill/>
        </p:spPr>
        <p:txBody>
          <a:bodyPr wrap="none">
            <a:spAutoFit/>
          </a:bodyPr>
          <a:lstStyle/>
          <a:p>
            <a:pPr algn="ctr">
              <a:defRPr sz="1800">
                <a:solidFill>
                  <a:srgbClr val="FFFFFF"/>
                </a:solidFill>
              </a:defRPr>
            </a:pPr>
            <a:r>
              <a:t>June 09,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Total Data Points: 433</a:t>
            </a:r>
          </a:p>
          <a:p>
            <a:pPr/>
            <a:r>
              <a:t>Analysis Type: Social Listening</a:t>
            </a:r>
          </a:p>
          <a:p>
            <a:pPr/>
            <a:r>
              <a:t>Positive Sentiment: 20.3%</a:t>
            </a:r>
          </a:p>
          <a:p>
            <a:pPr/>
            <a:r>
              <a:t>Neutral Sentiment: 36.0%</a:t>
            </a:r>
          </a:p>
          <a:p>
            <a:pPr/>
            <a:r>
              <a:t>Negative Sentiment: 43.6%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Sentiment Analysis</a:t>
            </a:r>
          </a:p>
        </p:txBody>
      </p:sp>
      <p:sp>
        <p:nvSpPr>
          <p:cNvPr id="3" name="Content Placeholder 2"/>
          <p:cNvSpPr>
            <a:spLocks noGrp="1"/>
          </p:cNvSpPr>
          <p:nvPr>
            <p:ph idx="1"/>
          </p:nvPr>
        </p:nvSpPr>
        <p:spPr/>
        <p:txBody>
          <a:bodyPr/>
          <a:lstStyle/>
          <a:p>
            <a:r>
              <a:t>Overall Verdict: ⚠️ NEGATIVE - Notable negative sentiment</a:t>
            </a:r>
          </a:p>
          <a:p>
            <a:pPr lvl="1"/>
            <a:r>
              <a:t>Positive: 20.3% (87 posts)</a:t>
            </a:r>
          </a:p>
          <a:p>
            <a:pPr lvl="1"/>
            <a:r>
              <a:t>Neutral: 36.0% (155 posts)</a:t>
            </a:r>
          </a:p>
          <a:p>
            <a:pPr lvl="1"/>
            <a:r>
              <a:t>Negative: 43.6% (188 posts)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Platform Breakdown</a:t>
            </a:r>
          </a:p>
        </p:txBody>
      </p:sp>
      <p:sp>
        <p:nvSpPr>
          <p:cNvPr id="3" name="Content Placeholder 2"/>
          <p:cNvSpPr>
            <a:spLocks noGrp="1"/>
          </p:cNvSpPr>
          <p:nvPr>
            <p:ph idx="1"/>
          </p:nvPr>
        </p:nvSpPr>
        <p:spPr/>
        <p:txBody>
          <a:bodyPr/>
          <a:lstStyle/>
          <a:p>
            <a:r>
              <a:t>Performance by Platform:</a:t>
            </a:r>
          </a:p>
          <a:p>
            <a:pPr lvl="1"/>
            <a:r>
              <a:t>X: 316 posts (Avg Sentiment: 0.39)</a:t>
            </a:r>
          </a:p>
          <a:p>
            <a:pPr lvl="1"/>
            <a:r>
              <a:t>Facebook: 82 posts (Avg Sentiment: 0.46)</a:t>
            </a:r>
          </a:p>
          <a:p>
            <a:pPr lvl="1"/>
            <a:r>
              <a:t>Tiktok: 35 posts (Avg Sentiment: 0.30)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Insights</a:t>
            </a:r>
          </a:p>
        </p:txBody>
      </p:sp>
      <p:sp>
        <p:nvSpPr>
          <p:cNvPr id="3" name="Content Placeholder 2"/>
          <p:cNvSpPr>
            <a:spLocks noGrp="1"/>
          </p:cNvSpPr>
          <p:nvPr>
            <p:ph idx="1"/>
          </p:nvPr>
        </p:nvSpPr>
        <p:spPr/>
        <p:txBody>
          <a:bodyPr/>
          <a:lstStyle/>
          <a:p>
            <a:r>
              <a:t>Analyzed 433 data points across 3 platforms</a:t>
            </a:r>
          </a:p>
          <a:p>
            <a:pPr/>
            <a:r>
              <a:t>Statistical confidence: Limited (45%)</a:t>
            </a:r>
          </a:p>
          <a:p>
            <a:pPr/>
            <a:r>
              <a:t>Overall sentiment: Negative (±±15-25%)</a:t>
            </a:r>
          </a:p>
          <a:p>
            <a:pPr/>
            <a:r>
              <a:t>Total engagement: 1,136,926 interactions</a:t>
            </a:r>
          </a:p>
          <a:p>
            <a:pPr/>
            <a:r>
              <a:t>Top trending topics identified: 5 topics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lstStyle/>
          <a:p>
            <a:r>
              <a:t>Monitor negative sentiment trends closely</a:t>
            </a:r>
          </a:p>
          <a:p>
            <a:r>
              <a:t>Engage with positive brand advocates</a:t>
            </a:r>
          </a:p>
          <a:p>
            <a:r>
              <a:t>Address customer concerns promptly</a:t>
            </a:r>
          </a:p>
          <a:p>
            <a:r>
              <a:t>Amplify positive testimonials</a:t>
            </a:r>
          </a:p>
          <a:p>
            <a:r>
              <a:t>Track emerging topics and trends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Action Items</a:t>
            </a:r>
          </a:p>
        </p:txBody>
      </p:sp>
      <p:sp>
        <p:nvSpPr>
          <p:cNvPr id="3" name="Content Placeholder 2"/>
          <p:cNvSpPr>
            <a:spLocks noGrp="1"/>
          </p:cNvSpPr>
          <p:nvPr>
            <p:ph idx="1"/>
          </p:nvPr>
        </p:nvSpPr>
        <p:spPr/>
        <p:txBody>
          <a:bodyPr/>
          <a:lstStyle/>
          <a:p>
            <a:r>
              <a:t>Immediate (24-48 hours):</a:t>
            </a:r>
          </a:p>
          <a:p>
            <a:pPr lvl="1"/>
            <a:r>
              <a:t>Review all negative posts and comments</a:t>
            </a:r>
          </a:p>
          <a:p>
            <a:pPr lvl="1"/>
            <a:r>
              <a:t>Prepare response to critical issues</a:t>
            </a:r>
          </a:p>
          <a:p>
            <a:pPr/>
            <a:r>
              <a:t>Short-term (1-2 weeks):</a:t>
            </a:r>
          </a:p>
          <a:p>
            <a:pPr lvl="1"/>
            <a:r>
              <a:t>Implement communication plan</a:t>
            </a:r>
          </a:p>
          <a:p>
            <a:pPr lvl="1"/>
            <a:r>
              <a:t>Monitor sentiment changes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