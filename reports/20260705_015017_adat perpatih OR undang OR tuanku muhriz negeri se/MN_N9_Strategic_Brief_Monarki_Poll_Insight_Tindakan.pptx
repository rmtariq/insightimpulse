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05840"/>
            <a:ext cx="82296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3366"/>
                </a:solidFill>
              </a:defRPr>
            </a:pPr>
            <a:r>
              <a:t>Monarki, Adat &amp; MN N9</a:t>
            </a:r>
          </a:p>
          <a:p>
            <a:pPr>
              <a:spcAft>
                <a:spcPts val="800"/>
              </a:spcAft>
              <a:defRPr sz="1900" b="0">
                <a:solidFill>
                  <a:srgbClr val="16A34A"/>
                </a:solidFill>
              </a:defRPr>
            </a:pPr>
            <a:r>
              <a:t>Brief Strategik PAS/MN — Insight + ML + Poll Pengundi Malaysia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606040"/>
            <a:ext cx="8229600" cy="173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Gabungan Job 1 (poll MN) + Job 2 (5 keyword monarki) + model kerusi N9</a:t>
            </a:r>
          </a:p>
          <a:p>
            <a:pPr>
              <a:spcAft>
                <a:spcPts val="800"/>
              </a:spcAft>
              <a:defRPr sz="1300" b="0">
                <a:solidFill>
                  <a:srgbClr val="64748B"/>
                </a:solidFill>
              </a:defRPr>
            </a:pPr>
            <a:r>
              <a:t>Dijana 2026-07-05 02:31 · Majoriti DUN = 19 · Sasaran operasi MN = 20 kerusi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Nasihat Strategik HQ — Main Isu Adat atau Tidak?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Naratif UTAMA kempen = MN lawan PH (Poll PM: ~89% sokong) — bukan lawan YDPB/Undang.</a:t>
            </a:r>
          </a:p>
          <a:p>
            <a:pPr>
              <a:spcAft>
                <a:spcPts val="1000"/>
              </a:spcAft>
              <a:defRPr sz="1500" b="1">
                <a:solidFill>
                  <a:srgbClr val="C8102E"/>
                </a:solidFill>
              </a:defRPr>
            </a:pPr>
            <a:r>
              <a:t>JANGAN jadikan krisis adat sebagai SENJATA SERANGAN terbuka terhadap MB/PH dalam ceramah.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Sebab: K2–K3 negatif 52–54% — audiens Melayu marah/confused; MN risiko dilihat mempolitikkan istana.</a:t>
            </a:r>
          </a:p>
          <a:p>
            <a:pPr>
              <a:spcAft>
                <a:spcPts val="600"/>
              </a:spcAft>
              <a:defRPr sz="1500" b="1">
                <a:solidFill>
                  <a:srgbClr val="16A34A"/>
                </a:solidFill>
              </a:defRPr>
            </a:pPr>
            <a:r>
              <a:t>BOLEH &amp; PATUT: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Isu adat = naratif SEKUNDER, defensif: «hormati proses adat · stabil · jangan pecah Melayu».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Micro-target ~10 DUN zon Undang sahaja — bukan 32 DUN.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Edukasi 1-pager adat (bukan debat parti) · elak quote K3 negatif di media sosial rasmi.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Job 1 — Poll Pengundi Malaysia (Gabung MN)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6A34A"/>
                </a:solidFill>
              </a:defRPr>
            </a:pPr>
            <a:r>
              <a:t>89.4%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Sokong MN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28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C8102E"/>
                </a:solidFill>
              </a:defRPr>
            </a:pPr>
            <a:r>
              <a:t>10.6%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Tolak MN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1,882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Engagement Post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63%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Melayu (proxy)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Implikasi untuk PAS/MN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531 komen · 226 jelas A/B → sokong UMNO+PAS lawan PH ~89.4%.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Audiens page pro-MN — bukan sampling N9 penuh, tapi signal digital kuat untuk naratif coalisi.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GABUNG dengan monarki: «Sokong MN demi stabil N9» + «hormati adat» — SATU garis, bukan dua front.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Jangan over-claim menang — galvanize debat → undi sebenar + cula lapangan.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Rujuk: Pengundi_Malaysia_Poll_N9_Insight_Tindakan.pptx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Job 2 — 5 Keyword Monarki/Adat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2167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61188"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Frame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Rekod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Negatif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Engagement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Monarki luas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29,410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Mukhriz vs Undang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20,992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Undang 4 vs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35,050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Adat + 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78,882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Batch 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421,763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Sasaran Geografi — 32 DUN vs 20 MN vs Zon Undang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77639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3366"/>
                </a:solidFill>
              </a:defRPr>
            </a:pPr>
            <a:r>
              <a:t>3 lapisan — isu adat = RISIKO, bukan peluang serangan</a:t>
            </a:r>
          </a:p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32 DUN (seluruh N9)</a:t>
            </a:r>
          </a:p>
          <a:p>
            <a:pPr>
              <a:spcAft>
                <a:spcPts val="200"/>
              </a:spcAft>
              <a:defRPr sz="1000" b="0">
                <a:solidFill>
                  <a:srgbClr val="1E293B"/>
                </a:solidFill>
              </a:defRPr>
            </a:pPr>
            <a:r>
              <a:t>Monitor sahaja · JANGAN siar isu adat negeri-wide.</a:t>
            </a:r>
          </a:p>
          <a:p>
            <a:pPr>
              <a:spcAft>
                <a:spcPts val="600"/>
              </a:spcAft>
              <a:defRPr sz="900" b="0">
                <a:solidFill>
                  <a:srgbClr val="64748B"/>
                </a:solidFill>
              </a:defRPr>
            </a:pPr>
            <a:r>
              <a:t>→ Elak jadikan krisis istana mesej ceramah seluruh negeri.</a:t>
            </a:r>
          </a:p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20 kerusi MN</a:t>
            </a:r>
          </a:p>
          <a:p>
            <a:pPr>
              <a:spcAft>
                <a:spcPts val="200"/>
              </a:spcAft>
              <a:defRPr sz="1000" b="0">
                <a:solidFill>
                  <a:srgbClr val="1E293B"/>
                </a:solidFill>
              </a:defRPr>
            </a:pPr>
            <a:r>
              <a:t>Operasi MN standard · alert monarki · 20 DUN (PN+BN&gt;PH 2023).</a:t>
            </a:r>
          </a:p>
          <a:p>
            <a:pPr>
              <a:spcAft>
                <a:spcPts val="600"/>
              </a:spcAft>
              <a:defRPr sz="900" b="0">
                <a:solidFill>
                  <a:srgbClr val="64748B"/>
                </a:solidFill>
              </a:defRPr>
            </a:pPr>
            <a:r>
              <a:t>→ Kempen: MN lawan PH (~89.4%) · alert ≠ serang MB via adat.</a:t>
            </a:r>
          </a:p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t>~10 DUN zon Undang</a:t>
            </a:r>
          </a:p>
          <a:p>
            <a:pPr>
              <a:spcAft>
                <a:spcPts val="200"/>
              </a:spcAft>
              <a:defRPr sz="1000" b="0">
                <a:solidFill>
                  <a:srgbClr val="1E293B"/>
                </a:solidFill>
              </a:defRPr>
            </a:pPr>
            <a:r>
              <a:t>Micro-target · 9 overlap MN20 · soft comms.</a:t>
            </a:r>
          </a:p>
          <a:p>
            <a:pPr>
              <a:spcAft>
                <a:spcPts val="600"/>
              </a:spcAft>
              <a:defRPr sz="900" b="0">
                <a:solidFill>
                  <a:srgbClr val="64748B"/>
                </a:solidFill>
              </a:defRPr>
            </a:pPr>
            <a:r>
              <a:t>→ Jelebu · Johol · Rembau · Tampin — hormat Tuanku, bukan lawan istana.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60120"/>
            <a:ext cx="406908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3366"/>
                </a:solidFill>
              </a:defRPr>
            </a:pPr>
            <a:r>
              <a:t>Satu garis mesej</a:t>
            </a:r>
          </a:p>
          <a:p>
            <a:pPr>
              <a:spcAft>
                <a:spcPts val="300"/>
              </a:spcAft>
              <a:defRPr sz="1100" b="1">
                <a:solidFill>
                  <a:srgbClr val="16A34A"/>
                </a:solidFill>
              </a:defRPr>
            </a:pPr>
            <a:r>
              <a:t>DO ✓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«MN lawan PH» — poll ~89.4% sokong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«Hormati adat» — soft, 10 DUN Undang sahaja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Pertahan N05 (+843 tipis) — MN murni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Edukasi adat — bukan debat parti</a:t>
            </a:r>
          </a:p>
          <a:p>
            <a:pPr>
              <a:spcAft>
                <a:spcPts val="600"/>
              </a:spcAft>
              <a:defRPr sz="1100" b="1">
                <a:solidFill>
                  <a:srgbClr val="C8102E"/>
                </a:solidFill>
              </a:defRPr>
            </a:pPr>
            <a:r>
              <a:t>DON'T ✗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Serang MB guna «penderhaka Undang»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Siar isu adat ke 32 DUN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Politikkan istana di ceramah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t>  • Over-claim menang dari poll sahaja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2356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D97706"/>
                </a:solidFill>
              </a:defRPr>
            </a:pPr>
            <a:r>
              <a:t>BOTTOM LINE: Naratif UTAMA = poll MN (89.4%) · Isu adat = defensif + micro 10 DUN — bukan serangan negeri-wide.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Kerusi Sensitif Adat — Apa Buat? (ML + Lapangan)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1417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3366"/>
                </a:solidFill>
              </a:defRPr>
            </a:pPr>
            <a:r>
              <a:t>Apa maksud slide ini?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Model ML = ramalan kerusi dari data SPR + demografi + socmed — BUKAN undi rasmi.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MN dijangka ~22.9 kerusi (majoriti = 19) — isu adat TIDAK auto menambah kerusi.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Isu adat = AMARAN: kalau mishandle, boleh RUGI kerusi tipis — bukan peluang serang.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514600"/>
          <a:ext cx="8412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5669280"/>
              </a:tblGrid>
              <a:tr h="58674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Kerusi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Risiko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Tindakan HQ / Ketua 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N05 Serting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8102E"/>
                          </a:solidFill>
                        </a:defRPr>
                      </a:pPr>
                      <a:r>
                        <a:t>🔴 TERTINGGI</a:t>
                      </a:r>
                    </a:p>
                    <a:p>
                      <a:pPr>
                        <a:defRPr sz="900">
                          <a:solidFill>
                            <a:srgbClr val="C8102E"/>
                          </a:solidFill>
                        </a:defRPr>
                      </a:pPr>
                      <a:r>
                        <a:t>Menang tipis +843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JANGAN sentuh isu adat</a:t>
                      </a:r>
                    </a:p>
                    <a:p>
                      <a:pPr>
                        <a:defRPr sz="900"/>
                      </a:pPr>
                      <a:r>
                        <a:t>Kempen MN murni · pertahan</a:t>
                      </a:r>
                    </a:p>
                  </a:txBody>
                  <a:tcPr/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N19 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t>🟠 TINGGI</a:t>
                      </a:r>
                    </a:p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t>Zon Undang · ML 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Monitor socmed 2× sehari</a:t>
                      </a:r>
                    </a:p>
                    <a:p>
                      <a:pPr>
                        <a:defRPr sz="900"/>
                      </a:pPr>
                      <a:r>
                        <a:t>Soft touch · elak provokasi</a:t>
                      </a:r>
                    </a:p>
                  </a:txBody>
                  <a:tcPr/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N03, 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t>🟡 SEDANG</a:t>
                      </a:r>
                    </a:p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t>Istana neutral-pos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Jangan buat isu</a:t>
                      </a:r>
                    </a:p>
                    <a:p>
                      <a:pPr>
                        <a:defRPr sz="900"/>
                      </a:pPr>
                      <a:r>
                        <a:t>Teruskan perkhidmatan</a:t>
                      </a:r>
                    </a:p>
                  </a:txBody>
                  <a:tcPr/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N14 Ampangan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t>🟠 MB zone · ML 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JANGAN serang via adat</a:t>
                      </a:r>
                    </a:p>
                    <a:p>
                      <a:pPr>
                        <a:defRPr sz="900"/>
                      </a:pPr>
                      <a:r>
                        <a:t>Fokus flip muafakat</a:t>
                      </a:r>
                    </a:p>
                  </a:txBody>
                  <a:tcPr/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N01, N10, N33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t>🟡 Kubu 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Counter perkhidmatan</a:t>
                      </a:r>
                    </a:p>
                    <a:p>
                      <a:pPr>
                        <a:defRPr sz="900"/>
                      </a:pPr>
                      <a:r>
                        <a:t>Bukan debat adat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44768"/>
            <a:ext cx="82296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A34A"/>
                </a:solidFill>
              </a:defRPr>
            </a:pPr>
            <a:r>
              <a:t>RINGKAS: Isu adat = jaga kerusi tipis (N05) + pantau 10 DUN Undang — bukan serangan negeri-wide.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Matriks DUN Zon Undang — Main / Monitor / Jangan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3630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845"/>
                <a:gridCol w="1214845"/>
                <a:gridCol w="1214845"/>
                <a:gridCol w="1214845"/>
                <a:gridCol w="1214845"/>
                <a:gridCol w="1214845"/>
                <a:gridCol w="1214850"/>
              </a:tblGrid>
              <a:tr h="330015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Zon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MN20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pasWinProb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Exposure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Cadangan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Sungai Lui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SOFT · edukasi adat · hormat YDPB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SOFT · edukasi adat · hormat YDPB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Pilah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JANGAN main isu adat (luar MN20)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soft adat · elak serang MB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Paroi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Sungai Ujong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Chembong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Rantau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Tampin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Gemencheh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Tampin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Gabungan Naratif — Poll MN + Monarki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A34A"/>
                </a:solidFill>
              </a:defRPr>
            </a:pPr>
            <a:r>
              <a:t>DO ✓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«PRN N9: MN lawan PH — 89.4% sokong digital (Poll PM)»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«Hormati Tuanku &amp; proses adat — fokus kebajikan rakyat»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«Elak pecah undi Melayu — pilih kerjasama»</a:t>
            </a:r>
          </a:p>
          <a:p>
            <a:pPr>
              <a:spcAft>
                <a:spcPts val="600"/>
              </a:spcAft>
              <a:defRPr sz="1400" b="1">
                <a:solidFill>
                  <a:srgbClr val="C8102E"/>
                </a:solidFill>
              </a:defRPr>
            </a:pPr>
            <a:r>
              <a:t>DON'T ✗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Serang MB/PH guna «penderhaka Undang» di ceramah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Share meme/video K3 negatif tanpa konteks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Politikkan istana di kubu DAP (N01/N10/N33)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Over-claim «menang» dari poll PM sahaja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Segera — 7 Hari (P1)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Brief ketua 20 kerusi MN: garis «poll MN + hormat adat» — doc 1 muka surat WhatsApp.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HQ · hari ini · Action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Monitor K2/K3/K5 daily — spike &gt;60% negatif → alert P1 Action Center (10 DUN Undang).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Digital war room · 2× sehari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Siap 1-pager fakta adat N9 (Undang 4, DKU, peranan YDPB) — edukasi bukan serangan.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+ legal adat · 48 jam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Echo poll PM (~89% sokong MN) di group kempen — pisahkan dari debat istana.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Media PAS N9 · Jumaat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Momentum — 2–4 Minggu (P2)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Merge CSV K1–K5 + poll + ML → dashboard war room monarki (dedupe overlap).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InsightPulse · script merge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Cula lapangan 10 DUN Undang — banding signal digital vs ground (N05, N19 priority).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N9 · mingguan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Update pasWinProb model dengan socmed_neg monarki per DUN (retrain ML).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Data team · minggu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Sedia rebut K4 (adat+DAP) — 5 fakta, elak sentuh sensitif agama.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· doc ringkas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Mesej Disyorkan — Copy Paste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Utama (poll + MN)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"PRN N9: Sokong MN lawan PH. Poll digital ~89.4% sokong — elak pecah undi Melayu."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Adat (soft)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"N9 kuat tradisi adat — hormati Tuanku &amp; Undang. Fokus perkhidmatan, bukan provokasi."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Ceramah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"Lawan DAP/PH — bukan lawan istana. MN demi stabil dan kebajihan."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Footnote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"Signal digital InsightPulse — bukan polling SPR. Sahkan dengan cula lapangan."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Risiko &amp;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Politikkan istana (K3 54% neg)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Brief DUN · P1 doc · sanksi mesej provokatif</a:t>
            </a:r>
          </a:p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Over-rely poll 89.4% tanpa lapangan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Cula + footnote sentiasa · jangan claim menang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Main adat di 32 DUN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Hadkan 10 DUN Undang · 20 MN operasi standard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PH frame «MN anti-Melayu/adat»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Edukasi + neutral tone · jangan feed K3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