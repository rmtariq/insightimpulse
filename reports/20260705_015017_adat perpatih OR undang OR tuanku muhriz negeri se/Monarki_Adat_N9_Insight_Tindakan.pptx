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005840"/>
            <a:ext cx="8229600" cy="1463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003366"/>
                </a:solidFill>
              </a:defRPr>
            </a:pPr>
            <a:r>
              <a:t>Monarki, Adat &amp; MN N9</a:t>
            </a:r>
          </a:p>
          <a:p>
            <a:pPr>
              <a:spcAft>
                <a:spcPts val="800"/>
              </a:spcAft>
              <a:defRPr sz="1900" b="0">
                <a:solidFill>
                  <a:srgbClr val="16A34A"/>
                </a:solidFill>
              </a:defRPr>
            </a:pPr>
            <a:r>
              <a:t>Brief Strategik PAS/MN — Insight + ML + Poll Pengundi Malaysia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2606040"/>
            <a:ext cx="8229600" cy="1737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E293B"/>
                </a:solidFill>
              </a:defRPr>
            </a:pPr>
            <a:r>
              <a:t>Gabungan Job 1 (poll MN) + Job 2 (5 keyword monarki) + model kerusi N9</a:t>
            </a:r>
          </a:p>
          <a:p>
            <a:pPr>
              <a:spcAft>
                <a:spcPts val="800"/>
              </a:spcAft>
              <a:defRPr sz="1300" b="0">
                <a:solidFill>
                  <a:srgbClr val="64748B"/>
                </a:solidFill>
              </a:defRPr>
            </a:pPr>
            <a:r>
              <a:t>Dijana 2026-07-05 02:07 · Majoriti DUN = 19 · Sasaran operasi MN = 20 kerusi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PAS/MN N9 · Bukan polling SPR · Sahkan lapangan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Nasihat Strategik HQ — Main Isu Adat atau Tidak?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8229600" cy="5303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E293B"/>
                </a:solidFill>
              </a:defRPr>
            </a:pPr>
            <a:r>
              <a:t>• Naratif UTAMA kempen = MN lawan PH (Poll PM: ~89% sokong) — bukan lawan YDPB/Undang.</a:t>
            </a:r>
          </a:p>
          <a:p>
            <a:pPr>
              <a:spcAft>
                <a:spcPts val="1000"/>
              </a:spcAft>
              <a:defRPr sz="1500" b="1">
                <a:solidFill>
                  <a:srgbClr val="C8102E"/>
                </a:solidFill>
              </a:defRPr>
            </a:pPr>
            <a:r>
              <a:t>JANGAN jadikan krisis adat sebagai SENJATA SERANGAN terbuka terhadap MB/PH dalam ceramah.</a:t>
            </a:r>
          </a:p>
          <a:p>
            <a:pPr>
              <a:spcAft>
                <a:spcPts val="1000"/>
              </a:spcAft>
              <a:defRPr sz="1300" b="0">
                <a:solidFill>
                  <a:srgbClr val="1E293B"/>
                </a:solidFill>
              </a:defRPr>
            </a:pPr>
            <a:r>
              <a:t>Sebab: K2–K3 negatif 52–54% — audiens Melayu marah/confused; MN risiko dilihat mempolitikkan istana.</a:t>
            </a:r>
          </a:p>
          <a:p>
            <a:pPr>
              <a:spcAft>
                <a:spcPts val="600"/>
              </a:spcAft>
              <a:defRPr sz="1500" b="1">
                <a:solidFill>
                  <a:srgbClr val="16A34A"/>
                </a:solidFill>
              </a:defRPr>
            </a:pPr>
            <a:r>
              <a:t>BOLEH &amp; PATUT:</a:t>
            </a:r>
          </a:p>
          <a:p>
            <a:pPr>
              <a:spcAft>
                <a:spcPts val="700"/>
              </a:spcAft>
              <a:defRPr sz="1300" b="0">
                <a:solidFill>
                  <a:srgbClr val="1E293B"/>
                </a:solidFill>
              </a:defRPr>
            </a:pPr>
            <a:r>
              <a:t>• Isu adat = naratif SEKUNDER, defensif: «hormati proses adat · stabil · jangan pecah Melayu».</a:t>
            </a:r>
          </a:p>
          <a:p>
            <a:pPr>
              <a:spcAft>
                <a:spcPts val="700"/>
              </a:spcAft>
              <a:defRPr sz="1300" b="0">
                <a:solidFill>
                  <a:srgbClr val="1E293B"/>
                </a:solidFill>
              </a:defRPr>
            </a:pPr>
            <a:r>
              <a:t>• Micro-target ~10 DUN zon Undang sahaja — bukan 32 DUN.</a:t>
            </a:r>
          </a:p>
          <a:p>
            <a:pPr>
              <a:spcAft>
                <a:spcPts val="700"/>
              </a:spcAft>
              <a:defRPr sz="1300" b="0">
                <a:solidFill>
                  <a:srgbClr val="1E293B"/>
                </a:solidFill>
              </a:defRPr>
            </a:pPr>
            <a:r>
              <a:t>• Edukasi 1-pager adat (bukan debat parti) · elak quote K3 negatif di media sosial rasmi.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PAS/MN N9 · Bukan polling SPR · Sahkan lapangan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Job 1 — Poll Pengundi Malaysia (Gabung MN)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965960" cy="9601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069848"/>
            <a:ext cx="173736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200"/>
              </a:spcAft>
              <a:defRPr sz="2600" b="1">
                <a:solidFill>
                  <a:srgbClr val="16A34A"/>
                </a:solidFill>
              </a:defRPr>
            </a:pPr>
            <a:r>
              <a:t>89.4%</a:t>
            </a:r>
          </a:p>
          <a:p>
            <a:pPr>
              <a:spcAft>
                <a:spcPts val="0"/>
              </a:spcAft>
              <a:defRPr sz="1000" b="0">
                <a:solidFill>
                  <a:srgbClr val="64748B"/>
                </a:solidFill>
              </a:defRPr>
            </a:pPr>
            <a:r>
              <a:t>Sokong MN</a:t>
            </a:r>
          </a:p>
        </p:txBody>
      </p:sp>
      <p:sp>
        <p:nvSpPr>
          <p:cNvPr id="6" name="Rectangle 5"/>
          <p:cNvSpPr/>
          <p:nvPr/>
        </p:nvSpPr>
        <p:spPr>
          <a:xfrm>
            <a:off x="2423160" y="960120"/>
            <a:ext cx="1965960" cy="9601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32888" y="1069848"/>
            <a:ext cx="173736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200"/>
              </a:spcAft>
              <a:defRPr sz="2600" b="1">
                <a:solidFill>
                  <a:srgbClr val="C8102E"/>
                </a:solidFill>
              </a:defRPr>
            </a:pPr>
            <a:r>
              <a:t>10.6%</a:t>
            </a:r>
          </a:p>
          <a:p>
            <a:pPr>
              <a:spcAft>
                <a:spcPts val="0"/>
              </a:spcAft>
              <a:defRPr sz="1000" b="0">
                <a:solidFill>
                  <a:srgbClr val="64748B"/>
                </a:solidFill>
              </a:defRPr>
            </a:pPr>
            <a:r>
              <a:t>Tolak MN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960120"/>
            <a:ext cx="1965960" cy="9601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0288" y="1069848"/>
            <a:ext cx="173736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200"/>
              </a:spcAft>
              <a:defRPr sz="2600" b="1">
                <a:solidFill>
                  <a:srgbClr val="003366"/>
                </a:solidFill>
              </a:defRPr>
            </a:pPr>
            <a:r>
              <a:t>1,882</a:t>
            </a:r>
          </a:p>
          <a:p>
            <a:pPr>
              <a:spcAft>
                <a:spcPts val="0"/>
              </a:spcAft>
              <a:defRPr sz="1000" b="0">
                <a:solidFill>
                  <a:srgbClr val="64748B"/>
                </a:solidFill>
              </a:defRPr>
            </a:pPr>
            <a:r>
              <a:t>Engagement Post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37960" y="960120"/>
            <a:ext cx="1965960" cy="96012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47688" y="1069848"/>
            <a:ext cx="173736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200"/>
              </a:spcAft>
              <a:defRPr sz="2600" b="1">
                <a:solidFill>
                  <a:srgbClr val="D97706"/>
                </a:solidFill>
              </a:defRPr>
            </a:pPr>
            <a:r>
              <a:t>63%</a:t>
            </a:r>
          </a:p>
          <a:p>
            <a:pPr>
              <a:spcAft>
                <a:spcPts val="0"/>
              </a:spcAft>
              <a:defRPr sz="1000" b="0">
                <a:solidFill>
                  <a:srgbClr val="64748B"/>
                </a:solidFill>
              </a:defRPr>
            </a:pPr>
            <a:r>
              <a:t>Melayu (proxy)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148840"/>
            <a:ext cx="8229600" cy="3931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3366"/>
                </a:solidFill>
              </a:defRPr>
            </a:pPr>
            <a:r>
              <a:t>Implikasi untuk PAS/MN</a:t>
            </a:r>
          </a:p>
          <a:p>
            <a:pPr>
              <a:spcAft>
                <a:spcPts val="700"/>
              </a:spcAft>
              <a:defRPr sz="1300" b="0">
                <a:solidFill>
                  <a:srgbClr val="1E293B"/>
                </a:solidFill>
              </a:defRPr>
            </a:pPr>
            <a:r>
              <a:t>• 531 komen · 226 jelas A/B → sokong UMNO+PAS lawan PH ~89.4%.</a:t>
            </a:r>
          </a:p>
          <a:p>
            <a:pPr>
              <a:spcAft>
                <a:spcPts val="700"/>
              </a:spcAft>
              <a:defRPr sz="1300" b="0">
                <a:solidFill>
                  <a:srgbClr val="1E293B"/>
                </a:solidFill>
              </a:defRPr>
            </a:pPr>
            <a:r>
              <a:t>• Audiens page pro-MN — bukan sampling N9 penuh, tapi signal digital kuat untuk naratif coalisi.</a:t>
            </a:r>
          </a:p>
          <a:p>
            <a:pPr>
              <a:spcAft>
                <a:spcPts val="700"/>
              </a:spcAft>
              <a:defRPr sz="1300" b="0">
                <a:solidFill>
                  <a:srgbClr val="1E293B"/>
                </a:solidFill>
              </a:defRPr>
            </a:pPr>
            <a:r>
              <a:t>• GABUNG dengan monarki: «Sokong MN demi stabil N9» + «hormati adat» — SATU garis, bukan dua front.</a:t>
            </a:r>
          </a:p>
          <a:p>
            <a:pPr>
              <a:spcAft>
                <a:spcPts val="700"/>
              </a:spcAft>
              <a:defRPr sz="1300" b="0">
                <a:solidFill>
                  <a:srgbClr val="1E293B"/>
                </a:solidFill>
              </a:defRPr>
            </a:pPr>
            <a:r>
              <a:t>• Jangan over-claim menang — galvanize debat → undi sebenar + cula lapangan.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Rujuk: Pengundi_Malaysia_Poll_N9_Insight_Tindakan.pptx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Job 2 — 5 Keyword Monarki/Adat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960120"/>
          <a:ext cx="8503920" cy="2167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0784"/>
                <a:gridCol w="1700784"/>
                <a:gridCol w="1700784"/>
                <a:gridCol w="1700784"/>
                <a:gridCol w="1700784"/>
              </a:tblGrid>
              <a:tr h="361188">
                <a:tc>
                  <a:txBody>
                    <a:bodyPr/>
                    <a:lstStyle/>
                    <a:p>
                      <a:pPr>
                        <a:defRPr b="1" sz="900"/>
                      </a:pPr>
                      <a:r>
                        <a:t>KW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/>
                      </a:pPr>
                      <a:r>
                        <a:t>Frame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/>
                      </a:pPr>
                      <a:r>
                        <a:t>Rekod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/>
                      </a:pPr>
                      <a:r>
                        <a:t>Negatif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/>
                      </a:pPr>
                      <a:r>
                        <a:t>Engagement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K1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Monarki luas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29,410</a:t>
                      </a:r>
                    </a:p>
                  </a:txBody>
                  <a:tcPr/>
                </a:tc>
              </a:tr>
              <a:tr h="36118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K2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Mukhriz vs Undang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1,040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20,992</a:t>
                      </a:r>
                    </a:p>
                  </a:txBody>
                  <a:tcPr/>
                </a:tc>
              </a:tr>
              <a:tr h="36118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K3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Undang 4 vs 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2,024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35,050</a:t>
                      </a:r>
                    </a:p>
                  </a:txBody>
                  <a:tcPr/>
                </a:tc>
              </a:tr>
              <a:tr h="36118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K4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Adat + DAP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2,838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47.9%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78,882</a:t>
                      </a:r>
                    </a:p>
                  </a:txBody>
                  <a:tcPr/>
                </a:tc>
              </a:tr>
              <a:tr h="36118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K5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Batch C09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4,562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421,763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PAS/MN N9 · Bukan polling SPR · Sahkan lapangan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Sasaran Geografi — 32 DUN vs 20 MN vs Zon Undang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3931920" cy="5029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3366"/>
                </a:solidFill>
              </a:defRPr>
            </a:pPr>
            <a:r>
              <a:t>3 lapisan</a:t>
            </a:r>
          </a:p>
          <a:p>
            <a:pPr>
              <a:spcAft>
                <a:spcPts val="300"/>
              </a:spcAft>
              <a:defRPr sz="1200" b="1">
                <a:solidFill>
                  <a:srgbClr val="16A34A"/>
                </a:solidFill>
              </a:defRPr>
            </a:pPr>
            <a:r>
              <a:t>32 DUN (seluruh N9)</a:t>
            </a:r>
          </a:p>
          <a:p>
            <a:pPr>
              <a:spcAft>
                <a:spcPts val="800"/>
              </a:spcAft>
              <a:defRPr sz="1100" b="0">
                <a:solidFill>
                  <a:srgbClr val="1E293B"/>
                </a:solidFill>
              </a:defRPr>
            </a:pPr>
            <a:r>
              <a:t>Monitor sahaja · JANGAN siar isu adat secara negeri-wide.</a:t>
            </a:r>
          </a:p>
          <a:p>
            <a:pPr>
              <a:spcAft>
                <a:spcPts val="300"/>
              </a:spcAft>
              <a:defRPr sz="1200" b="1">
                <a:solidFill>
                  <a:srgbClr val="16A34A"/>
                </a:solidFill>
              </a:defRPr>
            </a:pPr>
            <a:r>
              <a:t>20 kerusi MN</a:t>
            </a:r>
          </a:p>
          <a:p>
            <a:pPr>
              <a:spcAft>
                <a:spcPts val="800"/>
              </a:spcAft>
              <a:defRPr sz="1100" b="0">
                <a:solidFill>
                  <a:srgbClr val="1E293B"/>
                </a:solidFill>
              </a:defRPr>
            </a:pPr>
            <a:r>
              <a:t>Operasi MN standard · alert monarki · 20 DUN (PN+BN&gt;PH 2023).</a:t>
            </a:r>
          </a:p>
          <a:p>
            <a:pPr>
              <a:spcAft>
                <a:spcPts val="300"/>
              </a:spcAft>
              <a:defRPr sz="1200" b="1">
                <a:solidFill>
                  <a:srgbClr val="16A34A"/>
                </a:solidFill>
              </a:defRPr>
            </a:pPr>
            <a:r>
              <a:t>~10 DUN zon Undang</a:t>
            </a:r>
          </a:p>
          <a:p>
            <a:pPr>
              <a:spcAft>
                <a:spcPts val="800"/>
              </a:spcAft>
              <a:defRPr sz="1100" b="0">
                <a:solidFill>
                  <a:srgbClr val="1E293B"/>
                </a:solidFill>
              </a:defRPr>
            </a:pPr>
            <a:r>
              <a:t>Micro-target · 9 overlap MN20 · soft comms.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960120"/>
            <a:ext cx="4114800" cy="5029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1E293B"/>
                </a:solidFill>
              </a:defRPr>
            </a:pPr>
            <a:r>
              <a:t>• PAS: Elak nada anti-istana — fokus lawan PH/DAP; gunakan poll 89% sebagai mobilizer.</a:t>
            </a:r>
          </a:p>
          <a:p>
            <a:pPr>
              <a:spcAft>
                <a:spcPts val="700"/>
              </a:spcAft>
              <a:defRPr sz="1100" b="0">
                <a:solidFill>
                  <a:srgbClr val="1E293B"/>
                </a:solidFill>
              </a:defRPr>
            </a:pPr>
            <a:r>
              <a:t>• UMNO: Hormat YDPB/Undang — jangan kait MB dengan «penderhaka adat» secara terbuka.</a:t>
            </a:r>
          </a:p>
          <a:p>
            <a:pPr>
              <a:spcAft>
                <a:spcPts val="700"/>
              </a:spcAft>
              <a:defRPr sz="1100" b="0">
                <a:solidFill>
                  <a:srgbClr val="1E293B"/>
                </a:solidFill>
              </a:defRPr>
            </a:pPr>
            <a:r>
              <a:t>• MN bloc: Isu adat TIDAK menambah kerusi secara langsung — mishandle boleh rugi N05 (tipis +843), N19 Johol.</a:t>
            </a:r>
          </a:p>
          <a:p>
            <a:pPr>
              <a:spcAft>
                <a:spcPts val="700"/>
              </a:spcAft>
              <a:defRPr sz="1100" b="0">
                <a:solidFill>
                  <a:srgbClr val="1E293B"/>
                </a:solidFill>
              </a:defRPr>
            </a:pPr>
            <a:r>
              <a:t>• PH/MB: Frame K3/K4 memanfaatkan kekeliruan — MN mesti tutup dengan edukasi, bukan serangan.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PAS/MN N9 · Bukan polling SPR · Sahkan lapangan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ML + Prediksi Kerusi — Kesan Isu Adat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8229600" cy="1828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3366"/>
                </a:solidFill>
              </a:defRPr>
            </a:pPr>
            <a:r>
              <a:t>Model hibrid InsightPulse (36 DUN)</a:t>
            </a:r>
          </a:p>
          <a:p>
            <a:pPr>
              <a:spcAft>
                <a:spcPts val="600"/>
              </a:spcAft>
              <a:defRPr sz="1200" b="0">
                <a:solidFill>
                  <a:srgbClr val="1E293B"/>
                </a:solidFill>
              </a:defRPr>
            </a:pPr>
            <a:r>
              <a:t>Features: scenario_pas_pn, pct_melayu, pct_cina, bkc_modal · CV accuracy ~94% · Bukan polling SPR.</a:t>
            </a:r>
          </a:p>
          <a:p>
            <a:pPr>
              <a:spcAft>
                <a:spcPts val="600"/>
              </a:spcAft>
              <a:defRPr sz="1200" b="0">
                <a:solidFill>
                  <a:srgbClr val="D97706"/>
                </a:solidFill>
              </a:defRPr>
            </a:pPr>
            <a:r>
              <a:t>Isu monarki → flag socmed_neg_pct ↑ pada DUN Undang · guna sebagai AMARAN, bukan auto-flip.</a:t>
            </a:r>
          </a:p>
          <a:p>
            <a:pPr>
              <a:spcAft>
                <a:spcPts val="800"/>
              </a:spcAft>
              <a:defRPr sz="1200" b="0">
                <a:solidFill>
                  <a:srgbClr val="1E293B"/>
                </a:solidFill>
              </a:defRPr>
            </a:pPr>
            <a:r>
              <a:t>Bloc MN dijangka ~22.9 kerusi (model war room) · majoriti = 19 · adat handled well = risk mitigation.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926080"/>
            <a:ext cx="8229600" cy="3200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6A34A"/>
                </a:solidFill>
              </a:defRPr>
            </a:pPr>
            <a:r>
              <a:t>Prediksi kesan isu adat (qualitative + ML)</a:t>
            </a:r>
          </a:p>
          <a:p>
            <a:pPr>
              <a:spcAft>
                <a:spcPts val="600"/>
              </a:spcAft>
              <a:defRPr sz="1100" b="0">
                <a:solidFill>
                  <a:srgbClr val="1E293B"/>
                </a:solidFill>
              </a:defRPr>
            </a:pPr>
            <a:r>
              <a:t>• N05 Serting (pasWinProb 70%, majoriti +843): RISIKO TERTINGGI — jangan campur adat; pertahan MN murni.</a:t>
            </a:r>
          </a:p>
          <a:p>
            <a:pPr>
              <a:spcAft>
                <a:spcPts val="600"/>
              </a:spcAft>
              <a:defRPr sz="1100" b="0">
                <a:solidFill>
                  <a:srgbClr val="1E293B"/>
                </a:solidFill>
              </a:defRPr>
            </a:pPr>
            <a:r>
              <a:t>• N19 Johol (pasWinProb 38%, zon Undang): monitor spike; soft touch only.</a:t>
            </a:r>
          </a:p>
          <a:p>
            <a:pPr>
              <a:spcAft>
                <a:spcPts val="600"/>
              </a:spcAft>
              <a:defRPr sz="1100" b="0">
                <a:solidFill>
                  <a:srgbClr val="1E293B"/>
                </a:solidFill>
              </a:defRPr>
            </a:pPr>
            <a:r>
              <a:t>• N25 Paroi, N03 Sungai Lui: neutral-positive istana news — jangan provokasi.</a:t>
            </a:r>
          </a:p>
          <a:p>
            <a:pPr>
              <a:spcAft>
                <a:spcPts val="600"/>
              </a:spcAft>
              <a:defRPr sz="1100" b="0">
                <a:solidFill>
                  <a:srgbClr val="1E293B"/>
                </a:solidFill>
              </a:defRPr>
            </a:pPr>
            <a:r>
              <a:t>• N14 Ampangan (MB zone, pasWinProb 15%): JANGAN serang via adat — fokus flip muafakat, bukan istana.</a:t>
            </a:r>
          </a:p>
          <a:p>
            <a:pPr>
              <a:spcAft>
                <a:spcPts val="600"/>
              </a:spcAft>
              <a:defRPr sz="1100" b="0">
                <a:solidFill>
                  <a:srgbClr val="1E293B"/>
                </a:solidFill>
              </a:defRPr>
            </a:pPr>
            <a:r>
              <a:t>• DAP kubu (N01, N10, N33): K4 frame wujud — counter dengan perkhidmatan, bukan adat.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PAS/MN N9 · Bukan polling SPR · Sahkan lapangan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Matriks DUN Zon Undang — Main / Monitor / Jangan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960120"/>
          <a:ext cx="8503920" cy="3630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4845"/>
                <a:gridCol w="1214845"/>
                <a:gridCol w="1214845"/>
                <a:gridCol w="1214845"/>
                <a:gridCol w="1214845"/>
                <a:gridCol w="1214845"/>
                <a:gridCol w="1214850"/>
              </a:tblGrid>
              <a:tr h="330015"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DUN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Nama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Zon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MN20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pasWinProb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Exposure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700"/>
                      </a:pPr>
                      <a:r>
                        <a:t>Cadangan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3001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Sungai Lui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Jelebu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TINGGI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SOFT · edukasi adat · hormat YDPB</a:t>
                      </a:r>
                    </a:p>
                  </a:txBody>
                  <a:tcPr/>
                </a:tc>
              </a:tr>
              <a:tr h="33001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Serting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Jelebu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TINGGI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SOFT · edukasi adat · hormat YDPB</a:t>
                      </a:r>
                    </a:p>
                  </a:txBody>
                  <a:tcPr/>
                </a:tc>
              </a:tr>
              <a:tr h="33001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Palong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Jelebu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SEDANG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MONITOR · jangan over-play</a:t>
                      </a:r>
                    </a:p>
                  </a:txBody>
                  <a:tcPr/>
                </a:tc>
              </a:tr>
              <a:tr h="33001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Pilah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Johol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TINGGI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JANGAN main isu adat (luar MN20)</a:t>
                      </a:r>
                    </a:p>
                  </a:txBody>
                  <a:tcPr/>
                </a:tc>
              </a:tr>
              <a:tr h="33001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Johol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Johol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TINGGI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MONITOR · soft adat · elak serang MB</a:t>
                      </a:r>
                    </a:p>
                  </a:txBody>
                  <a:tcPr/>
                </a:tc>
              </a:tr>
              <a:tr h="33001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Paroi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Sungai Ujong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SEDANG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MONITOR · jangan over-play</a:t>
                      </a:r>
                    </a:p>
                  </a:txBody>
                  <a:tcPr/>
                </a:tc>
              </a:tr>
              <a:tr h="33001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Chembong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Rembau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SEDANG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MONITOR · jangan over-play</a:t>
                      </a:r>
                    </a:p>
                  </a:txBody>
                  <a:tcPr/>
                </a:tc>
              </a:tr>
              <a:tr h="33001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Rantau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Rembau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SEDANG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MONITOR · jangan over-play</a:t>
                      </a:r>
                    </a:p>
                  </a:txBody>
                  <a:tcPr/>
                </a:tc>
              </a:tr>
              <a:tr h="33001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Gemas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Tampin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SEDANG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MONITOR · jangan over-play</a:t>
                      </a:r>
                    </a:p>
                  </a:txBody>
                  <a:tcPr/>
                </a:tc>
              </a:tr>
              <a:tr h="33001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Gemencheh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Tampin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SEDANG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MONITOR · jangan over-play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PAS/MN N9 · Bukan polling SPR · Sahkan lapangan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Gabungan Naratif — Poll MN + Monarki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8229600" cy="5303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6A34A"/>
                </a:solidFill>
              </a:defRPr>
            </a:pPr>
            <a:r>
              <a:t>DO ✓</a:t>
            </a: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</a:defRPr>
            </a:pPr>
            <a:r>
              <a:t>  • «PRN N9: MN lawan PH — 89.4% sokong digital (Poll PM)»</a:t>
            </a: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</a:defRPr>
            </a:pPr>
            <a:r>
              <a:t>  • «Hormati Tuanku &amp; proses adat — fokus kebajikan rakyat»</a:t>
            </a: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</a:defRPr>
            </a:pPr>
            <a:r>
              <a:t>  • «Elak pecah undi Melayu — pilih kerjasama»</a:t>
            </a:r>
          </a:p>
          <a:p>
            <a:pPr>
              <a:spcAft>
                <a:spcPts val="600"/>
              </a:spcAft>
              <a:defRPr sz="1400" b="1">
                <a:solidFill>
                  <a:srgbClr val="C8102E"/>
                </a:solidFill>
              </a:defRPr>
            </a:pPr>
            <a:r>
              <a:t>DON'T ✗</a:t>
            </a: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</a:defRPr>
            </a:pPr>
            <a:r>
              <a:t>  • Serang MB/PH guna «penderhaka Undang» di ceramah</a:t>
            </a: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</a:defRPr>
            </a:pPr>
            <a:r>
              <a:t>  • Share meme/video K3 negatif tanpa konteks</a:t>
            </a: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</a:defRPr>
            </a:pPr>
            <a:r>
              <a:t>  • Politikkan istana di kubu DAP (N01/N10/N33)</a:t>
            </a:r>
          </a:p>
          <a:p>
            <a:pPr>
              <a:spcAft>
                <a:spcPts val="400"/>
              </a:spcAft>
              <a:defRPr sz="1200" b="0">
                <a:solidFill>
                  <a:srgbClr val="1E293B"/>
                </a:solidFill>
              </a:defRPr>
            </a:pPr>
            <a:r>
              <a:t>  • Over-claim «menang» dari poll PM sahaja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PAS/MN N9 · Bukan polling SPR · Sahkan lapangan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Tindakan Segera — 7 Hari (P1)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685800" cy="29260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96696"/>
            <a:ext cx="64008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P1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960120"/>
            <a:ext cx="539496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E293B"/>
                </a:solidFill>
              </a:defRPr>
            </a:pPr>
            <a:r>
              <a:t>Brief ketua 20 kerusi MN: garis «poll MN + hormat adat» — doc 1 muka surat WhatsApp.</a:t>
            </a:r>
          </a:p>
          <a:p>
            <a:pPr>
              <a:spcAft>
                <a:spcPts val="0"/>
              </a:spcAft>
              <a:defRPr sz="1000" b="0">
                <a:solidFill>
                  <a:srgbClr val="64748B"/>
                </a:solidFill>
              </a:defRPr>
            </a:pPr>
            <a:r>
              <a:t>Comms HQ · hari ini · Action Center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27048"/>
            <a:ext cx="685800" cy="29260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563624"/>
            <a:ext cx="64008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P1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527048"/>
            <a:ext cx="539496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E293B"/>
                </a:solidFill>
              </a:defRPr>
            </a:pPr>
            <a:r>
              <a:t>Monitor K2/K3/K5 daily — spike &gt;60% negatif → alert P1 Action Center (10 DUN Undang).</a:t>
            </a:r>
          </a:p>
          <a:p>
            <a:pPr>
              <a:spcAft>
                <a:spcPts val="0"/>
              </a:spcAft>
              <a:defRPr sz="1000" b="0">
                <a:solidFill>
                  <a:srgbClr val="64748B"/>
                </a:solidFill>
              </a:defRPr>
            </a:pPr>
            <a:r>
              <a:t>Digital war room · 2× sehari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093976"/>
            <a:ext cx="685800" cy="29260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2130552"/>
            <a:ext cx="64008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P1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093976"/>
            <a:ext cx="539496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E293B"/>
                </a:solidFill>
              </a:defRPr>
            </a:pPr>
            <a:r>
              <a:t>Siap 1-pager fakta adat N9 (Undang 4, DKU, peranan YDPB) — edukasi bukan serangan.</a:t>
            </a:r>
          </a:p>
          <a:p>
            <a:pPr>
              <a:spcAft>
                <a:spcPts val="0"/>
              </a:spcAft>
              <a:defRPr sz="1000" b="0">
                <a:solidFill>
                  <a:srgbClr val="64748B"/>
                </a:solidFill>
              </a:defRPr>
            </a:pPr>
            <a:r>
              <a:t>Comms + legal adat · 48 jam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660904"/>
            <a:ext cx="685800" cy="29260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2697480"/>
            <a:ext cx="64008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P1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660904"/>
            <a:ext cx="539496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E293B"/>
                </a:solidFill>
              </a:defRPr>
            </a:pPr>
            <a:r>
              <a:t>Echo poll PM (~89% sokong MN) di group kempen — pisahkan dari debat istana.</a:t>
            </a:r>
          </a:p>
          <a:p>
            <a:pPr>
              <a:spcAft>
                <a:spcPts val="0"/>
              </a:spcAft>
              <a:defRPr sz="1000" b="0">
                <a:solidFill>
                  <a:srgbClr val="64748B"/>
                </a:solidFill>
              </a:defRPr>
            </a:pPr>
            <a:r>
              <a:t>Media PAS N9 · Jumaat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PAS/MN N9 · Bukan polling SPR · Sahkan lapangan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Tindakan Momentum — 2–4 Minggu (P2)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685800" cy="2926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96696"/>
            <a:ext cx="64008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P2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960120"/>
            <a:ext cx="539496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E293B"/>
                </a:solidFill>
              </a:defRPr>
            </a:pPr>
            <a:r>
              <a:t>Merge CSV K1–K5 + poll + ML → dashboard war room monarki (dedupe overlap).</a:t>
            </a:r>
          </a:p>
          <a:p>
            <a:pPr>
              <a:spcAft>
                <a:spcPts val="0"/>
              </a:spcAft>
              <a:defRPr sz="1000" b="0">
                <a:solidFill>
                  <a:srgbClr val="64748B"/>
                </a:solidFill>
              </a:defRPr>
            </a:pPr>
            <a:r>
              <a:t>InsightPulse · script merge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27048"/>
            <a:ext cx="685800" cy="2926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563624"/>
            <a:ext cx="64008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P2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527048"/>
            <a:ext cx="539496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E293B"/>
                </a:solidFill>
              </a:defRPr>
            </a:pPr>
            <a:r>
              <a:t>Cula lapangan 10 DUN Undang — banding signal digital vs ground (N05, N19 priority).</a:t>
            </a:r>
          </a:p>
          <a:p>
            <a:pPr>
              <a:spcAft>
                <a:spcPts val="0"/>
              </a:spcAft>
              <a:defRPr sz="1000" b="0">
                <a:solidFill>
                  <a:srgbClr val="64748B"/>
                </a:solidFill>
              </a:defRPr>
            </a:pPr>
            <a:r>
              <a:t>HQ N9 · mingguan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093976"/>
            <a:ext cx="685800" cy="2926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2130552"/>
            <a:ext cx="64008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P2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093976"/>
            <a:ext cx="539496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E293B"/>
                </a:solidFill>
              </a:defRPr>
            </a:pPr>
            <a:r>
              <a:t>Update pasWinProb model dengan socmed_neg monarki per DUN (retrain ML).</a:t>
            </a:r>
          </a:p>
          <a:p>
            <a:pPr>
              <a:spcAft>
                <a:spcPts val="0"/>
              </a:spcAft>
              <a:defRPr sz="1000" b="0">
                <a:solidFill>
                  <a:srgbClr val="64748B"/>
                </a:solidFill>
              </a:defRPr>
            </a:pPr>
            <a:r>
              <a:t>Data team · minggu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660904"/>
            <a:ext cx="685800" cy="2926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2697480"/>
            <a:ext cx="64008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P2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660904"/>
            <a:ext cx="539496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E293B"/>
                </a:solidFill>
              </a:defRPr>
            </a:pPr>
            <a:r>
              <a:t>Sedia rebut K4 (adat+DAP) — 5 fakta, elak sentuh sensitif agama.</a:t>
            </a:r>
          </a:p>
          <a:p>
            <a:pPr>
              <a:spcAft>
                <a:spcPts val="0"/>
              </a:spcAft>
              <a:defRPr sz="1000" b="0">
                <a:solidFill>
                  <a:srgbClr val="64748B"/>
                </a:solidFill>
              </a:defRPr>
            </a:pPr>
            <a:r>
              <a:t>Comms · doc ringkas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PAS/MN N9 · Bukan polling SPR · Sahkan lapangan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Mesej Disyorkan — Copy Paste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8229600" cy="5303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03366"/>
                </a:solidFill>
              </a:defRPr>
            </a:pPr>
            <a:r>
              <a:t>Utama (poll + MN)</a:t>
            </a:r>
          </a:p>
          <a:p>
            <a:pPr>
              <a:spcAft>
                <a:spcPts val="1000"/>
              </a:spcAft>
              <a:defRPr sz="1200" b="0">
                <a:solidFill>
                  <a:srgbClr val="1E293B"/>
                </a:solidFill>
              </a:defRPr>
            </a:pPr>
            <a:r>
              <a:t>"PRN N9: Sokong MN lawan PH. Poll digital ~89.4% sokong — elak pecah undi Melayu."</a:t>
            </a:r>
          </a:p>
          <a:p>
            <a:pPr>
              <a:spcAft>
                <a:spcPts val="400"/>
              </a:spcAft>
              <a:defRPr sz="1300" b="1">
                <a:solidFill>
                  <a:srgbClr val="003366"/>
                </a:solidFill>
              </a:defRPr>
            </a:pPr>
            <a:r>
              <a:t>Adat (soft)</a:t>
            </a:r>
          </a:p>
          <a:p>
            <a:pPr>
              <a:spcAft>
                <a:spcPts val="1000"/>
              </a:spcAft>
              <a:defRPr sz="1200" b="0">
                <a:solidFill>
                  <a:srgbClr val="1E293B"/>
                </a:solidFill>
              </a:defRPr>
            </a:pPr>
            <a:r>
              <a:t>"N9 kuat tradisi adat — hormati Tuanku &amp; Undang. Fokus perkhidmatan, bukan provokasi."</a:t>
            </a:r>
          </a:p>
          <a:p>
            <a:pPr>
              <a:spcAft>
                <a:spcPts val="400"/>
              </a:spcAft>
              <a:defRPr sz="1300" b="1">
                <a:solidFill>
                  <a:srgbClr val="003366"/>
                </a:solidFill>
              </a:defRPr>
            </a:pPr>
            <a:r>
              <a:t>Ceramah</a:t>
            </a:r>
          </a:p>
          <a:p>
            <a:pPr>
              <a:spcAft>
                <a:spcPts val="1000"/>
              </a:spcAft>
              <a:defRPr sz="1200" b="0">
                <a:solidFill>
                  <a:srgbClr val="1E293B"/>
                </a:solidFill>
              </a:defRPr>
            </a:pPr>
            <a:r>
              <a:t>"Lawan DAP/PH — bukan lawan istana. MN demi stabil dan kebajihan."</a:t>
            </a:r>
          </a:p>
          <a:p>
            <a:pPr>
              <a:spcAft>
                <a:spcPts val="400"/>
              </a:spcAft>
              <a:defRPr sz="1300" b="1">
                <a:solidFill>
                  <a:srgbClr val="003366"/>
                </a:solidFill>
              </a:defRPr>
            </a:pPr>
            <a:r>
              <a:t>Footnote</a:t>
            </a:r>
          </a:p>
          <a:p>
            <a:pPr>
              <a:spcAft>
                <a:spcPts val="1000"/>
              </a:spcAft>
              <a:defRPr sz="1200" b="0">
                <a:solidFill>
                  <a:srgbClr val="1E293B"/>
                </a:solidFill>
              </a:defRPr>
            </a:pPr>
            <a:r>
              <a:t>"Signal digital InsightPulse — bukan polling SPR. Sahkan dengan cula lapangan."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PAS/MN N9 · Bukan polling SPR · Sahkan lapangan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Risiko &amp; Mitigasi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8229600" cy="5303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C8102E"/>
                </a:solidFill>
              </a:defRPr>
            </a:pPr>
            <a:r>
              <a:t>Politikkan istana (K3 54% neg)</a:t>
            </a:r>
          </a:p>
          <a:p>
            <a:pPr>
              <a:spcAft>
                <a:spcPts val="1000"/>
              </a:spcAft>
              <a:defRPr sz="1300" b="0">
                <a:solidFill>
                  <a:srgbClr val="1E293B"/>
                </a:solidFill>
              </a:defRPr>
            </a:pPr>
            <a:r>
              <a:t>→ Brief DUN · P1 doc · sanksi mesej provokatif</a:t>
            </a:r>
          </a:p>
          <a:p>
            <a:pPr>
              <a:spcAft>
                <a:spcPts val="400"/>
              </a:spcAft>
              <a:defRPr sz="1400" b="1">
                <a:solidFill>
                  <a:srgbClr val="C8102E"/>
                </a:solidFill>
              </a:defRPr>
            </a:pPr>
            <a:r>
              <a:t>Over-rely poll 89.4% tanpa lapangan</a:t>
            </a:r>
          </a:p>
          <a:p>
            <a:pPr>
              <a:spcAft>
                <a:spcPts val="1000"/>
              </a:spcAft>
              <a:defRPr sz="1300" b="0">
                <a:solidFill>
                  <a:srgbClr val="1E293B"/>
                </a:solidFill>
              </a:defRPr>
            </a:pPr>
            <a:r>
              <a:t>→ Cula + footnote sentiasa · jangan claim menang</a:t>
            </a:r>
          </a:p>
          <a:p>
            <a:pPr>
              <a:spcAft>
                <a:spcPts val="400"/>
              </a:spcAft>
              <a:defRPr sz="1400" b="1">
                <a:solidFill>
                  <a:srgbClr val="D97706"/>
                </a:solidFill>
              </a:defRPr>
            </a:pPr>
            <a:r>
              <a:t>Main adat di 32 DUN</a:t>
            </a:r>
          </a:p>
          <a:p>
            <a:pPr>
              <a:spcAft>
                <a:spcPts val="1000"/>
              </a:spcAft>
              <a:defRPr sz="1300" b="0">
                <a:solidFill>
                  <a:srgbClr val="1E293B"/>
                </a:solidFill>
              </a:defRPr>
            </a:pPr>
            <a:r>
              <a:t>→ Hadkan 10 DUN Undang · 20 MN operasi standard</a:t>
            </a:r>
          </a:p>
          <a:p>
            <a:pPr>
              <a:spcAft>
                <a:spcPts val="400"/>
              </a:spcAft>
              <a:defRPr sz="1400" b="1">
                <a:solidFill>
                  <a:srgbClr val="D97706"/>
                </a:solidFill>
              </a:defRPr>
            </a:pPr>
            <a:r>
              <a:t>PH frame «MN anti-Melayu/adat»</a:t>
            </a:r>
          </a:p>
          <a:p>
            <a:pPr>
              <a:spcAft>
                <a:spcPts val="1000"/>
              </a:spcAft>
              <a:defRPr sz="1300" b="0">
                <a:solidFill>
                  <a:srgbClr val="1E293B"/>
                </a:solidFill>
              </a:defRPr>
            </a:pPr>
            <a:r>
              <a:t>→ Edukasi + neutral tone · jangan feed K3 content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InsightPulse · PAS/MN N9 · Bukan polling SPR · Sahkan lapangan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